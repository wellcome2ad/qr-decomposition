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charts/chart1.xml" ContentType="application/vnd.openxmlformats-officedocument.drawingml.chart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1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media/image1.jpeg" ContentType="image/jpeg"/>
  <Override PartName="/ppt/media/image3.png" ContentType="image/png"/>
  <Override PartName="/ppt/media/image2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media/image10.png" ContentType="image/png"/>
  <Override PartName="/ppt/media/image11.png" ContentType="image/png"/>
  <Override PartName="/ppt/media/image12.png" ContentType="image/png"/>
  <Override PartName="/ppt/media/image13.png" ContentType="image/png"/>
  <Override PartName="/ppt/media/image14.png" ContentType="image/png"/>
  <Override PartName="/ppt/media/image15.png" ContentType="image/png"/>
  <Override PartName="/ppt/media/image16.png" ContentType="image/png"/>
  <Override PartName="/ppt/media/image17.png" ContentType="image/png"/>
  <Override PartName="/ppt/media/image18.png" ContentType="image/png"/>
  <Override PartName="/ppt/media/image19.png" ContentType="image/png"/>
  <Override PartName="/ppt/media/image20.png" ContentType="image/png"/>
  <Override PartName="/ppt/media/image21.png" ContentType="image/png"/>
  <Override PartName="/ppt/media/image22.png" ContentType="image/png"/>
  <Override PartName="/ppt/media/image23.png" ContentType="image/png"/>
  <Override PartName="/ppt/media/image24.png" ContentType="image/png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_rels/notesSlide10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8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presProps" Target="presProps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label 0</c:f>
              <c:strCache>
                <c:ptCount val="1"/>
                <c:pt idx="0">
                  <c:v>Последовательная реализация</c:v>
                </c:pt>
              </c:strCache>
            </c:strRef>
          </c:tx>
          <c:spPr>
            <a:solidFill>
              <a:srgbClr val="5b9bd5"/>
            </a:solidFill>
            <a:ln cap="rnd" w="28440">
              <a:solidFill>
                <a:srgbClr val="5b9bd5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0</c:f>
              <c:numCache>
                <c:formatCode>General</c:formatCode>
                <c:ptCount val="6"/>
                <c:pt idx="0">
                  <c:v>1.41896</c:v>
                </c:pt>
                <c:pt idx="1">
                  <c:v>11.5924</c:v>
                </c:pt>
                <c:pt idx="2">
                  <c:v>56.9126</c:v>
                </c:pt>
                <c:pt idx="3">
                  <c:v>193.918</c:v>
                </c:pt>
                <c:pt idx="4">
                  <c:v>480</c:v>
                </c:pt>
                <c:pt idx="5">
                  <c:v>1500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label 1</c:f>
              <c:strCache>
                <c:ptCount val="1"/>
                <c:pt idx="0">
                  <c:v>Вторая версия, 1 поток</c:v>
                </c:pt>
              </c:strCache>
            </c:strRef>
          </c:tx>
          <c:spPr>
            <a:solidFill>
              <a:srgbClr val="ed7d31"/>
            </a:solidFill>
            <a:ln cap="rnd" w="28440">
              <a:solidFill>
                <a:srgbClr val="ed7d31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1</c:f>
              <c:numCache>
                <c:formatCode>General</c:formatCode>
                <c:ptCount val="6"/>
                <c:pt idx="0">
                  <c:v>0.345972</c:v>
                </c:pt>
                <c:pt idx="1">
                  <c:v>4.45997</c:v>
                </c:pt>
                <c:pt idx="2">
                  <c:v>24.0261</c:v>
                </c:pt>
                <c:pt idx="3">
                  <c:v>87.9575</c:v>
                </c:pt>
                <c:pt idx="4">
                  <c:v>241.204</c:v>
                </c:pt>
                <c:pt idx="5">
                  <c:v>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label 2</c:f>
              <c:strCache>
                <c:ptCount val="1"/>
                <c:pt idx="0">
                  <c:v>Вторая версия, 2 потока</c:v>
                </c:pt>
              </c:strCache>
            </c:strRef>
          </c:tx>
          <c:spPr>
            <a:solidFill>
              <a:srgbClr val="a5a5a5"/>
            </a:solidFill>
            <a:ln cap="rnd" w="28440">
              <a:solidFill>
                <a:srgbClr val="a5a5a5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2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label 3</c:f>
              <c:strCache>
                <c:ptCount val="1"/>
                <c:pt idx="0">
                  <c:v>Вторая версия, 3 потока</c:v>
                </c:pt>
              </c:strCache>
            </c:strRef>
          </c:tx>
          <c:spPr>
            <a:solidFill>
              <a:srgbClr val="ffc000"/>
            </a:solidFill>
            <a:ln cap="rnd" w="28440">
              <a:solidFill>
                <a:srgbClr val="ffc000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3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label 4</c:f>
              <c:strCache>
                <c:ptCount val="1"/>
                <c:pt idx="0">
                  <c:v>Вторая версия, 4 потока</c:v>
                </c:pt>
              </c:strCache>
            </c:strRef>
          </c:tx>
          <c:spPr>
            <a:solidFill>
              <a:srgbClr val="4472c4"/>
            </a:solidFill>
            <a:ln cap="rnd" w="28440">
              <a:solidFill>
                <a:srgbClr val="4472c4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4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label 5</c:f>
              <c:strCache>
                <c:ptCount val="1"/>
                <c:pt idx="0">
                  <c:v>Вторая версия, 5 потоков</c:v>
                </c:pt>
              </c:strCache>
            </c:strRef>
          </c:tx>
          <c:spPr>
            <a:solidFill>
              <a:srgbClr val="70ad47"/>
            </a:solidFill>
            <a:ln cap="rnd" w="28440">
              <a:solidFill>
                <a:srgbClr val="70ad47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5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6"/>
          <c:order val="6"/>
          <c:tx>
            <c:strRef>
              <c:f>label 6</c:f>
              <c:strCache>
                <c:ptCount val="1"/>
                <c:pt idx="0">
                  <c:v>Вторая версия, 6 потоков</c:v>
                </c:pt>
              </c:strCache>
            </c:strRef>
          </c:tx>
          <c:spPr>
            <a:solidFill>
              <a:srgbClr val="255e91"/>
            </a:solidFill>
            <a:ln cap="rnd" w="28440">
              <a:solidFill>
                <a:srgbClr val="255e91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6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7"/>
          <c:order val="7"/>
          <c:tx>
            <c:strRef>
              <c:f>label 7</c:f>
              <c:strCache>
                <c:ptCount val="1"/>
                <c:pt idx="0">
                  <c:v>Вторая версия, 7 потоков</c:v>
                </c:pt>
              </c:strCache>
            </c:strRef>
          </c:tx>
          <c:spPr>
            <a:solidFill>
              <a:srgbClr val="9e480e"/>
            </a:solidFill>
            <a:ln cap="rnd" w="28440">
              <a:solidFill>
                <a:srgbClr val="9e480e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  <c:smooth val="0"/>
        </c:ser>
        <c:ser>
          <c:idx val="8"/>
          <c:order val="8"/>
          <c:tx>
            <c:strRef>
              <c:f>label 8</c:f>
              <c:strCache>
                <c:ptCount val="1"/>
                <c:pt idx="0">
                  <c:v>Вторая версия, 8 потоков</c:v>
                </c:pt>
              </c:strCache>
            </c:strRef>
          </c:tx>
          <c:spPr>
            <a:solidFill>
              <a:srgbClr val="636363"/>
            </a:solidFill>
            <a:ln cap="rnd" w="28440">
              <a:solidFill>
                <a:srgbClr val="636363"/>
              </a:solidFill>
              <a:round/>
            </a:ln>
          </c:spPr>
          <c:marker>
            <c:symbol val="none"/>
          </c:marker>
          <c:dLbls>
            <c:txPr>
              <a:bodyPr wrap="square"/>
              <a:lstStyle/>
              <a:p>
                <a:pPr>
                  <a:defRPr b="0" sz="1000" strike="noStrike" u="none">
                    <a:solidFill>
                      <a:srgbClr val="000000"/>
                    </a:solidFill>
                    <a:uFillTx/>
                    <a:latin typeface="Calibri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eparator>; </c:separator>
            <c:showLeaderLines val="1"/>
            <c:leaderLines>
              <c:spPr>
                <a:ln cap="rnd" w="28440">
                  <a:solidFill>
                    <a:srgbClr val="000000"/>
                  </a:solidFill>
                </a:ln>
              </c:spPr>
            </c:leaderLines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categories</c:f>
              <c:strCache>
                <c:ptCount val="6"/>
                <c:pt idx="0">
                  <c:v>100</c:v>
                </c:pt>
                <c:pt idx="1">
                  <c:v>200</c:v>
                </c:pt>
                <c:pt idx="2">
                  <c:v>300</c:v>
                </c:pt>
                <c:pt idx="3">
                  <c:v>400</c:v>
                </c:pt>
                <c:pt idx="4">
                  <c:v>500</c:v>
                </c:pt>
                <c:pt idx="5">
                  <c:v>1000</c:v>
                </c:pt>
              </c:strCache>
            </c:strRef>
          </c:cat>
          <c:val>
            <c:numRef>
              <c:f>8</c:f>
              <c:numCache>
                <c:formatCode>General</c:formatCode>
                <c:ptCount val="6"/>
                <c:pt idx="0">
                  <c:v>0.103752</c:v>
                </c:pt>
                <c:pt idx="1">
                  <c:v>1.07141</c:v>
                </c:pt>
                <c:pt idx="2">
                  <c:v>7.86116</c:v>
                </c:pt>
                <c:pt idx="3">
                  <c:v>29.6932</c:v>
                </c:pt>
                <c:pt idx="4">
                  <c:v>81.4453</c:v>
                </c:pt>
                <c:pt idx="5">
                  <c:v>1500</c:v>
                </c:pt>
              </c:numCache>
            </c:numRef>
          </c:val>
          <c:smooth val="0"/>
        </c:ser>
        <c:hiLowLines>
          <c:spPr>
            <a:ln w="0">
              <a:noFill/>
            </a:ln>
          </c:spPr>
        </c:hiLowLines>
        <c:marker val="0"/>
        <c:axId val="26291455"/>
        <c:axId val="41318861"/>
      </c:lineChart>
      <c:catAx>
        <c:axId val="26291455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9360">
            <a:solidFill>
              <a:srgbClr val="d9d9d9"/>
            </a:solidFill>
            <a:round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41318861"/>
        <c:crosses val="autoZero"/>
        <c:auto val="1"/>
        <c:lblAlgn val="ctr"/>
        <c:lblOffset val="100"/>
        <c:noMultiLvlLbl val="0"/>
      </c:catAx>
      <c:valAx>
        <c:axId val="41318861"/>
        <c:scaling>
          <c:orientation val="minMax"/>
        </c:scaling>
        <c:delete val="0"/>
        <c:axPos val="l"/>
        <c:majorGridlines>
          <c:spPr>
            <a:ln w="9360">
              <a:solidFill>
                <a:srgbClr val="d9d9d9"/>
              </a:solidFill>
              <a:round/>
            </a:ln>
          </c:spPr>
        </c:majorGridlines>
        <c:numFmt formatCode="General" sourceLinked="0"/>
        <c:majorTickMark val="none"/>
        <c:minorTickMark val="none"/>
        <c:tickLblPos val="nextTo"/>
        <c:spPr>
          <a:ln w="6480">
            <a:noFill/>
          </a:ln>
        </c:spPr>
        <c:txPr>
          <a:bodyPr/>
          <a:lstStyle/>
          <a:p>
            <a:pPr>
              <a:defRPr b="0" sz="1197" strike="noStrike" u="none">
                <a:solidFill>
                  <a:srgbClr val="595959"/>
                </a:solidFill>
                <a:uFillTx/>
                <a:latin typeface="Calibri"/>
              </a:defRPr>
            </a:pPr>
          </a:p>
        </c:txPr>
        <c:crossAx val="26291455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b="0" sz="1197" strike="noStrike" u="none">
              <a:solidFill>
                <a:srgbClr val="595959"/>
              </a:solidFill>
              <a:uFillTx/>
              <a:latin typeface="Calibri"/>
            </a:defRPr>
          </a:pPr>
        </a:p>
      </c:txPr>
    </c:legend>
    <c:plotVisOnly val="1"/>
    <c:dispBlanksAs val="gap"/>
  </c:chart>
  <c:spPr>
    <a:noFill/>
    <a:ln w="0">
      <a:noFill/>
    </a:ln>
  </c:spPr>
</c:chartSpace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перемещения страницы щёлкните мышью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519199F4-645B-4FF2-9AF1-7B7C338308E8}" type="slidenum"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2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Если при этом A невырождена, то QR-разложение единственно и матрица R может быть выбрана так, чтобы её диагональные элементы были положительными вещественными числами. В частном случае, когда матрица A состоит только из вещественных чисел, матрицы Q и R также могут быть выбраны вещественными, причём Q является ортогональной [1]. На сегодняшний день применяется несколько методов для вычисления QR-разложения матриц [2].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319" name="PlaceHolder 2"/>
          <p:cNvSpPr>
            <a:spLocks noGrp="1"/>
          </p:cNvSpPr>
          <p:nvPr>
            <p:ph type="body"/>
          </p:nvPr>
        </p:nvSpPr>
        <p:spPr>
          <a:xfrm>
            <a:off x="76680" y="5078520"/>
            <a:ext cx="678132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Процесс ортогонализации Грама-Шмидта: сложность O(n3); практически не поддаётся распараллеливанию; требует явного хранения Q; численно неустойчив, в большинстве случаев приводит к нарушению ортогональности.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Отражения Хаусхолдера имеют сложность приблизительно O(n³); для достижения наибольшей эффективности требуется более сложная блочная реализация; вектора отражений можно хранить под диагональю матрицы R, экономя память; для построения явной Q все равно требуется O(n²) памяти и дополнительных вычислений; численно устойчив. Является основным методом для разложения плотных матриц общего вида. Из-за действий над целыми столбцами неэффективен для разреженных матриц, так как не учитывает уже занулённые значения.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Вращения Гивенса имеют сложность 2n</a:t>
            </a:r>
            <a:r>
              <a:rPr b="0" lang="ru-RU" sz="1100" strike="noStrike" u="none" baseline="33000">
                <a:solidFill>
                  <a:srgbClr val="000000"/>
                </a:solidFill>
                <a:effectLst/>
                <a:uFillTx/>
                <a:latin typeface="Arial"/>
              </a:rPr>
              <a:t>3</a:t>
            </a:r>
            <a:r>
              <a:rPr b="0" lang="ru-RU" sz="11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; вектора вращений можно хранить очень компактно или даже не хранить явно; численно устойчив; лучше всего подходит для разреженных и ленточных матриц, так как позволяет обнулять отдельные элементы, не затрагивая другие; в связи с этим медленнее работает для плотных матриц. Этот метод также используется для обновления уже готового разложения при добавлении новой строки или столбца.</a:t>
            </a:r>
            <a:endParaRPr b="0" lang="ru-RU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-1280880" y="5078520"/>
            <a:ext cx="1297368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Самая очевидная реализация метода Хаусхолдера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использование операции матричного умножения матриц размером NxN; на каждую из (N-1) итераций цикла придётся два матричных произведения.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   • отдельное хранение матриц отражения H (NxN элементов, (N-1) штук) для вычисления Q.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buNone/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Избавление от матричных умножений. Подсчитаем перемножение  по-другому, получим более дешёвые операции над векторами и матрицей A, уменьшим сложность в N раз.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вычисление матрицы R этим способом позволяет упростить вычисление матрицы Q. Для её восстановления понадобится только сохранить вектора Хаусхолдера vk, полученные на каждом шаге алгоритма. Вычислять Q будем восстанавливая матрицы отражения из сохранённых векторов v, в обратном порядке.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Работа с нормированными векторами Хаусхолдера позволит формировать вектор, который не потребуется сохранять в явном виде. Его можно хранить под диагональю в матрице R.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3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indent="0">
              <a:lnSpc>
                <a:spcPct val="115000"/>
              </a:lnSpc>
              <a:buNone/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325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5800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Самая очевидная реализация метода Гивенса будет содержать в себе следующие недостатки: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неэффективное, «прямое» хранение матрицы Q: обращение к элементам матрицы Q происходит по столбцам, в виду чего выгоднее хранить её транспонированной.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вычислять R и Q можно в рамках одной итерации цикла, после вычисления параметров вращения, а можно в разных циклах, сохраняя параметры вращения в отдельной структуре либо в матрице R. Необходимо сравнение двух подходов.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ru-RU" sz="1500" strike="noStrike" u="none">
                <a:solidFill>
                  <a:schemeClr val="dk1"/>
                </a:solidFill>
                <a:effectLst/>
                <a:uFillTx/>
                <a:latin typeface="Arial"/>
                <a:ea typeface="Calibri"/>
              </a:rPr>
              <a:t>    • можно не выполнять вращение строки при вычислении матрицы R целиком, поскольку слева от текущего столбца элементы вращаемых строк равны 0.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E08488A-072C-494E-B087-3E93E17024C0}" type="slidenum">
              <a: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512600C-3D28-4282-B683-710687008CC2}" type="slidenum">
              <a: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4E8B49-78E1-4466-A704-AC72EE669977}" type="slidenum">
              <a: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3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indent="0">
              <a:lnSpc>
                <a:spcPct val="115000"/>
              </a:lnSpc>
              <a:buNone/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338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3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indent="0">
              <a:lnSpc>
                <a:spcPct val="115000"/>
              </a:lnSpc>
              <a:buNone/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340" name="PlaceHolder 2"/>
          <p:cNvSpPr>
            <a:spLocks noGrp="1"/>
          </p:cNvSpPr>
          <p:nvPr>
            <p:ph type="body"/>
          </p:nvPr>
        </p:nvSpPr>
        <p:spPr>
          <a:xfrm>
            <a:off x="0" y="5078520"/>
            <a:ext cx="6803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Сначала в нуль последовательно обращаются элементы 1-го столбца, затем 2-го, и т.д. до N-1-го, после чего получившаяся матрица - это и есть матрица R. 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Сам шаг алгоритма распадается на две части: подбор параметра вращения и выполнение вращения над двумя строками матрицы.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lnSpc>
                <a:spcPct val="115000"/>
              </a:lnSpc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Для получения матрицы R матрицу A последовательно домножают слева на матрицы вращения G12, G13, …, G1n, G23, G24, …, G2n, …, GN-2,N, GN-1,N.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Times New Roman"/>
              <a:ea typeface="Microsoft YaHei"/>
            </a:endParaRPr>
          </a:p>
          <a:p>
            <a:pPr indent="0">
              <a:spcBef>
                <a:spcPts val="283"/>
              </a:spcBef>
              <a:spcAft>
                <a:spcPts val="283"/>
              </a:spcAft>
              <a:buNone/>
            </a:pP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Отсюда для получения матрицы </a:t>
            </a:r>
            <a:r>
              <a:rPr b="0" lang="en-US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Q </a:t>
            </a:r>
            <a:r>
              <a:rPr b="0" lang="ru-RU" sz="1500" strike="noStrike" u="none">
                <a:solidFill>
                  <a:srgbClr val="000000"/>
                </a:solidFill>
                <a:effectLst/>
                <a:uFillTx/>
                <a:latin typeface="Times New Roman"/>
                <a:ea typeface="Calibri"/>
              </a:rPr>
              <a:t>необходимо последовательно перемножить все транспонированные матрицы вращения друг на друга справа.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  <a:p>
            <a:pPr indent="0">
              <a:lnSpc>
                <a:spcPct val="115000"/>
              </a:lnSpc>
              <a:buNone/>
            </a:pPr>
            <a:endParaRPr b="0" lang="ru-RU" sz="2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buNone/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529162-B923-4207-9D00-79D2F086139E}" type="slidenum">
              <a:rPr b="0" lang="ru-RU" sz="1200" strike="noStrike" u="non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B2BA3AE-F2A4-4201-A720-B3AB09142F2D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3F54A7-4D12-40B0-87F6-6F4B7217796E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302146-394D-4DAF-B584-68002A0F1F21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Заголовок и объект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ED409BC-AD6A-4AE3-930C-CB854A51EEF6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C614299-8E83-4EF9-922C-8B924672DED1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C1BD15A-941D-4C0D-AB50-B84A2517D842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395280-5A09-4D60-A000-22969430BBB2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94843B6-DC60-4519-9A00-C71F315EAB04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D79FEBF-0161-41D2-9C2F-E9692EA4AC7B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</a:t>
            </a:r>
            <a:endParaRPr b="0" lang="ru-RU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</a:t>
            </a:r>
            <a:endParaRPr b="0" lang="ru-RU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Четвертый уровень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</a:t>
            </a:r>
            <a:endParaRPr b="0" lang="ru-RU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BBF520-73C2-4B71-92E6-6DC0FBC4267B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Образец заголовка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Для правки структуры щёлкните мышью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Второй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Третий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Четвёртый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Пятый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Шестой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Седьмой уровень структуры</a:t>
            </a:r>
            <a:endParaRPr b="0" lang="ru-RU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Образец текста</a:t>
            </a:r>
            <a:endParaRPr b="0" lang="ru-RU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&lt;дата/время&gt;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ru-RU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A524AEA-BFB1-4A53-B4A0-0388C87E6F60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8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8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8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8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slideLayout" Target="../slideLayouts/slideLayout8.xml"/><Relationship Id="rId1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slideLayout" Target="../slideLayouts/slideLayout8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slideLayout" Target="../slideLayouts/slideLayout8.xml"/><Relationship Id="rId9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slideLayout" Target="../slideLayouts/slideLayout8.xml"/><Relationship Id="rId6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8.xml"/><Relationship Id="rId5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Прямоугольник 21"/>
          <p:cNvSpPr/>
          <p:nvPr/>
        </p:nvSpPr>
        <p:spPr>
          <a:xfrm>
            <a:off x="0" y="742680"/>
            <a:ext cx="12191760" cy="4957920"/>
          </a:xfrm>
          <a:prstGeom prst="rect">
            <a:avLst/>
          </a:prstGeom>
          <a:gradFill rotWithShape="0">
            <a:gsLst>
              <a:gs pos="0">
                <a:srgbClr val="ffffff"/>
              </a:gs>
              <a:gs pos="72000">
                <a:srgbClr val="a5a5a5"/>
              </a:gs>
              <a:gs pos="100000">
                <a:srgbClr val="173c90"/>
              </a:gs>
            </a:gsLst>
            <a:lin ang="54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5" name="Рисунок 9" descr="Изображение выглядит как текст, человек&#10;&#10;Автоматически созданное описание"/>
          <p:cNvPicPr/>
          <p:nvPr/>
        </p:nvPicPr>
        <p:blipFill>
          <a:blip r:embed="rId1"/>
          <a:srcRect l="15600" t="9331" r="40177" b="0"/>
          <a:stretch/>
        </p:blipFill>
        <p:spPr>
          <a:xfrm>
            <a:off x="0" y="718200"/>
            <a:ext cx="3645000" cy="4982400"/>
          </a:xfrm>
          <a:prstGeom prst="rect">
            <a:avLst/>
          </a:prstGeom>
          <a:noFill/>
          <a:ln w="12700">
            <a:noFill/>
          </a:ln>
        </p:spPr>
      </p:pic>
      <p:cxnSp>
        <p:nvCxnSpPr>
          <p:cNvPr id="66" name="Прямая соединительная линия 17"/>
          <p:cNvCxnSpPr/>
          <p:nvPr/>
        </p:nvCxnSpPr>
        <p:spPr>
          <a:xfrm>
            <a:off x="0" y="5700600"/>
            <a:ext cx="1219212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pic>
        <p:nvPicPr>
          <p:cNvPr id="67" name="Рисунок 18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4167360" y="718200"/>
            <a:ext cx="2543760" cy="71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8" name="TextBox 10"/>
          <p:cNvSpPr/>
          <p:nvPr/>
        </p:nvSpPr>
        <p:spPr>
          <a:xfrm>
            <a:off x="4167360" y="2345760"/>
            <a:ext cx="6368040" cy="20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Параллельная реализация </a:t>
            </a:r>
            <a:endParaRPr b="0" lang="ru-RU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b="1" lang="en-US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</a:t>
            </a:r>
            <a:r>
              <a:rPr b="1" lang="ru-RU" sz="4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-разложение</a:t>
            </a:r>
            <a:endParaRPr b="0" lang="ru-RU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Прямоугольник 1"/>
          <p:cNvSpPr/>
          <p:nvPr/>
        </p:nvSpPr>
        <p:spPr>
          <a:xfrm>
            <a:off x="9491040" y="5725440"/>
            <a:ext cx="2700720" cy="10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 anchorCtr="1">
            <a:spAutoFit/>
          </a:bodyPr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Коробейникова Алиса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Студентка группы 3824М1Пр1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Научный руководитель: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Баркалов К.А., д.т.н., доц.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Скругленный прямоугольник 45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10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11579400" y="6314400"/>
            <a:ext cx="307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3" name="Прямая соединительная линия 15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74" name="TextBox 38"/>
          <p:cNvSpPr/>
          <p:nvPr/>
        </p:nvSpPr>
        <p:spPr>
          <a:xfrm>
            <a:off x="375480" y="456480"/>
            <a:ext cx="15994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9"/>
          <p:cNvSpPr/>
          <p:nvPr/>
        </p:nvSpPr>
        <p:spPr>
          <a:xfrm>
            <a:off x="1974960" y="456480"/>
            <a:ext cx="22514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Прямая соединительная линия 41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77" name="Прямая соединительная линия 42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78" name="Прямая соединительная линия 46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79" name="TextBox 8"/>
          <p:cNvSpPr/>
          <p:nvPr/>
        </p:nvSpPr>
        <p:spPr>
          <a:xfrm>
            <a:off x="375480" y="1093680"/>
            <a:ext cx="46198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Описание 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9"/>
          <p:cNvSpPr/>
          <p:nvPr/>
        </p:nvSpPr>
        <p:spPr>
          <a:xfrm>
            <a:off x="293040" y="1463040"/>
            <a:ext cx="9943200" cy="354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-разложение матрицы – представление матрицы в виде произведения унитарной (или ортогональной, в вещественном случае, матрицы)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(Q</a:t>
            </a:r>
            <a:r>
              <a:rPr b="0" lang="ru-RU" sz="1800" strike="noStrike" u="none" baseline="33000">
                <a:solidFill>
                  <a:schemeClr val="dk1"/>
                </a:solidFill>
                <a:effectLst/>
                <a:uFillTx/>
                <a:latin typeface="Arial"/>
              </a:rPr>
              <a:t>T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Q=E) и верхнетреугольной матрицы </a:t>
            </a: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 положительными диагональными элементами.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Если при этом A невырождена, то QR-разложение единственно и матрица R может быть выбрана так, чтобы её диагональные элементы были положительными вещественными числами.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1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2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3" name="Picture 2" descr="Picture background"/>
          <p:cNvPicPr/>
          <p:nvPr/>
        </p:nvPicPr>
        <p:blipFill>
          <a:blip r:embed="rId3"/>
          <a:srcRect l="0" t="2763" r="3818" b="8002"/>
          <a:stretch/>
        </p:blipFill>
        <p:spPr>
          <a:xfrm>
            <a:off x="5141880" y="4089600"/>
            <a:ext cx="5949720" cy="2731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Скругленный прямоугольник 45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10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11"/>
          <p:cNvSpPr/>
          <p:nvPr/>
        </p:nvSpPr>
        <p:spPr>
          <a:xfrm>
            <a:off x="11579400" y="6314400"/>
            <a:ext cx="307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2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Прямая соединительная линия 15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88" name="TextBox 38"/>
          <p:cNvSpPr/>
          <p:nvPr/>
        </p:nvSpPr>
        <p:spPr>
          <a:xfrm>
            <a:off x="375480" y="456480"/>
            <a:ext cx="15994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39"/>
          <p:cNvSpPr/>
          <p:nvPr/>
        </p:nvSpPr>
        <p:spPr>
          <a:xfrm>
            <a:off x="1974960" y="456480"/>
            <a:ext cx="2251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и получение 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" name="Прямая соединительная линия 41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91" name="Прямая соединительная линия 42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92" name="Прямая соединительная линия 46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93" name="TextBox 8"/>
          <p:cNvSpPr/>
          <p:nvPr/>
        </p:nvSpPr>
        <p:spPr>
          <a:xfrm>
            <a:off x="375480" y="1045440"/>
            <a:ext cx="4619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и получение 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9"/>
          <p:cNvSpPr/>
          <p:nvPr/>
        </p:nvSpPr>
        <p:spPr>
          <a:xfrm>
            <a:off x="311400" y="1694520"/>
            <a:ext cx="11584800" cy="45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является основой одного из методов поиска собственных векторов и чисел матрицы — QR-алгоритма. С помощью разложения можно решить линейную задачу наименьших квадратов.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Также с помощью QR-разложения можно решать СЛАУ Ax = b: если известно QR-разложение матрицы, исходная система может быть записана как QRx=b. Решением этой задачи является решение треугольной системы Rx=Q</a:t>
            </a:r>
            <a:r>
              <a:rPr b="0" lang="ru-RU" sz="1800" strike="noStrike" u="none" baseline="33000">
                <a:solidFill>
                  <a:schemeClr val="dk1"/>
                </a:solidFill>
                <a:effectLst/>
                <a:uFillTx/>
                <a:latin typeface="Arial"/>
              </a:rPr>
              <a:t>T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b. Эта система может быть решена с помощью обратной подстановки, поскольку R – верхняя треугольная матрица.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QR-разложение может быть получено различными методами. Проще всего оно может быть вычислено в процессе ортогонализации Грама-Шмидта. Другие методы QR-разложения основаны на отражениях Хаусхолдера и вращениях Гивенса. Все перечисленные методы имеют ряд ограничений для применения.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5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6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Скругленный прямоугольник 45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10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11"/>
          <p:cNvSpPr/>
          <p:nvPr/>
        </p:nvSpPr>
        <p:spPr>
          <a:xfrm>
            <a:off x="11579400" y="6314400"/>
            <a:ext cx="307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3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" name="Прямая соединительная линия 15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01" name="TextBox 38"/>
          <p:cNvSpPr/>
          <p:nvPr/>
        </p:nvSpPr>
        <p:spPr>
          <a:xfrm>
            <a:off x="375480" y="456480"/>
            <a:ext cx="15994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39"/>
          <p:cNvSpPr/>
          <p:nvPr/>
        </p:nvSpPr>
        <p:spPr>
          <a:xfrm>
            <a:off x="1974960" y="456480"/>
            <a:ext cx="22514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Постановка задачи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3" name="Прямая соединительная линия 41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04" name="Прямая соединительная линия 42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05" name="Прямая соединительная линия 46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06" name="TextBox 8"/>
          <p:cNvSpPr/>
          <p:nvPr/>
        </p:nvSpPr>
        <p:spPr>
          <a:xfrm>
            <a:off x="375480" y="1045440"/>
            <a:ext cx="7602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Постановка задачи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8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TextBox 1"/>
          <p:cNvSpPr/>
          <p:nvPr/>
        </p:nvSpPr>
        <p:spPr>
          <a:xfrm>
            <a:off x="311400" y="1694520"/>
            <a:ext cx="11584800" cy="425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Необходимо реализовать эффективные программные алгоритмы QR-разложения квадратной матрицы A с помощью методов отражений Хаусхолдера и вращений Гивенса, используя различные аппаратные оптимизации, а также применяя, где это возможно, параллелизм. Разработать несколько версий, сравнить их работу друг с другом.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Для разработки использовать язык Си++ и технологии OpenMP для обеспечения параллельного исполнения кода.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качестве примера приложения QR-разложения на практике выполнить решение задачи QR-разложения хессенберговых матриц, верхней и нижней.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Сравнить работу алгоритма с известными реализациями в сторонних библиотеках.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Скругленный прямоугольник 45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10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11"/>
          <p:cNvSpPr/>
          <p:nvPr/>
        </p:nvSpPr>
        <p:spPr>
          <a:xfrm>
            <a:off x="11579400" y="6314400"/>
            <a:ext cx="307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4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3" name="Прямая соединительная линия 15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14" name="TextBox 38"/>
          <p:cNvSpPr/>
          <p:nvPr/>
        </p:nvSpPr>
        <p:spPr>
          <a:xfrm>
            <a:off x="375480" y="456480"/>
            <a:ext cx="15994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9"/>
          <p:cNvSpPr/>
          <p:nvPr/>
        </p:nvSpPr>
        <p:spPr>
          <a:xfrm>
            <a:off x="1974960" y="456480"/>
            <a:ext cx="2251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Метод отражений Хаусхолдера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6" name="Прямая соединительная линия 41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17" name="Прямая соединительная линия 42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18" name="Прямая соединительная линия 46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19" name="TextBox 8"/>
          <p:cNvSpPr/>
          <p:nvPr/>
        </p:nvSpPr>
        <p:spPr>
          <a:xfrm>
            <a:off x="375480" y="1045440"/>
            <a:ext cx="46198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Метод отражений Хаусхолдера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9"/>
          <p:cNvSpPr/>
          <p:nvPr/>
        </p:nvSpPr>
        <p:spPr>
          <a:xfrm>
            <a:off x="801000" y="1741680"/>
            <a:ext cx="10590120" cy="43354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2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Скругленный прямоугольник 45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0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11"/>
          <p:cNvSpPr/>
          <p:nvPr/>
        </p:nvSpPr>
        <p:spPr>
          <a:xfrm>
            <a:off x="11579400" y="6314400"/>
            <a:ext cx="307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6" name="Прямая соединительная линия 15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27" name="TextBox 38"/>
          <p:cNvSpPr/>
          <p:nvPr/>
        </p:nvSpPr>
        <p:spPr>
          <a:xfrm>
            <a:off x="375480" y="456480"/>
            <a:ext cx="15994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39"/>
          <p:cNvSpPr/>
          <p:nvPr/>
        </p:nvSpPr>
        <p:spPr>
          <a:xfrm>
            <a:off x="1974960" y="308520"/>
            <a:ext cx="2251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отражений Хаусхолдера для QR-разложения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9" name="Прямая соединительная линия 41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30" name="Прямая соединительная линия 42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31" name="Прямая соединительная линия 46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32" name="TextBox 8"/>
          <p:cNvSpPr/>
          <p:nvPr/>
        </p:nvSpPr>
        <p:spPr>
          <a:xfrm>
            <a:off x="375480" y="1045440"/>
            <a:ext cx="7602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отражений Хаусхолдера для 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</a:t>
            </a: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9"/>
          <p:cNvSpPr/>
          <p:nvPr/>
        </p:nvSpPr>
        <p:spPr>
          <a:xfrm>
            <a:off x="801000" y="1440720"/>
            <a:ext cx="10590120" cy="510408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35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Скругленный прямоугольник 45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TextBox 10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1"/>
          <p:cNvSpPr/>
          <p:nvPr/>
        </p:nvSpPr>
        <p:spPr>
          <a:xfrm>
            <a:off x="11579400" y="6314400"/>
            <a:ext cx="307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Прямая соединительная линия 15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40" name="TextBox 38"/>
          <p:cNvSpPr/>
          <p:nvPr/>
        </p:nvSpPr>
        <p:spPr>
          <a:xfrm>
            <a:off x="375480" y="456480"/>
            <a:ext cx="159948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39"/>
          <p:cNvSpPr/>
          <p:nvPr/>
        </p:nvSpPr>
        <p:spPr>
          <a:xfrm>
            <a:off x="1762560" y="456480"/>
            <a:ext cx="246384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42" name="Прямая соединительная линия 41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43" name="Прямая соединительная линия 42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44" name="Прямая соединительная линия 46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45" name="TextBox 8"/>
          <p:cNvSpPr/>
          <p:nvPr/>
        </p:nvSpPr>
        <p:spPr>
          <a:xfrm>
            <a:off x="375480" y="1045440"/>
            <a:ext cx="7602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9"/>
          <p:cNvSpPr/>
          <p:nvPr/>
        </p:nvSpPr>
        <p:spPr>
          <a:xfrm>
            <a:off x="801000" y="1374840"/>
            <a:ext cx="10590120" cy="527976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48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Скругленный прямоугольник 1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2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3"/>
          <p:cNvSpPr/>
          <p:nvPr/>
        </p:nvSpPr>
        <p:spPr>
          <a:xfrm>
            <a:off x="11579400" y="6314400"/>
            <a:ext cx="3074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2" name="Прямая соединительная линия 1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53" name="TextBox 5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Box 6"/>
          <p:cNvSpPr/>
          <p:nvPr/>
        </p:nvSpPr>
        <p:spPr>
          <a:xfrm>
            <a:off x="1762560" y="456480"/>
            <a:ext cx="2463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Возможные оптимизации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5" name="Прямая соединительная линия 2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56" name="Прямая соединительная линия 3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57" name="Прямая соединительная линия 4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58" name="TextBox 7"/>
          <p:cNvSpPr/>
          <p:nvPr/>
        </p:nvSpPr>
        <p:spPr>
          <a:xfrm>
            <a:off x="375480" y="1045440"/>
            <a:ext cx="760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Возможные оптимизации первой реализации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Рисунок 1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0" name="Рисунок 2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1" name="TextBox 12"/>
          <p:cNvSpPr/>
          <p:nvPr/>
        </p:nvSpPr>
        <p:spPr>
          <a:xfrm>
            <a:off x="311400" y="1461600"/>
            <a:ext cx="1158480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 связи с выявленными недостатками возможны следующие оптимизации: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Избавление от матричных умножений: подсчёт H</a:t>
            </a:r>
            <a:r>
              <a:rPr b="0" lang="ru-RU" sz="16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A</a:t>
            </a:r>
            <a:r>
              <a:rPr b="0" lang="ru-RU" sz="1600" strike="noStrike" u="none" baseline="-8000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k</a:t>
            </a:r>
            <a:r>
              <a:rPr b="0" lang="ru-RU" sz="1600" strike="noStrike" u="none">
                <a:solidFill>
                  <a:schemeClr val="dk1"/>
                </a:solidFill>
                <a:effectLst/>
                <a:uFillTx/>
                <a:latin typeface="Arial"/>
                <a:ea typeface="Microsoft YaHei"/>
              </a:rPr>
              <a:t> и 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 по-другому: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2" name="" descr=""/>
          <p:cNvPicPr/>
          <p:nvPr/>
        </p:nvPicPr>
        <p:blipFill>
          <a:blip r:embed="rId3"/>
          <a:stretch/>
        </p:blipFill>
        <p:spPr>
          <a:xfrm>
            <a:off x="1012320" y="2926800"/>
            <a:ext cx="3922920" cy="321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3" name="" descr=""/>
          <p:cNvPicPr/>
          <p:nvPr/>
        </p:nvPicPr>
        <p:blipFill>
          <a:blip r:embed="rId4"/>
          <a:stretch/>
        </p:blipFill>
        <p:spPr>
          <a:xfrm>
            <a:off x="8309160" y="2605680"/>
            <a:ext cx="673920" cy="2599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4" name="" descr=""/>
          <p:cNvPicPr/>
          <p:nvPr/>
        </p:nvPicPr>
        <p:blipFill>
          <a:blip r:embed="rId5"/>
          <a:stretch/>
        </p:blipFill>
        <p:spPr>
          <a:xfrm>
            <a:off x="6383160" y="2911320"/>
            <a:ext cx="4628160" cy="332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5" name="" descr=""/>
          <p:cNvPicPr/>
          <p:nvPr/>
        </p:nvPicPr>
        <p:blipFill>
          <a:blip r:embed="rId6"/>
          <a:stretch/>
        </p:blipFill>
        <p:spPr>
          <a:xfrm>
            <a:off x="8384040" y="3287880"/>
            <a:ext cx="549720" cy="222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6" name=""/>
          <p:cNvSpPr txBox="1"/>
          <p:nvPr/>
        </p:nvSpPr>
        <p:spPr>
          <a:xfrm>
            <a:off x="390960" y="3782160"/>
            <a:ext cx="10769760" cy="384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Работать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с нормированными векторами Хаусхолдера v</a:t>
            </a:r>
            <a:r>
              <a:rPr b="0" lang="ru-RU" sz="1800" strike="noStrike" u="none" baseline="-8000">
                <a:solidFill>
                  <a:srgbClr val="000000"/>
                </a:solidFill>
                <a:effectLst/>
                <a:uFillTx/>
                <a:latin typeface="Arial"/>
              </a:rPr>
              <a:t>k</a:t>
            </a: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, сохранять их в R под диагональю: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67" name="" descr=""/>
          <p:cNvPicPr/>
          <p:nvPr/>
        </p:nvPicPr>
        <p:blipFill>
          <a:blip r:embed="rId7"/>
          <a:stretch/>
        </p:blipFill>
        <p:spPr>
          <a:xfrm>
            <a:off x="1355760" y="4245480"/>
            <a:ext cx="1959480" cy="2631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8" name="" descr=""/>
          <p:cNvPicPr/>
          <p:nvPr/>
        </p:nvPicPr>
        <p:blipFill>
          <a:blip r:embed="rId8"/>
          <a:stretch/>
        </p:blipFill>
        <p:spPr>
          <a:xfrm>
            <a:off x="3663720" y="4241160"/>
            <a:ext cx="3809880" cy="429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9" name="" descr=""/>
          <p:cNvPicPr/>
          <p:nvPr/>
        </p:nvPicPr>
        <p:blipFill>
          <a:blip r:embed="rId9"/>
          <a:stretch/>
        </p:blipFill>
        <p:spPr>
          <a:xfrm>
            <a:off x="8060040" y="4208760"/>
            <a:ext cx="2860920" cy="46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70" name="" descr=""/>
          <p:cNvPicPr/>
          <p:nvPr/>
        </p:nvPicPr>
        <p:blipFill>
          <a:blip r:embed="rId10"/>
          <a:stretch/>
        </p:blipFill>
        <p:spPr>
          <a:xfrm>
            <a:off x="3695040" y="4818240"/>
            <a:ext cx="4858560" cy="1939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Скругленный прямоугольник 3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13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14"/>
          <p:cNvSpPr/>
          <p:nvPr/>
        </p:nvSpPr>
        <p:spPr>
          <a:xfrm>
            <a:off x="11579400" y="6314400"/>
            <a:ext cx="3074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4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4" name="Прямая соединительная линия 5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75" name="TextBox 15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16"/>
          <p:cNvSpPr/>
          <p:nvPr/>
        </p:nvSpPr>
        <p:spPr>
          <a:xfrm>
            <a:off x="1974960" y="456480"/>
            <a:ext cx="22514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Метод вращений Гивенса 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77" name="Прямая соединительная линия 6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78" name="Прямая соединительная линия 7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79" name="Прямая соединительная линия 8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80" name="TextBox 18"/>
          <p:cNvSpPr/>
          <p:nvPr/>
        </p:nvSpPr>
        <p:spPr>
          <a:xfrm>
            <a:off x="375480" y="1045440"/>
            <a:ext cx="46198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Метод вращений Гивенса 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1" name="Рисунок 4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2" name="Рисунок 5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3" name="TextBox 19"/>
          <p:cNvSpPr/>
          <p:nvPr/>
        </p:nvSpPr>
        <p:spPr>
          <a:xfrm>
            <a:off x="311400" y="1440000"/>
            <a:ext cx="115848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Каждая из матриц вращения (Гивенса) представлена позициями столбцов i и j и параметрами cos и sin вращения: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20"/>
          <p:cNvSpPr/>
          <p:nvPr/>
        </p:nvSpPr>
        <p:spPr>
          <a:xfrm>
            <a:off x="368640" y="5389200"/>
            <a:ext cx="115848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 этом параметр такого преобразования подбирается так, чтобы один из поддиагональных элементов преобразуемой матрицы стал нулевым.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" descr=""/>
          <p:cNvPicPr/>
          <p:nvPr/>
        </p:nvPicPr>
        <p:blipFill>
          <a:blip r:embed="rId3"/>
          <a:stretch/>
        </p:blipFill>
        <p:spPr>
          <a:xfrm>
            <a:off x="3680640" y="2220120"/>
            <a:ext cx="4581720" cy="3169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Скругленный прямоугольник 4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21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22"/>
          <p:cNvSpPr/>
          <p:nvPr/>
        </p:nvSpPr>
        <p:spPr>
          <a:xfrm>
            <a:off x="11579400" y="6314400"/>
            <a:ext cx="3074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89" name="Прямая соединительная линия 9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90" name="TextBox 23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24"/>
          <p:cNvSpPr/>
          <p:nvPr/>
        </p:nvSpPr>
        <p:spPr>
          <a:xfrm>
            <a:off x="1974960" y="308520"/>
            <a:ext cx="2251440" cy="456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Применение вращений Гивенса для QR-разложения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92" name="Прямая соединительная линия 10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93" name="Прямая соединительная линия 11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194" name="Прямая соединительная линия 12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195" name="TextBox 25"/>
          <p:cNvSpPr/>
          <p:nvPr/>
        </p:nvSpPr>
        <p:spPr>
          <a:xfrm>
            <a:off x="375480" y="1045440"/>
            <a:ext cx="760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Применение вращений Гивенса для </a:t>
            </a:r>
            <a:r>
              <a:rPr b="1" lang="en-US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QR-</a:t>
            </a: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разложения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6" name="Рисунок 6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97" name="Рисунок 7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TextBox 26"/>
          <p:cNvSpPr/>
          <p:nvPr/>
        </p:nvSpPr>
        <p:spPr>
          <a:xfrm>
            <a:off x="311400" y="1440000"/>
            <a:ext cx="11584800" cy="27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Суть алгоритма QR-разложения, реализованного с помощью вращений Гивенса – в последовательном занулении одного поддиагонального элемента, с целью получения верхнетреугольной матрицы R как побочного продукта и Q с помощью явных перемножений в простейшем случае.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На каждом шаге алгоритма для зануления элемента с индексами (i,j) получаем  вращение G</a:t>
            </a:r>
            <a:r>
              <a:rPr b="0" lang="ru-RU" sz="1800" strike="noStrike" u="none" baseline="-8000">
                <a:solidFill>
                  <a:schemeClr val="dk1"/>
                </a:solidFill>
                <a:effectLst/>
                <a:uFillTx/>
                <a:latin typeface="Arial"/>
              </a:rPr>
              <a:t>ji</a:t>
            </a: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, домножая на него матрицу A слева получаем , в которой элементы под главной диагональю, левее (i,j), занулены: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9" name="" descr=""/>
          <p:cNvPicPr/>
          <p:nvPr/>
        </p:nvPicPr>
        <p:blipFill>
          <a:blip r:embed="rId3"/>
          <a:stretch/>
        </p:blipFill>
        <p:spPr>
          <a:xfrm>
            <a:off x="1863360" y="4139280"/>
            <a:ext cx="1916640" cy="12992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0" name="" descr=""/>
          <p:cNvPicPr/>
          <p:nvPr/>
        </p:nvPicPr>
        <p:blipFill>
          <a:blip r:embed="rId4"/>
          <a:stretch/>
        </p:blipFill>
        <p:spPr>
          <a:xfrm>
            <a:off x="4635720" y="4148280"/>
            <a:ext cx="2235240" cy="1292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1" name="" descr=""/>
          <p:cNvPicPr/>
          <p:nvPr/>
        </p:nvPicPr>
        <p:blipFill>
          <a:blip r:embed="rId5"/>
          <a:stretch/>
        </p:blipFill>
        <p:spPr>
          <a:xfrm>
            <a:off x="7568640" y="4101840"/>
            <a:ext cx="2547360" cy="1305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2" name="" descr=""/>
          <p:cNvPicPr/>
          <p:nvPr/>
        </p:nvPicPr>
        <p:blipFill>
          <a:blip r:embed="rId6"/>
          <a:stretch/>
        </p:blipFill>
        <p:spPr>
          <a:xfrm>
            <a:off x="3847320" y="5790240"/>
            <a:ext cx="4638960" cy="2757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3" name="" descr=""/>
          <p:cNvPicPr/>
          <p:nvPr/>
        </p:nvPicPr>
        <p:blipFill>
          <a:blip r:embed="rId7"/>
          <a:stretch/>
        </p:blipFill>
        <p:spPr>
          <a:xfrm>
            <a:off x="1799280" y="6193440"/>
            <a:ext cx="9225000" cy="323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Скругленный прямоугольник 5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TextBox 27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Box 28"/>
          <p:cNvSpPr/>
          <p:nvPr/>
        </p:nvSpPr>
        <p:spPr>
          <a:xfrm>
            <a:off x="11579400" y="6314400"/>
            <a:ext cx="3074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07" name="Прямая соединительная линия 13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08" name="TextBox 29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30"/>
          <p:cNvSpPr/>
          <p:nvPr/>
        </p:nvSpPr>
        <p:spPr>
          <a:xfrm>
            <a:off x="1762560" y="456480"/>
            <a:ext cx="2463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Возможные оптимизации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0" name="Прямая соединительная линия 14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11" name="Прямая соединительная линия 16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12" name="Прямая соединительная линия 18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13" name="TextBox 31"/>
          <p:cNvSpPr/>
          <p:nvPr/>
        </p:nvSpPr>
        <p:spPr>
          <a:xfrm>
            <a:off x="375480" y="1045440"/>
            <a:ext cx="760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Возможные оптимизации первой реализации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4" name="Рисунок 8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5" name="Рисунок 10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6" name="TextBox 32"/>
          <p:cNvSpPr/>
          <p:nvPr/>
        </p:nvSpPr>
        <p:spPr>
          <a:xfrm>
            <a:off x="311400" y="1461600"/>
            <a:ext cx="11584800" cy="447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Для эффективной работы с памятью матрицу Q нужно хранить транспонированной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Сравнить два подхода вычисления Q и R: в рамках одного цикла и раздельно, сохраняя параметры вращения в отдельной структуре либо в матрице R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Попробовать хранить Q и R в одной структуре для улучшения локальности кэша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Можно не выполнять вращение строки при вычислении матрицы R целиком, поскольку слева от текущего столбца элементы вращаемых строк равны 0.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Можно ещё эффективнее обращаться к памяти, выполняя вычисления сразу над несколькими последовательно лежащими элементами, применив векторизацию.вычислений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Скругленный прямоугольник 45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TextBox 10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Box 11"/>
          <p:cNvSpPr/>
          <p:nvPr/>
        </p:nvSpPr>
        <p:spPr>
          <a:xfrm>
            <a:off x="11579400" y="6314400"/>
            <a:ext cx="3074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9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0" name="Прямая соединительная линия 15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21" name="TextBox 38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39"/>
          <p:cNvSpPr/>
          <p:nvPr/>
        </p:nvSpPr>
        <p:spPr>
          <a:xfrm>
            <a:off x="1762560" y="456480"/>
            <a:ext cx="2463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Замеры времени для метода отражений Хаусхолдера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3" name="Прямая соединительная линия 41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24" name="Прямая соединительная линия 42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25" name="Прямая соединительная линия 46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26" name="TextBox 8"/>
          <p:cNvSpPr/>
          <p:nvPr/>
        </p:nvSpPr>
        <p:spPr>
          <a:xfrm>
            <a:off x="375480" y="1045440"/>
            <a:ext cx="760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Замеры времени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7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28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29" name="Таблица 1"/>
          <p:cNvGraphicFramePr/>
          <p:nvPr/>
        </p:nvGraphicFramePr>
        <p:xfrm>
          <a:off x="1847160" y="2355480"/>
          <a:ext cx="8497440" cy="3485160"/>
        </p:xfrm>
        <a:graphic>
          <a:graphicData uri="http://schemas.openxmlformats.org/drawingml/2006/table">
            <a:tbl>
              <a:tblPr/>
              <a:tblGrid>
                <a:gridCol w="1785600"/>
                <a:gridCol w="1685880"/>
                <a:gridCol w="2356920"/>
                <a:gridCol w="2669040"/>
              </a:tblGrid>
              <a:tr h="7056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Размер данных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Время работы, секунды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Абсолютная ошибка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Относительная ошибка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100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1.41896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0.000746433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1.28803e-06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200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11.5924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0.00290193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2.5111e-06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300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56.9126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0.00631109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3.63063e-06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400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193.918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0.0112035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4.84842e-06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500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8 минут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0.0174695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6.04093e-06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1000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en-US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&gt; </a:t>
                      </a: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30 минут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en-US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&gt; </a:t>
                      </a: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0.1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en-US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&gt; </a:t>
                      </a: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0.1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Скругленный прямоугольник 6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33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34"/>
          <p:cNvSpPr/>
          <p:nvPr/>
        </p:nvSpPr>
        <p:spPr>
          <a:xfrm>
            <a:off x="11579400" y="6314400"/>
            <a:ext cx="3074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9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3" name="Прямая соединительная линия 19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34" name="TextBox 35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36"/>
          <p:cNvSpPr/>
          <p:nvPr/>
        </p:nvSpPr>
        <p:spPr>
          <a:xfrm>
            <a:off x="1762560" y="456480"/>
            <a:ext cx="24638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Замеры времени для метода вращений Гивенса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36" name="Прямая соединительная линия 20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37" name="Прямая соединительная линия 21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38" name="Прямая соединительная линия 22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39" name="TextBox 37"/>
          <p:cNvSpPr/>
          <p:nvPr/>
        </p:nvSpPr>
        <p:spPr>
          <a:xfrm>
            <a:off x="375480" y="1045440"/>
            <a:ext cx="760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Замеры времени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40" name="Рисунок 11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41" name="Рисунок 14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graphicFrame>
        <p:nvGraphicFramePr>
          <p:cNvPr id="242" name="Таблица 3"/>
          <p:cNvGraphicFramePr/>
          <p:nvPr/>
        </p:nvGraphicFramePr>
        <p:xfrm>
          <a:off x="1847160" y="2355480"/>
          <a:ext cx="8497440" cy="3485160"/>
        </p:xfrm>
        <a:graphic>
          <a:graphicData uri="http://schemas.openxmlformats.org/drawingml/2006/table">
            <a:tbl>
              <a:tblPr/>
              <a:tblGrid>
                <a:gridCol w="1785600"/>
                <a:gridCol w="1685880"/>
                <a:gridCol w="2356920"/>
                <a:gridCol w="2669040"/>
              </a:tblGrid>
              <a:tr h="7056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Размер данных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Время работы, секунды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Абсолютная ошибка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Относительная ошибка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100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1.41896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0.000746433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1.28803e-06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200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11.5924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0.00290193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2.5111e-06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300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56.9126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0.00631109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3.63063e-06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400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193.918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0.0112035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4.84842e-06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500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8 минут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0.0174695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6.04093e-06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59000"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1" lang="ru-RU" sz="1600" strike="noStrike" u="none">
                          <a:solidFill>
                            <a:schemeClr val="lt1"/>
                          </a:solidFill>
                          <a:effectLst/>
                          <a:uFillTx/>
                          <a:latin typeface="Arial"/>
                        </a:rPr>
                        <a:t>1000</a:t>
                      </a:r>
                      <a:endParaRPr b="0" lang="ru-RU" sz="1600" strike="noStrike" u="non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en-US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&gt; </a:t>
                      </a: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30 минут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en-US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&gt; </a:t>
                      </a: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0.1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lIns="68400" rIns="68400" tIns="0" bIns="0" anchor="ctr">
                      <a:noAutofit/>
                    </a:bodyPr>
                    <a:p>
                      <a:pPr algn="ctr" defTabSz="914400">
                        <a:lnSpc>
                          <a:spcPct val="150000"/>
                        </a:lnSpc>
                        <a:spcAft>
                          <a:spcPts val="1001"/>
                        </a:spcAft>
                      </a:pPr>
                      <a:r>
                        <a:rPr b="0" lang="en-US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&gt; </a:t>
                      </a:r>
                      <a:r>
                        <a:rPr b="0" lang="ru-RU" sz="16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"/>
                        </a:rPr>
                        <a:t>0.1</a:t>
                      </a:r>
                      <a:endParaRPr b="0" lang="ru-RU" sz="16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68400" marR="6840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Скругленный прямоугольник 45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TextBox 10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5" name="Прямая соединительная линия 15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46" name="TextBox 38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Box 39"/>
          <p:cNvSpPr/>
          <p:nvPr/>
        </p:nvSpPr>
        <p:spPr>
          <a:xfrm>
            <a:off x="1762560" y="456480"/>
            <a:ext cx="2463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второй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8" name="Прямая соединительная линия 41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49" name="Прямая соединительная линия 42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50" name="Прямая соединительная линия 46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51" name="TextBox 8"/>
          <p:cNvSpPr/>
          <p:nvPr/>
        </p:nvSpPr>
        <p:spPr>
          <a:xfrm>
            <a:off x="375480" y="1045440"/>
            <a:ext cx="760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Замеры времени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52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53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4" name="TextBox 17"/>
          <p:cNvSpPr/>
          <p:nvPr/>
        </p:nvSpPr>
        <p:spPr>
          <a:xfrm>
            <a:off x="11506320" y="6276960"/>
            <a:ext cx="4532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</a:t>
            </a:r>
            <a:r>
              <a:rPr b="0" lang="en-US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1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5" name="Диаграмма 6"/>
          <p:cNvGraphicFramePr/>
          <p:nvPr/>
        </p:nvGraphicFramePr>
        <p:xfrm>
          <a:off x="2031840" y="1414440"/>
          <a:ext cx="8127720" cy="5418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Скругленный прямоугольник 7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7" name="TextBox 40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41"/>
          <p:cNvSpPr/>
          <p:nvPr/>
        </p:nvSpPr>
        <p:spPr>
          <a:xfrm>
            <a:off x="11579400" y="6314400"/>
            <a:ext cx="3074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9" name="Прямая соединительная линия 23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60" name="TextBox 42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Box 43"/>
          <p:cNvSpPr/>
          <p:nvPr/>
        </p:nvSpPr>
        <p:spPr>
          <a:xfrm>
            <a:off x="1974960" y="441000"/>
            <a:ext cx="225144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Матрица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2" name="Прямая соединительная линия 24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63" name="Прямая соединительная линия 25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64" name="Прямая соединительная линия 26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65" name="TextBox 44"/>
          <p:cNvSpPr/>
          <p:nvPr/>
        </p:nvSpPr>
        <p:spPr>
          <a:xfrm>
            <a:off x="375480" y="1045440"/>
            <a:ext cx="760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Матрица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66" name="Рисунок 15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7" name="Рисунок 16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8" name="TextBox 45"/>
          <p:cNvSpPr/>
          <p:nvPr/>
        </p:nvSpPr>
        <p:spPr>
          <a:xfrm>
            <a:off x="311400" y="1440000"/>
            <a:ext cx="11584800" cy="188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Матрица Хессенберга — вид квадратной матрицы, обобщающий треугольные матрицы. Названа так в честь немецкого математика, Карла Хессенберга.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Верхняя матрица Хессенберга — это квадратная матрица, все элементы ниже побочной диагонали которой равны нулю: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46"/>
          <p:cNvSpPr/>
          <p:nvPr/>
        </p:nvSpPr>
        <p:spPr>
          <a:xfrm>
            <a:off x="302040" y="5545080"/>
            <a:ext cx="11584800" cy="91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Аналогично определяется нижняя матрица Хессенберга, при транспонировании которой получается верхняя матрица Хессенберга.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70" name="" descr=""/>
          <p:cNvPicPr/>
          <p:nvPr/>
        </p:nvPicPr>
        <p:blipFill>
          <a:blip r:embed="rId3"/>
          <a:stretch/>
        </p:blipFill>
        <p:spPr>
          <a:xfrm>
            <a:off x="1388880" y="3311280"/>
            <a:ext cx="3924360" cy="1914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71" name="" descr=""/>
          <p:cNvPicPr/>
          <p:nvPr/>
        </p:nvPicPr>
        <p:blipFill>
          <a:blip r:embed="rId4"/>
          <a:stretch/>
        </p:blipFill>
        <p:spPr>
          <a:xfrm>
            <a:off x="6382080" y="3367800"/>
            <a:ext cx="3781440" cy="1942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Скругленный прямоугольник 8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TextBox 47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Box 48"/>
          <p:cNvSpPr/>
          <p:nvPr/>
        </p:nvSpPr>
        <p:spPr>
          <a:xfrm>
            <a:off x="11579400" y="6314400"/>
            <a:ext cx="3074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5" name="Прямая соединительная линия 27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76" name="TextBox 49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50"/>
          <p:cNvSpPr/>
          <p:nvPr/>
        </p:nvSpPr>
        <p:spPr>
          <a:xfrm>
            <a:off x="1728720" y="441000"/>
            <a:ext cx="24976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 -разложение верхней матрицы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8" name="Прямая соединительная линия 28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79" name="Прямая соединительная линия 29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80" name="Прямая соединительная линия 30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81" name="TextBox 51"/>
          <p:cNvSpPr/>
          <p:nvPr/>
        </p:nvSpPr>
        <p:spPr>
          <a:xfrm>
            <a:off x="375480" y="1045440"/>
            <a:ext cx="760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 -разложение верхней матрицы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82" name="Рисунок 17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83" name="Рисунок 19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4" name="TextBox 52"/>
          <p:cNvSpPr/>
          <p:nvPr/>
        </p:nvSpPr>
        <p:spPr>
          <a:xfrm>
            <a:off x="311400" y="1440000"/>
            <a:ext cx="1158480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Пусть верхняя хессенбергова матрица A имет размер 6x6. С помощью алгоритма QR-разложения на основе вращений Гивенса решение задачи разложения верхней Хессенберговой матрицы выглядит следующим образом: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124200" y="5343120"/>
            <a:ext cx="11958120" cy="91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необходимо с помощью вращений Гивенса последовательно занулить (N-1) элементов, лежащих на побочной диагонали под главной (выделены красным):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Скругленный прямоугольник 9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7" name="TextBox 53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06.2026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Box 54"/>
          <p:cNvSpPr/>
          <p:nvPr/>
        </p:nvSpPr>
        <p:spPr>
          <a:xfrm>
            <a:off x="11579400" y="6314400"/>
            <a:ext cx="3074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9" name="Прямая соединительная линия 31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90" name="TextBox 55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TextBox 56"/>
          <p:cNvSpPr/>
          <p:nvPr/>
        </p:nvSpPr>
        <p:spPr>
          <a:xfrm>
            <a:off x="1728720" y="441000"/>
            <a:ext cx="249768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5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 -разложение верхней матрицы Хессенберга</a:t>
            </a:r>
            <a:endParaRPr b="0" lang="ru-RU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2" name="Прямая соединительная линия 32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93" name="Прямая соединительная линия 33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294" name="Прямая соединительная линия 34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295" name="TextBox 57"/>
          <p:cNvSpPr/>
          <p:nvPr/>
        </p:nvSpPr>
        <p:spPr>
          <a:xfrm>
            <a:off x="375480" y="1045440"/>
            <a:ext cx="760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QR -разложение верхней матрицы Хессенберга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96" name="Рисунок 20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97" name="Рисунок 21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8" name="TextBox 58"/>
          <p:cNvSpPr/>
          <p:nvPr/>
        </p:nvSpPr>
        <p:spPr>
          <a:xfrm>
            <a:off x="311400" y="1440000"/>
            <a:ext cx="11584800" cy="13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Пусть верхняя хессенбергова матрица A имет размер 6x6. С помощью алгоритма QR-разложения на основе вращений Гивенса решение задачи разложения верхней Хессенберговой матрицы выглядит следующим образом: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124200" y="5343120"/>
            <a:ext cx="11958120" cy="91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ru-RU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необходимо с помощью вращений Гивенса последовательно занулить (N-1) элементов, лежащих на побочной диагонали под главной (выделены красным):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  <a:ea typeface="Microsoft YaHe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Скругленный прямоугольник 45"/>
          <p:cNvSpPr/>
          <p:nvPr/>
        </p:nvSpPr>
        <p:spPr>
          <a:xfrm>
            <a:off x="295560" y="225360"/>
            <a:ext cx="11600280" cy="76680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19050">
            <a:solidFill>
              <a:srgbClr val="173c9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1" name="TextBox 10"/>
          <p:cNvSpPr/>
          <p:nvPr/>
        </p:nvSpPr>
        <p:spPr>
          <a:xfrm rot="16200000">
            <a:off x="11178720" y="5499720"/>
            <a:ext cx="110520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fa4012"/>
                </a:solidFill>
                <a:effectLst/>
                <a:uFillTx/>
                <a:latin typeface="Arial"/>
              </a:rPr>
              <a:t>06.2025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TextBox 11"/>
          <p:cNvSpPr/>
          <p:nvPr/>
        </p:nvSpPr>
        <p:spPr>
          <a:xfrm>
            <a:off x="11579400" y="6314400"/>
            <a:ext cx="307440" cy="30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0" lang="ru-RU" sz="14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7</a:t>
            </a:r>
            <a:endParaRPr b="0" lang="ru-RU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3" name="Прямая соединительная линия 15"/>
          <p:cNvCxnSpPr/>
          <p:nvPr/>
        </p:nvCxnSpPr>
        <p:spPr>
          <a:xfrm>
            <a:off x="11579040" y="6240600"/>
            <a:ext cx="28836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304" name="TextBox 38"/>
          <p:cNvSpPr/>
          <p:nvPr/>
        </p:nvSpPr>
        <p:spPr>
          <a:xfrm>
            <a:off x="375480" y="456480"/>
            <a:ext cx="159948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en-US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QR-</a:t>
            </a:r>
            <a:r>
              <a:rPr b="1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разложение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Box 39"/>
          <p:cNvSpPr/>
          <p:nvPr/>
        </p:nvSpPr>
        <p:spPr>
          <a:xfrm>
            <a:off x="1762560" y="456480"/>
            <a:ext cx="246384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ru-RU" sz="1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Описание первой реализации</a:t>
            </a:r>
            <a:endParaRPr b="0" lang="ru-RU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6" name="Прямая соединительная линия 41"/>
          <p:cNvCxnSpPr/>
          <p:nvPr/>
        </p:nvCxnSpPr>
        <p:spPr>
          <a:xfrm>
            <a:off x="4190760" y="607680"/>
            <a:ext cx="2184480" cy="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307" name="Прямая соединительная линия 42"/>
          <p:cNvCxnSpPr/>
          <p:nvPr/>
        </p:nvCxnSpPr>
        <p:spPr>
          <a:xfrm>
            <a:off x="637488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cxnSp>
        <p:nvCxnSpPr>
          <p:cNvPr id="308" name="Прямая соединительная линия 46"/>
          <p:cNvCxnSpPr/>
          <p:nvPr/>
        </p:nvCxnSpPr>
        <p:spPr>
          <a:xfrm>
            <a:off x="9295560" y="466200"/>
            <a:ext cx="360" cy="288360"/>
          </a:xfrm>
          <a:prstGeom prst="straightConnector1">
            <a:avLst/>
          </a:prstGeom>
          <a:ln w="19050">
            <a:solidFill>
              <a:srgbClr val="173c90"/>
            </a:solidFill>
          </a:ln>
        </p:spPr>
      </p:cxnSp>
      <p:sp>
        <p:nvSpPr>
          <p:cNvPr id="309" name="TextBox 8"/>
          <p:cNvSpPr/>
          <p:nvPr/>
        </p:nvSpPr>
        <p:spPr>
          <a:xfrm>
            <a:off x="375480" y="1045440"/>
            <a:ext cx="76021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ru-RU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Проверка корректности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9"/>
          <p:cNvSpPr/>
          <p:nvPr/>
        </p:nvSpPr>
        <p:spPr>
          <a:xfrm>
            <a:off x="801000" y="1772280"/>
            <a:ext cx="10590120" cy="4179240"/>
          </a:xfrm>
          <a:prstGeom prst="rect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defTabSz="914400">
              <a:lnSpc>
                <a:spcPct val="100000"/>
              </a:lnSpc>
            </a:pPr>
            <a:r>
              <a:rPr b="0" lang="ru-RU" sz="1800" strike="noStrike" u="none">
                <a:solidFill>
                  <a:srgbClr val="ffffff">
                    <a:alpha val="1000"/>
                  </a:srgbClr>
                </a:solidFill>
                <a:effectLst/>
                <a:uFillTx/>
                <a:latin typeface="Calibri"/>
              </a:rPr>
              <a:t> </a:t>
            </a:r>
            <a:endParaRPr b="0" lang="ru-RU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1" name="Рисунок 12" descr="Изображение выглядит как текст&#10;&#10;Автоматически созданное описание"/>
          <p:cNvPicPr/>
          <p:nvPr/>
        </p:nvPicPr>
        <p:blipFill>
          <a:blip r:embed="rId2"/>
          <a:stretch/>
        </p:blipFill>
        <p:spPr>
          <a:xfrm>
            <a:off x="7077960" y="38952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12" name="Рисунок 13" descr="Изображение выглядит как текст, красный, знак, оранжевый&#10;&#10;Автоматически созданное описание"/>
          <p:cNvPicPr/>
          <p:nvPr/>
        </p:nvPicPr>
        <p:blipFill>
          <a:blip r:embed="rId3"/>
          <a:stretch/>
        </p:blipFill>
        <p:spPr>
          <a:xfrm>
            <a:off x="9810000" y="476280"/>
            <a:ext cx="1667880" cy="324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Скругленный прямоугольник 2"/>
          <p:cNvSpPr/>
          <p:nvPr/>
        </p:nvSpPr>
        <p:spPr>
          <a:xfrm>
            <a:off x="663120" y="1015920"/>
            <a:ext cx="10865520" cy="4990680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w="28575">
            <a:solidFill>
              <a:srgbClr val="44546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ru-RU" sz="1800" strike="noStrike" u="non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314" name="Рисунок 3" descr="Изображение выглядит как текст&#10;&#10;Автоматически созданное описание"/>
          <p:cNvPicPr/>
          <p:nvPr/>
        </p:nvPicPr>
        <p:blipFill>
          <a:blip r:embed="rId1"/>
          <a:stretch/>
        </p:blipFill>
        <p:spPr>
          <a:xfrm>
            <a:off x="5292360" y="1396800"/>
            <a:ext cx="1607400" cy="45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Box 4"/>
          <p:cNvSpPr/>
          <p:nvPr/>
        </p:nvSpPr>
        <p:spPr>
          <a:xfrm>
            <a:off x="2894760" y="3136680"/>
            <a:ext cx="6402240" cy="58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b="1" lang="ru-RU" sz="3200" strike="noStrike" u="none">
                <a:solidFill>
                  <a:srgbClr val="173c90"/>
                </a:solidFill>
                <a:effectLst/>
                <a:uFillTx/>
                <a:latin typeface="Arial"/>
              </a:rPr>
              <a:t>СПАСИБО ЗА ВНИМАНИЕ!</a:t>
            </a:r>
            <a:endParaRPr b="0" lang="ru-RU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268</TotalTime>
  <Application>LibreOffice/25.2.7.2$Windows_X86_64 LibreOffice_project/5cbfd1ab6520636bb5f7b99185aa69bd7456825d</Application>
  <AppVersion>15.0000</AppVersion>
  <Words>953</Words>
  <Paragraphs>238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2025-06-04T17:20:17Z</dcterms:created>
  <dc:creator>Кандрин Алексей Дмитриевич</dc:creator>
  <dc:description/>
  <dc:language>ru-RU</dc:language>
  <cp:lastModifiedBy/>
  <dcterms:modified xsi:type="dcterms:W3CDTF">2026-05-25T23:29:10Z</dcterms:modified>
  <cp:revision>107</cp:revision>
  <dc:subject/>
  <dc:title>QR разложение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Широкоэкранный</vt:lpwstr>
  </property>
  <property fmtid="{D5CDD505-2E9C-101B-9397-08002B2CF9AE}" pid="4" name="Slides">
    <vt:i4>16</vt:i4>
  </property>
</Properties>
</file>
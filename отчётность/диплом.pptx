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slideMasters/slideMaster1.xml" ContentType="application/vnd.openxmlformats-officedocument.presentationml.slideMaster+xml"/>
  <Override PartName="/ppt/slideMasters/_rels/slideMaster1.xml.rels" ContentType="application/vnd.openxmlformats-package.relationships+xml"/>
  <Override PartName="/ppt/notesMasters/notesMaster1.xml" ContentType="application/vnd.openxmlformats-officedocument.presentationml.notesMaster+xml"/>
  <Override PartName="/ppt/notesMasters/_rels/notesMaster1.xml.rels" ContentType="application/vnd.openxmlformats-package.relationships+xml"/>
  <Override PartName="/ppt/theme/theme1.xml" ContentType="application/vnd.openxmlformats-officedocument.theme+xml"/>
  <Override PartName="/ppt/theme/theme1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_rels/slideLayout1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4.xml.rels" ContentType="application/vnd.openxmlformats-package.relationships+xml"/>
  <Override PartName="/ppt/slideLayouts/_rels/slideLayout5.xml.rels" ContentType="application/vnd.openxmlformats-package.relationships+xml"/>
  <Override PartName="/ppt/slideLayouts/_rels/slideLayout6.xml.rels" ContentType="application/vnd.openxmlformats-package.relationships+xml"/>
  <Override PartName="/ppt/slideLayouts/_rels/slideLayout7.xml.rels" ContentType="application/vnd.openxmlformats-package.relationships+xml"/>
  <Override PartName="/ppt/slideLayouts/_rels/slideLayout8.xml.rels" ContentType="application/vnd.openxmlformats-package.relationships+xml"/>
  <Override PartName="/ppt/slideLayouts/_rels/slideLayout9.xml.rels" ContentType="application/vnd.openxmlformats-package.relationships+xml"/>
  <Override PartName="/ppt/slideLayouts/_rels/slideLayout10.xml.rels" ContentType="application/vnd.openxmlformats-package.relationships+xml"/>
  <Override PartName="/ppt/slideLayouts/_rels/slideLayout11.xml.rels" ContentType="application/vnd.openxmlformats-package.relationshi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_rels/slide1.xml.rels" ContentType="application/vnd.openxmlformats-package.relationships+xml"/>
  <Override PartName="/ppt/slides/_rels/slide2.xml.rels" ContentType="application/vnd.openxmlformats-package.relationships+xml"/>
  <Override PartName="/ppt/slides/_rels/slide3.xml.rels" ContentType="application/vnd.openxmlformats-package.relationships+xml"/>
  <Override PartName="/ppt/slides/_rels/slide4.xml.rels" ContentType="application/vnd.openxmlformats-package.relationships+xml"/>
  <Override PartName="/ppt/slides/_rels/slide5.xml.rels" ContentType="application/vnd.openxmlformats-package.relationships+xml"/>
  <Override PartName="/ppt/slides/_rels/slide6.xml.rels" ContentType="application/vnd.openxmlformats-package.relationships+xml"/>
  <Override PartName="/ppt/slides/_rels/slide7.xml.rels" ContentType="application/vnd.openxmlformats-package.relationships+xml"/>
  <Override PartName="/ppt/slides/_rels/slide8.xml.rels" ContentType="application/vnd.openxmlformats-package.relationships+xml"/>
  <Override PartName="/ppt/slides/_rels/slide9.xml.rels" ContentType="application/vnd.openxmlformats-package.relationships+xml"/>
  <Override PartName="/ppt/slides/_rels/slide10.xml.rels" ContentType="application/vnd.openxmlformats-package.relationships+xml"/>
  <Override PartName="/ppt/slides/_rels/slide11.xml.rels" ContentType="application/vnd.openxmlformats-package.relationships+xml"/>
  <Override PartName="/ppt/slides/_rels/slide12.xml.rels" ContentType="application/vnd.openxmlformats-package.relationships+xml"/>
  <Override PartName="/ppt/slides/_rels/slide13.xml.rels" ContentType="application/vnd.openxmlformats-package.relationships+xml"/>
  <Override PartName="/ppt/slides/_rels/slide14.xml.rels" ContentType="application/vnd.openxmlformats-package.relationships+xml"/>
  <Override PartName="/ppt/slides/_rels/slide15.xml.rels" ContentType="application/vnd.openxmlformats-package.relationships+xml"/>
  <Override PartName="/ppt/slides/_rels/slide16.xml.rels" ContentType="application/vnd.openxmlformats-package.relationships+xml"/>
  <Override PartName="/ppt/slides/_rels/slide17.xml.rels" ContentType="application/vnd.openxmlformats-package.relationships+xml"/>
  <Override PartName="/ppt/slides/_rels/slide18.xml.rels" ContentType="application/vnd.openxmlformats-package.relationships+xml"/>
  <Override PartName="/ppt/slides/_rels/slide19.xml.rels" ContentType="application/vnd.openxmlformats-package.relationships+xml"/>
  <Override PartName="/ppt/media/image1.jpeg" ContentType="image/jpeg"/>
  <Override PartName="/ppt/media/image3.png" ContentType="image/png"/>
  <Override PartName="/ppt/media/image2.png" ContentType="image/png"/>
  <Override PartName="/ppt/media/image4.png" ContentType="image/png"/>
  <Override PartName="/ppt/media/image5.png" ContentType="image/png"/>
  <Override PartName="/ppt/media/image6.png" ContentType="image/png"/>
  <Override PartName="/ppt/media/image7.png" ContentType="image/png"/>
  <Override PartName="/ppt/media/image8.png" ContentType="image/png"/>
  <Override PartName="/ppt/media/image9.png" ContentType="image/png"/>
  <Override PartName="/ppt/media/image10.png" ContentType="image/png"/>
  <Override PartName="/ppt/media/image11.png" ContentType="image/png"/>
  <Override PartName="/ppt/media/image12.png" ContentType="image/png"/>
  <Override PartName="/ppt/media/image13.png" ContentType="image/png"/>
  <Override PartName="/ppt/media/image14.png" ContentType="image/png"/>
  <Override PartName="/ppt/media/image15.png" ContentType="image/png"/>
  <Override PartName="/ppt/media/image16.png" ContentType="image/png"/>
  <Override PartName="/ppt/media/image17.png" ContentType="image/png"/>
  <Override PartName="/ppt/media/image18.png" ContentType="image/png"/>
  <Override PartName="/ppt/media/image19.png" ContentType="image/png"/>
  <Override PartName="/ppt/media/image20.png" ContentType="image/png"/>
  <Override PartName="/ppt/media/image21.png" ContentType="image/png"/>
  <Override PartName="/ppt/media/image22.png" ContentType="image/png"/>
  <Override PartName="/ppt/media/image23.png" ContentType="image/png"/>
  <Override PartName="/ppt/media/image24.png" ContentType="image/png"/>
  <Override PartName="/ppt/media/image25.png" ContentType="image/png"/>
  <Override PartName="/ppt/media/image26.png" ContentType="image/png"/>
  <Override PartName="/ppt/media/image27.png" ContentType="image/png"/>
  <Override PartName="/ppt/media/image28.emf" ContentType="image/x-emf"/>
  <Override PartName="/ppt/media/image29.png" ContentType="image/png"/>
  <Override PartName="/ppt/media/image30.png" ContentType="image/png"/>
  <Override PartName="/ppt/media/image31.png" ContentType="image/png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_rels/notesSlide2.xml.rels" ContentType="application/vnd.openxmlformats-package.relationships+xml"/>
  <Override PartName="/ppt/notesSlides/_rels/notesSlide14.xml.rels" ContentType="application/vnd.openxmlformats-package.relationships+xml"/>
  <Override PartName="/ppt/notesSlides/_rels/notesSlide11.xml.rels" ContentType="application/vnd.openxmlformats-package.relationships+xml"/>
  <Override PartName="/ppt/notesSlides/_rels/notesSlide3.xml.rels" ContentType="application/vnd.openxmlformats-package.relationships+xml"/>
  <Override PartName="/ppt/notesSlides/_rels/notesSlide12.xml.rels" ContentType="application/vnd.openxmlformats-package.relationships+xml"/>
  <Override PartName="/ppt/notesSlides/_rels/notesSlide4.xml.rels" ContentType="application/vnd.openxmlformats-package.relationships+xml"/>
  <Override PartName="/ppt/notesSlides/_rels/notesSlide9.xml.rels" ContentType="application/vnd.openxmlformats-package.relationships+xml"/>
  <Override PartName="/ppt/notesSlides/_rels/notesSlide13.xml.rels" ContentType="application/vnd.openxmlformats-package.relationships+xml"/>
  <Override PartName="/ppt/notesSlides/_rels/notesSlide15.xml.rels" ContentType="application/vnd.openxmlformats-package.relationships+xml"/>
  <Override PartName="/ppt/notesSlides/_rels/notesSlide16.xml.rels" ContentType="application/vnd.openxmlformats-package.relationships+xml"/>
  <Override PartName="/ppt/notesSlides/_rels/notesSlide17.xml.rels" ContentType="application/vnd.openxmlformats-package.relationships+xml"/>
  <Override PartName="/ppt/notesSlides/_rels/notesSlide18.xml.rels" ContentType="application/vnd.openxmlformats-package.relationships+xml"/>
  <Override PartName="/ppt/presProps.xml" ContentType="application/vnd.openxmlformats-officedocument.presentationml.presProps+xml"/>
  <Override PartName="/ppt/_rels/presentation.xml.rels" ContentType="application/vnd.openxmlformats-package.relationships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notesMasterIdLst>
    <p:notesMasterId r:id="rId3"/>
  </p:notesMasterIdLst>
  <p:sldIdLst>
    <p:sldId id="256" r:id="rId4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7" r:id="rId15"/>
    <p:sldId id="268" r:id="rId16"/>
    <p:sldId id="269" r:id="rId17"/>
    <p:sldId id="270" r:id="rId18"/>
    <p:sldId id="271" r:id="rId19"/>
    <p:sldId id="272" r:id="rId20"/>
    <p:sldId id="273" r:id="rId21"/>
    <p:sldId id="274" r:id="rId22"/>
  </p:sldIdLst>
  <p:sldSz cx="12192000" cy="6858000"/>
  <p:notesSz cx="6858000" cy="91440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notesMaster" Target="notesMasters/notesMaster1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slide" Target="slides/slide10.xml"/><Relationship Id="rId14" Type="http://schemas.openxmlformats.org/officeDocument/2006/relationships/slide" Target="slides/slide11.xml"/><Relationship Id="rId15" Type="http://schemas.openxmlformats.org/officeDocument/2006/relationships/slide" Target="slides/slide12.xml"/><Relationship Id="rId16" Type="http://schemas.openxmlformats.org/officeDocument/2006/relationships/slide" Target="slides/slide13.xml"/><Relationship Id="rId17" Type="http://schemas.openxmlformats.org/officeDocument/2006/relationships/slide" Target="slides/slide14.xml"/><Relationship Id="rId18" Type="http://schemas.openxmlformats.org/officeDocument/2006/relationships/slide" Target="slides/slide15.xml"/><Relationship Id="rId19" Type="http://schemas.openxmlformats.org/officeDocument/2006/relationships/slide" Target="slides/slide16.xml"/><Relationship Id="rId20" Type="http://schemas.openxmlformats.org/officeDocument/2006/relationships/slide" Target="slides/slide17.xml"/><Relationship Id="rId21" Type="http://schemas.openxmlformats.org/officeDocument/2006/relationships/slide" Target="slides/slide18.xml"/><Relationship Id="rId22" Type="http://schemas.openxmlformats.org/officeDocument/2006/relationships/slide" Target="slides/slide19.xml"/><Relationship Id="rId23" Type="http://schemas.openxmlformats.org/officeDocument/2006/relationships/presProps" Target="presProps.xml"/>
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en-US"/>
  <c:roundedCorners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label 0</c:f>
              <c:strCache>
                <c:ptCount val="1"/>
                <c:pt idx="0">
                  <c:v>Последовательная реализация</c:v>
                </c:pt>
              </c:strCache>
            </c:strRef>
          </c:tx>
          <c:spPr>
            <a:solidFill>
              <a:srgbClr val="5b9bd5"/>
            </a:solidFill>
            <a:ln cap="rnd" w="28440">
              <a:solidFill>
                <a:srgbClr val="5b9bd5"/>
              </a:solidFill>
              <a:round/>
            </a:ln>
          </c:spPr>
          <c:marker>
            <c:symbol val="none"/>
          </c:marker>
          <c:dLbls>
            <c:txPr>
              <a:bodyPr wrap="square"/>
              <a:lstStyle/>
              <a:p>
                <a:pPr>
                  <a:defRPr b="0" sz="1000" strike="noStrike" u="none">
                    <a:solidFill>
                      <a:srgbClr val="000000"/>
                    </a:solidFill>
                    <a:uFillTx/>
                    <a:latin typeface="Calibri"/>
                  </a:defRPr>
                </a:pPr>
              </a:p>
            </c:txPr>
            <c:dLblPos val="r"/>
            <c:showLegendKey val="0"/>
            <c:showVal val="0"/>
            <c:showCatName val="0"/>
            <c:showSerName val="0"/>
            <c:showPercent val="0"/>
            <c:separator>; </c:separator>
            <c:showLeaderLines val="1"/>
            <c:leaderLines>
              <c:spPr>
                <a:ln cap="rnd" w="28440">
                  <a:solidFill>
                    <a:srgbClr val="000000"/>
                  </a:solidFill>
                </a:ln>
              </c:spPr>
            </c:leaderLines>
            <c:extLst>
              <c:ext xmlns:c15="http://schemas.microsoft.com/office/drawing/2012/chart" uri="{CE6537A1-D6FC-4f65-9D91-7224C49458BB}">
                <c15:showLeaderLines val="1"/>
              </c:ext>
            </c:extLst>
          </c:dLbls>
          <c:cat>
            <c:strRef>
              <c:f>categories</c:f>
              <c:strCache>
                <c:ptCount val="6"/>
                <c:pt idx="0">
                  <c:v>100</c:v>
                </c:pt>
                <c:pt idx="1">
                  <c:v>200</c:v>
                </c:pt>
                <c:pt idx="2">
                  <c:v>300</c:v>
                </c:pt>
                <c:pt idx="3">
                  <c:v>400</c:v>
                </c:pt>
                <c:pt idx="4">
                  <c:v>500</c:v>
                </c:pt>
                <c:pt idx="5">
                  <c:v>1000</c:v>
                </c:pt>
              </c:strCache>
            </c:strRef>
          </c:cat>
          <c:val>
            <c:numRef>
              <c:f>0</c:f>
              <c:numCache>
                <c:formatCode>General</c:formatCode>
                <c:ptCount val="6"/>
                <c:pt idx="0">
                  <c:v>1.41896</c:v>
                </c:pt>
                <c:pt idx="1">
                  <c:v>11.5924</c:v>
                </c:pt>
                <c:pt idx="2">
                  <c:v>56.9126</c:v>
                </c:pt>
                <c:pt idx="3">
                  <c:v>193.918</c:v>
                </c:pt>
                <c:pt idx="4">
                  <c:v>480</c:v>
                </c:pt>
                <c:pt idx="5">
                  <c:v>1500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label 1</c:f>
              <c:strCache>
                <c:ptCount val="1"/>
                <c:pt idx="0">
                  <c:v>Вторая версия, 1 поток</c:v>
                </c:pt>
              </c:strCache>
            </c:strRef>
          </c:tx>
          <c:spPr>
            <a:solidFill>
              <a:srgbClr val="ed7d31"/>
            </a:solidFill>
            <a:ln cap="rnd" w="28440">
              <a:solidFill>
                <a:srgbClr val="ed7d31"/>
              </a:solidFill>
              <a:round/>
            </a:ln>
          </c:spPr>
          <c:marker>
            <c:symbol val="none"/>
          </c:marker>
          <c:dLbls>
            <c:txPr>
              <a:bodyPr wrap="square"/>
              <a:lstStyle/>
              <a:p>
                <a:pPr>
                  <a:defRPr b="0" sz="1000" strike="noStrike" u="none">
                    <a:solidFill>
                      <a:srgbClr val="000000"/>
                    </a:solidFill>
                    <a:uFillTx/>
                    <a:latin typeface="Calibri"/>
                  </a:defRPr>
                </a:pPr>
              </a:p>
            </c:txPr>
            <c:dLblPos val="r"/>
            <c:showLegendKey val="0"/>
            <c:showVal val="0"/>
            <c:showCatName val="0"/>
            <c:showSerName val="0"/>
            <c:showPercent val="0"/>
            <c:separator>; </c:separator>
            <c:showLeaderLines val="1"/>
            <c:leaderLines>
              <c:spPr>
                <a:ln cap="rnd" w="28440">
                  <a:solidFill>
                    <a:srgbClr val="000000"/>
                  </a:solidFill>
                </a:ln>
              </c:spPr>
            </c:leaderLines>
            <c:extLst>
              <c:ext xmlns:c15="http://schemas.microsoft.com/office/drawing/2012/chart" uri="{CE6537A1-D6FC-4f65-9D91-7224C49458BB}">
                <c15:showLeaderLines val="1"/>
              </c:ext>
            </c:extLst>
          </c:dLbls>
          <c:cat>
            <c:strRef>
              <c:f>categories</c:f>
              <c:strCache>
                <c:ptCount val="6"/>
                <c:pt idx="0">
                  <c:v>100</c:v>
                </c:pt>
                <c:pt idx="1">
                  <c:v>200</c:v>
                </c:pt>
                <c:pt idx="2">
                  <c:v>300</c:v>
                </c:pt>
                <c:pt idx="3">
                  <c:v>400</c:v>
                </c:pt>
                <c:pt idx="4">
                  <c:v>500</c:v>
                </c:pt>
                <c:pt idx="5">
                  <c:v>1000</c:v>
                </c:pt>
              </c:strCache>
            </c:strRef>
          </c:cat>
          <c:val>
            <c:numRef>
              <c:f>1</c:f>
              <c:numCache>
                <c:formatCode>General</c:formatCode>
                <c:ptCount val="6"/>
                <c:pt idx="0">
                  <c:v>0.345972</c:v>
                </c:pt>
                <c:pt idx="1">
                  <c:v>4.45997</c:v>
                </c:pt>
                <c:pt idx="2">
                  <c:v>24.0261</c:v>
                </c:pt>
                <c:pt idx="3">
                  <c:v>87.9575</c:v>
                </c:pt>
                <c:pt idx="4">
                  <c:v>241.204</c:v>
                </c:pt>
                <c:pt idx="5">
                  <c:v>1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label 2</c:f>
              <c:strCache>
                <c:ptCount val="1"/>
                <c:pt idx="0">
                  <c:v>Вторая версия, 2 потока</c:v>
                </c:pt>
              </c:strCache>
            </c:strRef>
          </c:tx>
          <c:spPr>
            <a:solidFill>
              <a:srgbClr val="a5a5a5"/>
            </a:solidFill>
            <a:ln cap="rnd" w="28440">
              <a:solidFill>
                <a:srgbClr val="a5a5a5"/>
              </a:solidFill>
              <a:round/>
            </a:ln>
          </c:spPr>
          <c:marker>
            <c:symbol val="none"/>
          </c:marker>
          <c:dLbls>
            <c:txPr>
              <a:bodyPr wrap="square"/>
              <a:lstStyle/>
              <a:p>
                <a:pPr>
                  <a:defRPr b="0" sz="1000" strike="noStrike" u="none">
                    <a:solidFill>
                      <a:srgbClr val="000000"/>
                    </a:solidFill>
                    <a:uFillTx/>
                    <a:latin typeface="Calibri"/>
                  </a:defRPr>
                </a:pPr>
              </a:p>
            </c:txPr>
            <c:dLblPos val="r"/>
            <c:showLegendKey val="0"/>
            <c:showVal val="0"/>
            <c:showCatName val="0"/>
            <c:showSerName val="0"/>
            <c:showPercent val="0"/>
            <c:separator>; </c:separator>
            <c:showLeaderLines val="1"/>
            <c:leaderLines>
              <c:spPr>
                <a:ln cap="rnd" w="28440">
                  <a:solidFill>
                    <a:srgbClr val="000000"/>
                  </a:solidFill>
                </a:ln>
              </c:spPr>
            </c:leaderLines>
            <c:extLst>
              <c:ext xmlns:c15="http://schemas.microsoft.com/office/drawing/2012/chart" uri="{CE6537A1-D6FC-4f65-9D91-7224C49458BB}">
                <c15:showLeaderLines val="1"/>
              </c:ext>
            </c:extLst>
          </c:dLbls>
          <c:cat>
            <c:strRef>
              <c:f>categories</c:f>
              <c:strCache>
                <c:ptCount val="6"/>
                <c:pt idx="0">
                  <c:v>100</c:v>
                </c:pt>
                <c:pt idx="1">
                  <c:v>200</c:v>
                </c:pt>
                <c:pt idx="2">
                  <c:v>300</c:v>
                </c:pt>
                <c:pt idx="3">
                  <c:v>400</c:v>
                </c:pt>
                <c:pt idx="4">
                  <c:v>500</c:v>
                </c:pt>
                <c:pt idx="5">
                  <c:v>1000</c:v>
                </c:pt>
              </c:strCache>
            </c:strRef>
          </c:cat>
          <c:val>
            <c:numRef>
              <c:f>2</c:f>
              <c:numCache>
                <c:formatCode>General</c:formatCode>
                <c:ptCount val="6"/>
                <c:pt idx="0">
                  <c:v>1</c:v>
                </c:pt>
                <c:pt idx="1">
                  <c:v>1</c:v>
                </c:pt>
                <c:pt idx="2">
                  <c:v>1</c:v>
                </c:pt>
                <c:pt idx="3">
                  <c:v>1</c:v>
                </c:pt>
                <c:pt idx="4">
                  <c:v>1</c:v>
                </c:pt>
                <c:pt idx="5">
                  <c:v>1</c:v>
                </c:pt>
              </c:numCache>
            </c:numRef>
          </c:val>
          <c:smooth val="0"/>
        </c:ser>
        <c:ser>
          <c:idx val="3"/>
          <c:order val="3"/>
          <c:tx>
            <c:strRef>
              <c:f>label 3</c:f>
              <c:strCache>
                <c:ptCount val="1"/>
                <c:pt idx="0">
                  <c:v>Вторая версия, 3 потока</c:v>
                </c:pt>
              </c:strCache>
            </c:strRef>
          </c:tx>
          <c:spPr>
            <a:solidFill>
              <a:srgbClr val="ffc000"/>
            </a:solidFill>
            <a:ln cap="rnd" w="28440">
              <a:solidFill>
                <a:srgbClr val="ffc000"/>
              </a:solidFill>
              <a:round/>
            </a:ln>
          </c:spPr>
          <c:marker>
            <c:symbol val="none"/>
          </c:marker>
          <c:dLbls>
            <c:txPr>
              <a:bodyPr wrap="square"/>
              <a:lstStyle/>
              <a:p>
                <a:pPr>
                  <a:defRPr b="0" sz="1000" strike="noStrike" u="none">
                    <a:solidFill>
                      <a:srgbClr val="000000"/>
                    </a:solidFill>
                    <a:uFillTx/>
                    <a:latin typeface="Calibri"/>
                  </a:defRPr>
                </a:pPr>
              </a:p>
            </c:txPr>
            <c:dLblPos val="r"/>
            <c:showLegendKey val="0"/>
            <c:showVal val="0"/>
            <c:showCatName val="0"/>
            <c:showSerName val="0"/>
            <c:showPercent val="0"/>
            <c:separator>; </c:separator>
            <c:showLeaderLines val="1"/>
            <c:leaderLines>
              <c:spPr>
                <a:ln cap="rnd" w="28440">
                  <a:solidFill>
                    <a:srgbClr val="000000"/>
                  </a:solidFill>
                </a:ln>
              </c:spPr>
            </c:leaderLines>
            <c:extLst>
              <c:ext xmlns:c15="http://schemas.microsoft.com/office/drawing/2012/chart" uri="{CE6537A1-D6FC-4f65-9D91-7224C49458BB}">
                <c15:showLeaderLines val="1"/>
              </c:ext>
            </c:extLst>
          </c:dLbls>
          <c:cat>
            <c:strRef>
              <c:f>categories</c:f>
              <c:strCache>
                <c:ptCount val="6"/>
                <c:pt idx="0">
                  <c:v>100</c:v>
                </c:pt>
                <c:pt idx="1">
                  <c:v>200</c:v>
                </c:pt>
                <c:pt idx="2">
                  <c:v>300</c:v>
                </c:pt>
                <c:pt idx="3">
                  <c:v>400</c:v>
                </c:pt>
                <c:pt idx="4">
                  <c:v>500</c:v>
                </c:pt>
                <c:pt idx="5">
                  <c:v>1000</c:v>
                </c:pt>
              </c:strCache>
            </c:strRef>
          </c:cat>
          <c:val>
            <c:numRef>
              <c:f>3</c:f>
              <c:numCache>
                <c:formatCode>General</c:formatCode>
                <c:ptCount val="6"/>
                <c:pt idx="0">
                  <c:v>1</c:v>
                </c:pt>
                <c:pt idx="1">
                  <c:v>1</c:v>
                </c:pt>
                <c:pt idx="2">
                  <c:v>1</c:v>
                </c:pt>
                <c:pt idx="3">
                  <c:v>1</c:v>
                </c:pt>
                <c:pt idx="4">
                  <c:v>1</c:v>
                </c:pt>
                <c:pt idx="5">
                  <c:v>1</c:v>
                </c:pt>
              </c:numCache>
            </c:numRef>
          </c:val>
          <c:smooth val="0"/>
        </c:ser>
        <c:ser>
          <c:idx val="4"/>
          <c:order val="4"/>
          <c:tx>
            <c:strRef>
              <c:f>label 4</c:f>
              <c:strCache>
                <c:ptCount val="1"/>
                <c:pt idx="0">
                  <c:v>Вторая версия, 4 потока</c:v>
                </c:pt>
              </c:strCache>
            </c:strRef>
          </c:tx>
          <c:spPr>
            <a:solidFill>
              <a:srgbClr val="4472c4"/>
            </a:solidFill>
            <a:ln cap="rnd" w="28440">
              <a:solidFill>
                <a:srgbClr val="4472c4"/>
              </a:solidFill>
              <a:round/>
            </a:ln>
          </c:spPr>
          <c:marker>
            <c:symbol val="none"/>
          </c:marker>
          <c:dLbls>
            <c:txPr>
              <a:bodyPr wrap="square"/>
              <a:lstStyle/>
              <a:p>
                <a:pPr>
                  <a:defRPr b="0" sz="1000" strike="noStrike" u="none">
                    <a:solidFill>
                      <a:srgbClr val="000000"/>
                    </a:solidFill>
                    <a:uFillTx/>
                    <a:latin typeface="Calibri"/>
                  </a:defRPr>
                </a:pPr>
              </a:p>
            </c:txPr>
            <c:dLblPos val="r"/>
            <c:showLegendKey val="0"/>
            <c:showVal val="0"/>
            <c:showCatName val="0"/>
            <c:showSerName val="0"/>
            <c:showPercent val="0"/>
            <c:separator>; </c:separator>
            <c:showLeaderLines val="1"/>
            <c:leaderLines>
              <c:spPr>
                <a:ln cap="rnd" w="28440">
                  <a:solidFill>
                    <a:srgbClr val="000000"/>
                  </a:solidFill>
                </a:ln>
              </c:spPr>
            </c:leaderLines>
            <c:extLst>
              <c:ext xmlns:c15="http://schemas.microsoft.com/office/drawing/2012/chart" uri="{CE6537A1-D6FC-4f65-9D91-7224C49458BB}">
                <c15:showLeaderLines val="1"/>
              </c:ext>
            </c:extLst>
          </c:dLbls>
          <c:cat>
            <c:strRef>
              <c:f>categories</c:f>
              <c:strCache>
                <c:ptCount val="6"/>
                <c:pt idx="0">
                  <c:v>100</c:v>
                </c:pt>
                <c:pt idx="1">
                  <c:v>200</c:v>
                </c:pt>
                <c:pt idx="2">
                  <c:v>300</c:v>
                </c:pt>
                <c:pt idx="3">
                  <c:v>400</c:v>
                </c:pt>
                <c:pt idx="4">
                  <c:v>500</c:v>
                </c:pt>
                <c:pt idx="5">
                  <c:v>1000</c:v>
                </c:pt>
              </c:strCache>
            </c:strRef>
          </c:cat>
          <c:val>
            <c:numRef>
              <c:f>4</c:f>
              <c:numCache>
                <c:formatCode>General</c:formatCode>
                <c:ptCount val="6"/>
                <c:pt idx="0">
                  <c:v>1</c:v>
                </c:pt>
                <c:pt idx="1">
                  <c:v>1</c:v>
                </c:pt>
                <c:pt idx="2">
                  <c:v>1</c:v>
                </c:pt>
                <c:pt idx="3">
                  <c:v>1</c:v>
                </c:pt>
                <c:pt idx="4">
                  <c:v>1</c:v>
                </c:pt>
                <c:pt idx="5">
                  <c:v>1</c:v>
                </c:pt>
              </c:numCache>
            </c:numRef>
          </c:val>
          <c:smooth val="0"/>
        </c:ser>
        <c:ser>
          <c:idx val="5"/>
          <c:order val="5"/>
          <c:tx>
            <c:strRef>
              <c:f>label 5</c:f>
              <c:strCache>
                <c:ptCount val="1"/>
                <c:pt idx="0">
                  <c:v>Вторая версия, 5 потоков</c:v>
                </c:pt>
              </c:strCache>
            </c:strRef>
          </c:tx>
          <c:spPr>
            <a:solidFill>
              <a:srgbClr val="70ad47"/>
            </a:solidFill>
            <a:ln cap="rnd" w="28440">
              <a:solidFill>
                <a:srgbClr val="70ad47"/>
              </a:solidFill>
              <a:round/>
            </a:ln>
          </c:spPr>
          <c:marker>
            <c:symbol val="none"/>
          </c:marker>
          <c:dLbls>
            <c:txPr>
              <a:bodyPr wrap="square"/>
              <a:lstStyle/>
              <a:p>
                <a:pPr>
                  <a:defRPr b="0" sz="1000" strike="noStrike" u="none">
                    <a:solidFill>
                      <a:srgbClr val="000000"/>
                    </a:solidFill>
                    <a:uFillTx/>
                    <a:latin typeface="Calibri"/>
                  </a:defRPr>
                </a:pPr>
              </a:p>
            </c:txPr>
            <c:dLblPos val="r"/>
            <c:showLegendKey val="0"/>
            <c:showVal val="0"/>
            <c:showCatName val="0"/>
            <c:showSerName val="0"/>
            <c:showPercent val="0"/>
            <c:separator>; </c:separator>
            <c:showLeaderLines val="1"/>
            <c:leaderLines>
              <c:spPr>
                <a:ln cap="rnd" w="28440">
                  <a:solidFill>
                    <a:srgbClr val="000000"/>
                  </a:solidFill>
                </a:ln>
              </c:spPr>
            </c:leaderLines>
            <c:extLst>
              <c:ext xmlns:c15="http://schemas.microsoft.com/office/drawing/2012/chart" uri="{CE6537A1-D6FC-4f65-9D91-7224C49458BB}">
                <c15:showLeaderLines val="1"/>
              </c:ext>
            </c:extLst>
          </c:dLbls>
          <c:cat>
            <c:strRef>
              <c:f>categories</c:f>
              <c:strCache>
                <c:ptCount val="6"/>
                <c:pt idx="0">
                  <c:v>100</c:v>
                </c:pt>
                <c:pt idx="1">
                  <c:v>200</c:v>
                </c:pt>
                <c:pt idx="2">
                  <c:v>300</c:v>
                </c:pt>
                <c:pt idx="3">
                  <c:v>400</c:v>
                </c:pt>
                <c:pt idx="4">
                  <c:v>500</c:v>
                </c:pt>
                <c:pt idx="5">
                  <c:v>1000</c:v>
                </c:pt>
              </c:strCache>
            </c:strRef>
          </c:cat>
          <c:val>
            <c:numRef>
              <c:f>5</c:f>
              <c:numCache>
                <c:formatCode>General</c:formatCode>
                <c:ptCount val="6"/>
                <c:pt idx="0">
                  <c:v>1</c:v>
                </c:pt>
                <c:pt idx="1">
                  <c:v>1</c:v>
                </c:pt>
                <c:pt idx="2">
                  <c:v>1</c:v>
                </c:pt>
                <c:pt idx="3">
                  <c:v>1</c:v>
                </c:pt>
                <c:pt idx="4">
                  <c:v>1</c:v>
                </c:pt>
                <c:pt idx="5">
                  <c:v>1</c:v>
                </c:pt>
              </c:numCache>
            </c:numRef>
          </c:val>
          <c:smooth val="0"/>
        </c:ser>
        <c:ser>
          <c:idx val="6"/>
          <c:order val="6"/>
          <c:tx>
            <c:strRef>
              <c:f>label 6</c:f>
              <c:strCache>
                <c:ptCount val="1"/>
                <c:pt idx="0">
                  <c:v>Вторая версия, 6 потоков</c:v>
                </c:pt>
              </c:strCache>
            </c:strRef>
          </c:tx>
          <c:spPr>
            <a:solidFill>
              <a:srgbClr val="255e91"/>
            </a:solidFill>
            <a:ln cap="rnd" w="28440">
              <a:solidFill>
                <a:srgbClr val="255e91"/>
              </a:solidFill>
              <a:round/>
            </a:ln>
          </c:spPr>
          <c:marker>
            <c:symbol val="none"/>
          </c:marker>
          <c:dLbls>
            <c:txPr>
              <a:bodyPr wrap="square"/>
              <a:lstStyle/>
              <a:p>
                <a:pPr>
                  <a:defRPr b="0" sz="1000" strike="noStrike" u="none">
                    <a:solidFill>
                      <a:srgbClr val="000000"/>
                    </a:solidFill>
                    <a:uFillTx/>
                    <a:latin typeface="Calibri"/>
                  </a:defRPr>
                </a:pPr>
              </a:p>
            </c:txPr>
            <c:dLblPos val="r"/>
            <c:showLegendKey val="0"/>
            <c:showVal val="0"/>
            <c:showCatName val="0"/>
            <c:showSerName val="0"/>
            <c:showPercent val="0"/>
            <c:separator>; </c:separator>
            <c:showLeaderLines val="1"/>
            <c:leaderLines>
              <c:spPr>
                <a:ln cap="rnd" w="28440">
                  <a:solidFill>
                    <a:srgbClr val="000000"/>
                  </a:solidFill>
                </a:ln>
              </c:spPr>
            </c:leaderLines>
            <c:extLst>
              <c:ext xmlns:c15="http://schemas.microsoft.com/office/drawing/2012/chart" uri="{CE6537A1-D6FC-4f65-9D91-7224C49458BB}">
                <c15:showLeaderLines val="1"/>
              </c:ext>
            </c:extLst>
          </c:dLbls>
          <c:cat>
            <c:strRef>
              <c:f>categories</c:f>
              <c:strCache>
                <c:ptCount val="6"/>
                <c:pt idx="0">
                  <c:v>100</c:v>
                </c:pt>
                <c:pt idx="1">
                  <c:v>200</c:v>
                </c:pt>
                <c:pt idx="2">
                  <c:v>300</c:v>
                </c:pt>
                <c:pt idx="3">
                  <c:v>400</c:v>
                </c:pt>
                <c:pt idx="4">
                  <c:v>500</c:v>
                </c:pt>
                <c:pt idx="5">
                  <c:v>1000</c:v>
                </c:pt>
              </c:strCache>
            </c:strRef>
          </c:cat>
          <c:val>
            <c:numRef>
              <c:f>6</c:f>
              <c:numCache>
                <c:formatCode>General</c:formatCode>
                <c:ptCount val="6"/>
                <c:pt idx="0">
                  <c:v>1</c:v>
                </c:pt>
                <c:pt idx="1">
                  <c:v>1</c:v>
                </c:pt>
                <c:pt idx="2">
                  <c:v>1</c:v>
                </c:pt>
                <c:pt idx="3">
                  <c:v>1</c:v>
                </c:pt>
                <c:pt idx="4">
                  <c:v>1</c:v>
                </c:pt>
                <c:pt idx="5">
                  <c:v>1</c:v>
                </c:pt>
              </c:numCache>
            </c:numRef>
          </c:val>
          <c:smooth val="0"/>
        </c:ser>
        <c:ser>
          <c:idx val="7"/>
          <c:order val="7"/>
          <c:tx>
            <c:strRef>
              <c:f>label 7</c:f>
              <c:strCache>
                <c:ptCount val="1"/>
                <c:pt idx="0">
                  <c:v>Вторая версия, 7 потоков</c:v>
                </c:pt>
              </c:strCache>
            </c:strRef>
          </c:tx>
          <c:spPr>
            <a:solidFill>
              <a:srgbClr val="9e480e"/>
            </a:solidFill>
            <a:ln cap="rnd" w="28440">
              <a:solidFill>
                <a:srgbClr val="9e480e"/>
              </a:solidFill>
              <a:round/>
            </a:ln>
          </c:spPr>
          <c:marker>
            <c:symbol val="none"/>
          </c:marker>
          <c:dLbls>
            <c:txPr>
              <a:bodyPr wrap="square"/>
              <a:lstStyle/>
              <a:p>
                <a:pPr>
                  <a:defRPr b="0" sz="1000" strike="noStrike" u="none">
                    <a:solidFill>
                      <a:srgbClr val="000000"/>
                    </a:solidFill>
                    <a:uFillTx/>
                    <a:latin typeface="Calibri"/>
                  </a:defRPr>
                </a:pPr>
              </a:p>
            </c:txPr>
            <c:dLblPos val="r"/>
            <c:showLegendKey val="0"/>
            <c:showVal val="0"/>
            <c:showCatName val="0"/>
            <c:showSerName val="0"/>
            <c:showPercent val="0"/>
            <c:separator>; </c:separator>
            <c:showLeaderLines val="1"/>
            <c:leaderLines>
              <c:spPr>
                <a:ln cap="rnd" w="28440">
                  <a:solidFill>
                    <a:srgbClr val="000000"/>
                  </a:solidFill>
                </a:ln>
              </c:spPr>
            </c:leaderLines>
            <c:extLst>
              <c:ext xmlns:c15="http://schemas.microsoft.com/office/drawing/2012/chart" uri="{CE6537A1-D6FC-4f65-9D91-7224C49458BB}">
                <c15:showLeaderLines val="1"/>
              </c:ext>
            </c:extLst>
          </c:dLbls>
          <c:cat>
            <c:strRef>
              <c:f>categories</c:f>
              <c:strCache>
                <c:ptCount val="6"/>
                <c:pt idx="0">
                  <c:v>100</c:v>
                </c:pt>
                <c:pt idx="1">
                  <c:v>200</c:v>
                </c:pt>
                <c:pt idx="2">
                  <c:v>300</c:v>
                </c:pt>
                <c:pt idx="3">
                  <c:v>400</c:v>
                </c:pt>
                <c:pt idx="4">
                  <c:v>500</c:v>
                </c:pt>
                <c:pt idx="5">
                  <c:v>1000</c:v>
                </c:pt>
              </c:strCache>
            </c:strRef>
          </c:cat>
          <c:val>
            <c:numRef>
              <c:f>7</c:f>
              <c:numCache>
                <c:formatCode>General</c:formatCode>
                <c:ptCount val="6"/>
                <c:pt idx="0">
                  <c:v>1</c:v>
                </c:pt>
                <c:pt idx="1">
                  <c:v>1</c:v>
                </c:pt>
                <c:pt idx="2">
                  <c:v>1</c:v>
                </c:pt>
                <c:pt idx="3">
                  <c:v>1</c:v>
                </c:pt>
                <c:pt idx="4">
                  <c:v>1</c:v>
                </c:pt>
                <c:pt idx="5">
                  <c:v>1</c:v>
                </c:pt>
              </c:numCache>
            </c:numRef>
          </c:val>
          <c:smooth val="0"/>
        </c:ser>
        <c:ser>
          <c:idx val="8"/>
          <c:order val="8"/>
          <c:tx>
            <c:strRef>
              <c:f>label 8</c:f>
              <c:strCache>
                <c:ptCount val="1"/>
                <c:pt idx="0">
                  <c:v>Вторая версия, 8 потоков</c:v>
                </c:pt>
              </c:strCache>
            </c:strRef>
          </c:tx>
          <c:spPr>
            <a:solidFill>
              <a:srgbClr val="636363"/>
            </a:solidFill>
            <a:ln cap="rnd" w="28440">
              <a:solidFill>
                <a:srgbClr val="636363"/>
              </a:solidFill>
              <a:round/>
            </a:ln>
          </c:spPr>
          <c:marker>
            <c:symbol val="none"/>
          </c:marker>
          <c:dLbls>
            <c:txPr>
              <a:bodyPr wrap="square"/>
              <a:lstStyle/>
              <a:p>
                <a:pPr>
                  <a:defRPr b="0" sz="1000" strike="noStrike" u="none">
                    <a:solidFill>
                      <a:srgbClr val="000000"/>
                    </a:solidFill>
                    <a:uFillTx/>
                    <a:latin typeface="Calibri"/>
                  </a:defRPr>
                </a:pPr>
              </a:p>
            </c:txPr>
            <c:dLblPos val="r"/>
            <c:showLegendKey val="0"/>
            <c:showVal val="0"/>
            <c:showCatName val="0"/>
            <c:showSerName val="0"/>
            <c:showPercent val="0"/>
            <c:separator>; </c:separator>
            <c:showLeaderLines val="1"/>
            <c:leaderLines>
              <c:spPr>
                <a:ln cap="rnd" w="28440">
                  <a:solidFill>
                    <a:srgbClr val="000000"/>
                  </a:solidFill>
                </a:ln>
              </c:spPr>
            </c:leaderLines>
            <c:extLst>
              <c:ext xmlns:c15="http://schemas.microsoft.com/office/drawing/2012/chart" uri="{CE6537A1-D6FC-4f65-9D91-7224C49458BB}">
                <c15:showLeaderLines val="1"/>
              </c:ext>
            </c:extLst>
          </c:dLbls>
          <c:cat>
            <c:strRef>
              <c:f>categories</c:f>
              <c:strCache>
                <c:ptCount val="6"/>
                <c:pt idx="0">
                  <c:v>100</c:v>
                </c:pt>
                <c:pt idx="1">
                  <c:v>200</c:v>
                </c:pt>
                <c:pt idx="2">
                  <c:v>300</c:v>
                </c:pt>
                <c:pt idx="3">
                  <c:v>400</c:v>
                </c:pt>
                <c:pt idx="4">
                  <c:v>500</c:v>
                </c:pt>
                <c:pt idx="5">
                  <c:v>1000</c:v>
                </c:pt>
              </c:strCache>
            </c:strRef>
          </c:cat>
          <c:val>
            <c:numRef>
              <c:f>8</c:f>
              <c:numCache>
                <c:formatCode>General</c:formatCode>
                <c:ptCount val="6"/>
                <c:pt idx="0">
                  <c:v>0.103752</c:v>
                </c:pt>
                <c:pt idx="1">
                  <c:v>1.07141</c:v>
                </c:pt>
                <c:pt idx="2">
                  <c:v>7.86116</c:v>
                </c:pt>
                <c:pt idx="3">
                  <c:v>29.6932</c:v>
                </c:pt>
                <c:pt idx="4">
                  <c:v>81.4453</c:v>
                </c:pt>
                <c:pt idx="5">
                  <c:v>1500</c:v>
                </c:pt>
              </c:numCache>
            </c:numRef>
          </c:val>
          <c:smooth val="0"/>
        </c:ser>
        <c:hiLowLines>
          <c:spPr>
            <a:ln w="0">
              <a:noFill/>
            </a:ln>
          </c:spPr>
        </c:hiLowLines>
        <c:marker val="0"/>
        <c:axId val="99233357"/>
        <c:axId val="50367329"/>
      </c:lineChart>
      <c:catAx>
        <c:axId val="99233357"/>
        <c:scaling>
          <c:orientation val="minMax"/>
        </c:scaling>
        <c:delete val="0"/>
        <c:axPos val="b"/>
        <c:numFmt formatCode="General" sourceLinked="0"/>
        <c:majorTickMark val="none"/>
        <c:minorTickMark val="none"/>
        <c:tickLblPos val="nextTo"/>
        <c:spPr>
          <a:ln w="9360">
            <a:solidFill>
              <a:srgbClr val="d9d9d9"/>
            </a:solidFill>
            <a:round/>
          </a:ln>
        </c:spPr>
        <c:txPr>
          <a:bodyPr/>
          <a:lstStyle/>
          <a:p>
            <a:pPr>
              <a:defRPr b="0" sz="1197" strike="noStrike" u="none">
                <a:solidFill>
                  <a:srgbClr val="595959"/>
                </a:solidFill>
                <a:uFillTx/>
                <a:latin typeface="Calibri"/>
              </a:defRPr>
            </a:pPr>
          </a:p>
        </c:txPr>
        <c:crossAx val="50367329"/>
        <c:crosses val="autoZero"/>
        <c:auto val="1"/>
        <c:lblAlgn val="ctr"/>
        <c:lblOffset val="100"/>
        <c:noMultiLvlLbl val="0"/>
      </c:catAx>
      <c:valAx>
        <c:axId val="50367329"/>
        <c:scaling>
          <c:orientation val="minMax"/>
        </c:scaling>
        <c:delete val="0"/>
        <c:axPos val="l"/>
        <c:majorGridlines>
          <c:spPr>
            <a:ln w="9360">
              <a:solidFill>
                <a:srgbClr val="d9d9d9"/>
              </a:solidFill>
              <a:round/>
            </a:ln>
          </c:spPr>
        </c:majorGridlines>
        <c:numFmt formatCode="General" sourceLinked="0"/>
        <c:majorTickMark val="none"/>
        <c:minorTickMark val="none"/>
        <c:tickLblPos val="nextTo"/>
        <c:spPr>
          <a:ln w="6480">
            <a:noFill/>
          </a:ln>
        </c:spPr>
        <c:txPr>
          <a:bodyPr/>
          <a:lstStyle/>
          <a:p>
            <a:pPr>
              <a:defRPr b="0" sz="1197" strike="noStrike" u="none">
                <a:solidFill>
                  <a:srgbClr val="595959"/>
                </a:solidFill>
                <a:uFillTx/>
                <a:latin typeface="Calibri"/>
              </a:defRPr>
            </a:pPr>
          </a:p>
        </c:txPr>
        <c:crossAx val="99233357"/>
        <c:crosses val="autoZero"/>
        <c:crossBetween val="between"/>
      </c:valAx>
      <c:spPr>
        <a:noFill/>
        <a:ln w="0">
          <a:noFill/>
        </a:ln>
      </c:spPr>
    </c:plotArea>
    <c:legend>
      <c:legendPos val="b"/>
      <c:overlay val="0"/>
      <c:spPr>
        <a:noFill/>
        <a:ln w="0">
          <a:noFill/>
        </a:ln>
      </c:spPr>
      <c:txPr>
        <a:bodyPr/>
        <a:lstStyle/>
        <a:p>
          <a:pPr>
            <a:defRPr b="0" sz="1197" strike="noStrike" u="none">
              <a:solidFill>
                <a:srgbClr val="595959"/>
              </a:solidFill>
              <a:uFillTx/>
              <a:latin typeface="Calibri"/>
            </a:defRPr>
          </a:pPr>
        </a:p>
      </c:txPr>
    </c:legend>
    <c:plotVisOnly val="1"/>
    <c:dispBlanksAs val="gap"/>
  </c:chart>
  <c:spPr>
    <a:noFill/>
    <a:ln w="0">
      <a:noFill/>
    </a:ln>
  </c:spPr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en-US"/>
  <c:roundedCorners val="0"/>
  <c:chart>
    <c:autoTitleDeleted val="1"/>
    <c:plotArea>
      <c:layout>
        <c:manualLayout>
          <c:layoutTarget val="inner"/>
          <c:xMode val="edge"/>
          <c:yMode val="edge"/>
          <c:x val="0.0872208272763314"/>
          <c:y val="0.0200078155529504"/>
          <c:w val="0.660367384696709"/>
          <c:h val="0.883313794450957"/>
        </c:manualLayout>
      </c:layout>
      <c:lineChart>
        <c:grouping val="standard"/>
        <c:varyColors val="0"/>
        <c:ser>
          <c:idx val="0"/>
          <c:order val="0"/>
          <c:tx>
            <c:strRef>
              <c:f>label 0</c:f>
              <c:strCache>
                <c:ptCount val="1"/>
                <c:pt idx="0">
                  <c:v>Реализация с вращениями Гивенса</c:v>
                </c:pt>
              </c:strCache>
            </c:strRef>
          </c:tx>
          <c:spPr>
            <a:solidFill>
              <a:srgbClr val="ff420e"/>
            </a:solidFill>
            <a:ln w="28800">
              <a:solidFill>
                <a:srgbClr val="ff420e"/>
              </a:solidFill>
              <a:round/>
            </a:ln>
          </c:spPr>
          <c:marker>
            <c:symbol val="diamond"/>
            <c:size val="8"/>
            <c:spPr>
              <a:solidFill>
                <a:srgbClr val="ff420e"/>
              </a:solidFill>
            </c:spPr>
          </c:marker>
          <c:dLbls>
            <c:numFmt formatCode="General" sourceLinked="0"/>
            <c:txPr>
              <a:bodyPr wrap="none"/>
              <a:lstStyle/>
              <a:p>
                <a:pPr>
                  <a:defRPr b="0" sz="500" strike="noStrike" u="none">
                    <a:solidFill>
                      <a:srgbClr val="000000"/>
                    </a:solidFill>
                    <a:uFillTx/>
                    <a:latin typeface="Arial"/>
                    <a:ea typeface="DejaVu Sans"/>
                  </a:defRPr>
                </a:pPr>
              </a:p>
            </c:txPr>
            <c:dLblPos val="t"/>
            <c:showLegendKey val="0"/>
            <c:showVal val="1"/>
            <c:showCatName val="0"/>
            <c:showSerName val="0"/>
            <c:showPercent val="0"/>
            <c:separator> </c:separator>
            <c:showLeaderLines val="1"/>
            <c:leaderLines>
              <c:spPr>
                <a:ln w="28800">
                  <a:solidFill>
                    <a:srgbClr val="000000"/>
                  </a:solidFill>
                </a:ln>
              </c:spPr>
            </c:leaderLines>
            <c:extLst>
              <c:ext xmlns:c15="http://schemas.microsoft.com/office/drawing/2012/chart" uri="{CE6537A1-D6FC-4f65-9D91-7224C49458BB}">
                <c15:showLeaderLines val="1"/>
              </c:ext>
            </c:extLst>
          </c:dLbls>
          <c:cat>
            <c:strRef>
              <c:f>categories</c:f>
              <c:strCache>
                <c:ptCount val="12"/>
                <c:pt idx="0">
                  <c:v>100</c:v>
                </c:pt>
                <c:pt idx="1">
                  <c:v>200</c:v>
                </c:pt>
                <c:pt idx="2">
                  <c:v>300</c:v>
                </c:pt>
                <c:pt idx="3">
                  <c:v>400</c:v>
                </c:pt>
                <c:pt idx="4">
                  <c:v>500</c:v>
                </c:pt>
                <c:pt idx="5">
                  <c:v>1000</c:v>
                </c:pt>
                <c:pt idx="6">
                  <c:v>1500</c:v>
                </c:pt>
                <c:pt idx="7">
                  <c:v>2000</c:v>
                </c:pt>
                <c:pt idx="8">
                  <c:v>2500</c:v>
                </c:pt>
                <c:pt idx="9">
                  <c:v>3000</c:v>
                </c:pt>
                <c:pt idx="10">
                  <c:v>3500</c:v>
                </c:pt>
                <c:pt idx="11">
                  <c:v>4000</c:v>
                </c:pt>
              </c:strCache>
            </c:strRef>
          </c:cat>
          <c:val>
            <c:numRef>
              <c:f>0</c:f>
              <c:numCache>
                <c:formatCode>General</c:formatCode>
                <c:ptCount val="12"/>
                <c:pt idx="0">
                  <c:v>0.0001294</c:v>
                </c:pt>
                <c:pt idx="1">
                  <c:v>0.0004733</c:v>
                </c:pt>
                <c:pt idx="2">
                  <c:v>0.0012873</c:v>
                </c:pt>
                <c:pt idx="3">
                  <c:v>0.0014392</c:v>
                </c:pt>
                <c:pt idx="4">
                  <c:v>0.0022636</c:v>
                </c:pt>
                <c:pt idx="5">
                  <c:v>0.0099787</c:v>
                </c:pt>
                <c:pt idx="6">
                  <c:v>0.0244809</c:v>
                </c:pt>
                <c:pt idx="7">
                  <c:v>0.049296</c:v>
                </c:pt>
                <c:pt idx="8">
                  <c:v>0.070357</c:v>
                </c:pt>
                <c:pt idx="9">
                  <c:v>0.111763</c:v>
                </c:pt>
                <c:pt idx="10">
                  <c:v>0.165066</c:v>
                </c:pt>
                <c:pt idx="11">
                  <c:v>0.226181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label 1</c:f>
              <c:strCache>
                <c:ptCount val="1"/>
                <c:pt idx="0">
                  <c:v>Реализация с отражениями Хаусхолдера</c:v>
                </c:pt>
              </c:strCache>
            </c:strRef>
          </c:tx>
          <c:spPr>
            <a:solidFill>
              <a:srgbClr val="ffd320"/>
            </a:solidFill>
            <a:ln w="28800">
              <a:solidFill>
                <a:srgbClr val="ffd320"/>
              </a:solidFill>
              <a:round/>
            </a:ln>
          </c:spPr>
          <c:marker>
            <c:symbol val="triangle"/>
            <c:size val="8"/>
            <c:spPr>
              <a:solidFill>
                <a:srgbClr val="ffd320"/>
              </a:solidFill>
            </c:spPr>
          </c:marker>
          <c:dLbls>
            <c:numFmt formatCode="General" sourceLinked="0"/>
            <c:txPr>
              <a:bodyPr wrap="none"/>
              <a:lstStyle/>
              <a:p>
                <a:pPr>
                  <a:defRPr b="0" sz="500" strike="noStrike" u="none">
                    <a:solidFill>
                      <a:srgbClr val="000000"/>
                    </a:solidFill>
                    <a:uFillTx/>
                    <a:latin typeface="Arial"/>
                    <a:ea typeface="DejaVu Sans"/>
                  </a:defRPr>
                </a:pPr>
              </a:p>
            </c:txPr>
            <c:dLblPos val="t"/>
            <c:showLegendKey val="0"/>
            <c:showVal val="1"/>
            <c:showCatName val="0"/>
            <c:showSerName val="0"/>
            <c:showPercent val="0"/>
            <c:separator> </c:separator>
            <c:showLeaderLines val="1"/>
            <c:leaderLines>
              <c:spPr>
                <a:ln w="28800">
                  <a:solidFill>
                    <a:srgbClr val="000000"/>
                  </a:solidFill>
                </a:ln>
              </c:spPr>
            </c:leaderLines>
            <c:extLst>
              <c:ext xmlns:c15="http://schemas.microsoft.com/office/drawing/2012/chart" uri="{CE6537A1-D6FC-4f65-9D91-7224C49458BB}">
                <c15:showLeaderLines val="1"/>
              </c:ext>
            </c:extLst>
          </c:dLbls>
          <c:cat>
            <c:strRef>
              <c:f>categories</c:f>
              <c:strCache>
                <c:ptCount val="12"/>
                <c:pt idx="0">
                  <c:v>100</c:v>
                </c:pt>
                <c:pt idx="1">
                  <c:v>200</c:v>
                </c:pt>
                <c:pt idx="2">
                  <c:v>300</c:v>
                </c:pt>
                <c:pt idx="3">
                  <c:v>400</c:v>
                </c:pt>
                <c:pt idx="4">
                  <c:v>500</c:v>
                </c:pt>
                <c:pt idx="5">
                  <c:v>1000</c:v>
                </c:pt>
                <c:pt idx="6">
                  <c:v>1500</c:v>
                </c:pt>
                <c:pt idx="7">
                  <c:v>2000</c:v>
                </c:pt>
                <c:pt idx="8">
                  <c:v>2500</c:v>
                </c:pt>
                <c:pt idx="9">
                  <c:v>3000</c:v>
                </c:pt>
                <c:pt idx="10">
                  <c:v>3500</c:v>
                </c:pt>
                <c:pt idx="11">
                  <c:v>4000</c:v>
                </c:pt>
              </c:strCache>
            </c:strRef>
          </c:cat>
          <c:val>
            <c:numRef>
              <c:f>1</c:f>
              <c:numCache>
                <c:formatCode>General</c:formatCode>
                <c:ptCount val="12"/>
                <c:pt idx="0">
                  <c:v>0.0009429</c:v>
                </c:pt>
                <c:pt idx="1">
                  <c:v>0.0076185</c:v>
                </c:pt>
                <c:pt idx="2">
                  <c:v>0.0222422</c:v>
                </c:pt>
                <c:pt idx="3">
                  <c:v>0.0370319</c:v>
                </c:pt>
                <c:pt idx="4">
                  <c:v>0.0707061</c:v>
                </c:pt>
                <c:pt idx="5">
                  <c:v>0.193794</c:v>
                </c:pt>
                <c:pt idx="6">
                  <c:v>1.14657</c:v>
                </c:pt>
                <c:pt idx="7">
                  <c:v>6.44008</c:v>
                </c:pt>
                <c:pt idx="8">
                  <c:v>16.1027</c:v>
                </c:pt>
                <c:pt idx="9">
                  <c:v>28.8915</c:v>
                </c:pt>
                <c:pt idx="10">
                  <c:v>42.731</c:v>
                </c:pt>
                <c:pt idx="11">
                  <c:v>67.3722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label 2</c:f>
              <c:strCache>
                <c:ptCount val="1"/>
                <c:pt idx="0">
                  <c:v>Разложение из Scilab</c:v>
                </c:pt>
              </c:strCache>
            </c:strRef>
          </c:tx>
          <c:spPr>
            <a:solidFill>
              <a:srgbClr val="579d1c"/>
            </a:solidFill>
            <a:ln w="28800">
              <a:solidFill>
                <a:srgbClr val="579d1c"/>
              </a:solidFill>
              <a:round/>
            </a:ln>
          </c:spPr>
          <c:marker>
            <c:symbol val="triangle"/>
            <c:size val="8"/>
            <c:spPr>
              <a:solidFill>
                <a:srgbClr val="579d1c"/>
              </a:solidFill>
            </c:spPr>
          </c:marker>
          <c:dLbls>
            <c:numFmt formatCode="General" sourceLinked="0"/>
            <c:txPr>
              <a:bodyPr wrap="none"/>
              <a:lstStyle/>
              <a:p>
                <a:pPr>
                  <a:defRPr b="0" sz="500" strike="noStrike" u="none">
                    <a:solidFill>
                      <a:srgbClr val="000000"/>
                    </a:solidFill>
                    <a:uFillTx/>
                    <a:latin typeface="Arial"/>
                    <a:ea typeface="DejaVu Sans"/>
                  </a:defRPr>
                </a:pPr>
              </a:p>
            </c:txPr>
            <c:dLblPos val="t"/>
            <c:showLegendKey val="0"/>
            <c:showVal val="1"/>
            <c:showCatName val="0"/>
            <c:showSerName val="0"/>
            <c:showPercent val="0"/>
            <c:separator> </c:separator>
            <c:showLeaderLines val="1"/>
            <c:leaderLines>
              <c:spPr>
                <a:ln w="28800">
                  <a:solidFill>
                    <a:srgbClr val="000000"/>
                  </a:solidFill>
                </a:ln>
              </c:spPr>
            </c:leaderLines>
            <c:extLst>
              <c:ext xmlns:c15="http://schemas.microsoft.com/office/drawing/2012/chart" uri="{CE6537A1-D6FC-4f65-9D91-7224C49458BB}">
                <c15:showLeaderLines val="1"/>
              </c:ext>
            </c:extLst>
          </c:dLbls>
          <c:cat>
            <c:strRef>
              <c:f>categories</c:f>
              <c:strCache>
                <c:ptCount val="12"/>
                <c:pt idx="0">
                  <c:v>100</c:v>
                </c:pt>
                <c:pt idx="1">
                  <c:v>200</c:v>
                </c:pt>
                <c:pt idx="2">
                  <c:v>300</c:v>
                </c:pt>
                <c:pt idx="3">
                  <c:v>400</c:v>
                </c:pt>
                <c:pt idx="4">
                  <c:v>500</c:v>
                </c:pt>
                <c:pt idx="5">
                  <c:v>1000</c:v>
                </c:pt>
                <c:pt idx="6">
                  <c:v>1500</c:v>
                </c:pt>
                <c:pt idx="7">
                  <c:v>2000</c:v>
                </c:pt>
                <c:pt idx="8">
                  <c:v>2500</c:v>
                </c:pt>
                <c:pt idx="9">
                  <c:v>3000</c:v>
                </c:pt>
                <c:pt idx="10">
                  <c:v>3500</c:v>
                </c:pt>
                <c:pt idx="11">
                  <c:v>4000</c:v>
                </c:pt>
              </c:strCache>
            </c:strRef>
          </c:cat>
          <c:val>
            <c:numRef>
              <c:f>2</c:f>
              <c:numCache>
                <c:formatCode>General</c:formatCode>
                <c:ptCount val="12"/>
                <c:pt idx="0">
                  <c:v>0.030026</c:v>
                </c:pt>
                <c:pt idx="1">
                  <c:v>0.003412</c:v>
                </c:pt>
                <c:pt idx="2">
                  <c:v>0.0045437</c:v>
                </c:pt>
                <c:pt idx="3">
                  <c:v>0.0069478</c:v>
                </c:pt>
                <c:pt idx="4">
                  <c:v>0.0069478</c:v>
                </c:pt>
                <c:pt idx="5">
                  <c:v>0.0422846</c:v>
                </c:pt>
                <c:pt idx="6">
                  <c:v>0.07312</c:v>
                </c:pt>
                <c:pt idx="7">
                  <c:v>0.1638567</c:v>
                </c:pt>
                <c:pt idx="8">
                  <c:v>0.3190695</c:v>
                </c:pt>
                <c:pt idx="9">
                  <c:v>0.533518</c:v>
                </c:pt>
                <c:pt idx="10">
                  <c:v>0.7996886</c:v>
                </c:pt>
                <c:pt idx="11">
                  <c:v>1.7190395</c:v>
                </c:pt>
              </c:numCache>
            </c:numRef>
          </c:val>
          <c:smooth val="0"/>
        </c:ser>
        <c:hiLowLines>
          <c:spPr>
            <a:ln w="0">
              <a:noFill/>
            </a:ln>
          </c:spPr>
        </c:hiLowLines>
        <c:marker val="1"/>
        <c:axId val="98455897"/>
        <c:axId val="57365027"/>
      </c:lineChart>
      <c:catAx>
        <c:axId val="98455897"/>
        <c:scaling>
          <c:orientation val="minMax"/>
        </c:scaling>
        <c:delete val="0"/>
        <c:axPos val="b"/>
        <c:title>
          <c:tx>
            <c:rich>
              <a:bodyPr rot="0"/>
              <a:lstStyle/>
              <a:p>
                <a:pPr>
                  <a:defRPr b="0" sz="1300" strike="noStrike" u="none">
                    <a:solidFill>
                      <a:srgbClr val="000000"/>
                    </a:solidFill>
                    <a:uFillTx/>
                    <a:latin typeface="Arial"/>
                  </a:defRPr>
                </a:pPr>
                <a:r>
                  <a:rPr b="0" sz="900" strike="noStrike" u="none">
                    <a:solidFill>
                      <a:srgbClr val="000000"/>
                    </a:solidFill>
                    <a:uFillTx/>
                    <a:latin typeface="Arial"/>
                    <a:ea typeface="DejaVu Sans"/>
                  </a:rPr>
                  <a:t>Размер данных, NxN</a:t>
                </a:r>
              </a:p>
            </c:rich>
          </c:tx>
          <c:overlay val="0"/>
          <c:spPr>
            <a:noFill/>
            <a:ln w="0">
              <a:noFill/>
            </a:ln>
          </c:spPr>
        </c:title>
        <c:numFmt formatCode="[$-419]dd/mm/yyyy" sourceLinked="0"/>
        <c:majorTickMark val="out"/>
        <c:minorTickMark val="none"/>
        <c:tickLblPos val="nextTo"/>
        <c:spPr>
          <a:ln w="0">
            <a:solidFill>
              <a:srgbClr val="b3b3b3"/>
            </a:solidFill>
          </a:ln>
        </c:spPr>
        <c:txPr>
          <a:bodyPr/>
          <a:lstStyle/>
          <a:p>
            <a:pPr>
              <a:defRPr b="0" sz="1000" strike="noStrike" u="none">
                <a:solidFill>
                  <a:srgbClr val="000000"/>
                </a:solidFill>
                <a:uFillTx/>
                <a:latin typeface="Arial"/>
                <a:ea typeface="DejaVu Sans"/>
              </a:defRPr>
            </a:pPr>
          </a:p>
        </c:txPr>
        <c:crossAx val="57365027"/>
        <c:crosses val="autoZero"/>
        <c:auto val="1"/>
        <c:lblAlgn val="ctr"/>
        <c:lblOffset val="100"/>
        <c:noMultiLvlLbl val="0"/>
      </c:catAx>
      <c:valAx>
        <c:axId val="57365027"/>
        <c:scaling>
          <c:orientation val="minMax"/>
          <c:max val="70"/>
        </c:scaling>
        <c:delete val="0"/>
        <c:axPos val="l"/>
        <c:majorGridlines>
          <c:spPr>
            <a:ln w="0">
              <a:solidFill>
                <a:srgbClr val="b3b3b3"/>
              </a:solidFill>
            </a:ln>
          </c:spPr>
        </c:majorGridlines>
        <c:title>
          <c:tx>
            <c:rich>
              <a:bodyPr rot="-5400000"/>
              <a:lstStyle/>
              <a:p>
                <a:pPr>
                  <a:defRPr b="0" sz="1300" strike="noStrike" u="none">
                    <a:solidFill>
                      <a:srgbClr val="000000"/>
                    </a:solidFill>
                    <a:uFillTx/>
                    <a:latin typeface="Arial"/>
                  </a:defRPr>
                </a:pPr>
                <a:r>
                  <a:rPr b="0" sz="900" strike="noStrike" u="none">
                    <a:solidFill>
                      <a:srgbClr val="000000"/>
                    </a:solidFill>
                    <a:uFillTx/>
                    <a:latin typeface="Arial"/>
                    <a:ea typeface="DejaVu Sans"/>
                  </a:rPr>
                  <a:t>Время работы, с</a:t>
                </a:r>
              </a:p>
            </c:rich>
          </c:tx>
          <c:overlay val="0"/>
          <c:spPr>
            <a:noFill/>
            <a:ln w="0">
              <a:noFill/>
            </a:ln>
          </c:spPr>
        </c:title>
        <c:numFmt formatCode="General" sourceLinked="0"/>
        <c:majorTickMark val="out"/>
        <c:minorTickMark val="none"/>
        <c:tickLblPos val="nextTo"/>
        <c:spPr>
          <a:ln w="0">
            <a:solidFill>
              <a:srgbClr val="b3b3b3"/>
            </a:solidFill>
          </a:ln>
        </c:spPr>
        <c:txPr>
          <a:bodyPr/>
          <a:lstStyle/>
          <a:p>
            <a:pPr>
              <a:defRPr b="0" sz="1000" strike="noStrike" u="none">
                <a:solidFill>
                  <a:srgbClr val="000000"/>
                </a:solidFill>
                <a:uFillTx/>
                <a:latin typeface="Arial"/>
                <a:ea typeface="DejaVu Sans"/>
              </a:defRPr>
            </a:pPr>
          </a:p>
        </c:txPr>
        <c:crossAx val="98455897"/>
        <c:crossesAt val="1"/>
        <c:crossBetween val="midCat"/>
      </c:valAx>
      <c:spPr>
        <a:noFill/>
        <a:ln w="0">
          <a:solidFill>
            <a:srgbClr val="b3b3b3"/>
          </a:solidFill>
        </a:ln>
      </c:spPr>
    </c:plotArea>
    <c:legend>
      <c:legendPos val="r"/>
      <c:layout>
        <c:manualLayout>
          <c:xMode val="edge"/>
          <c:yMode val="edge"/>
          <c:x val="0.772961543544337"/>
          <c:y val="0.3705353653771"/>
          <c:w val="0.214682172591516"/>
          <c:h val="0.338882375928097"/>
        </c:manualLayout>
      </c:layout>
      <c:overlay val="0"/>
      <c:spPr>
        <a:noFill/>
        <a:ln w="0">
          <a:noFill/>
        </a:ln>
      </c:spPr>
      <c:txPr>
        <a:bodyPr/>
        <a:lstStyle/>
        <a:p>
          <a:pPr>
            <a:defRPr b="0" sz="1000" strike="noStrike" u="none">
              <a:solidFill>
                <a:srgbClr val="000000"/>
              </a:solidFill>
              <a:uFillTx/>
              <a:latin typeface="Arial"/>
              <a:ea typeface="DejaVu Sans"/>
            </a:defRPr>
          </a:pPr>
        </a:p>
      </c:txPr>
    </c:legend>
    <c:plotVisOnly val="1"/>
    <c:dispBlanksAs val="gap"/>
  </c:chart>
  <c:spPr>
    <a:noFill/>
    <a:ln w="0">
      <a:noFill/>
    </a:ln>
  </c:spPr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en-US"/>
  <c:roundedCorners val="0"/>
  <c:chart>
    <c:autoTitleDeleted val="1"/>
    <c:plotArea>
      <c:layout>
        <c:manualLayout>
          <c:layoutTarget val="inner"/>
          <c:xMode val="edge"/>
          <c:yMode val="edge"/>
          <c:x val="0.0871958092964658"/>
          <c:y val="0.0199664045201191"/>
          <c:w val="0.629003381738612"/>
          <c:h val="0.902420401618691"/>
        </c:manualLayout>
      </c:layout>
      <c:lineChart>
        <c:grouping val="standard"/>
        <c:varyColors val="0"/>
        <c:ser>
          <c:idx val="0"/>
          <c:order val="0"/>
          <c:tx>
            <c:strRef>
              <c:f>label 0</c:f>
              <c:strCache>
                <c:ptCount val="1"/>
                <c:pt idx="0">
                  <c:v>Реализация с вращениями Гивенса</c:v>
                </c:pt>
              </c:strCache>
            </c:strRef>
          </c:tx>
          <c:spPr>
            <a:solidFill>
              <a:srgbClr val="ff420e"/>
            </a:solidFill>
            <a:ln w="28800">
              <a:solidFill>
                <a:srgbClr val="ff420e"/>
              </a:solidFill>
              <a:round/>
            </a:ln>
          </c:spPr>
          <c:marker>
            <c:symbol val="diamond"/>
            <c:size val="8"/>
            <c:spPr>
              <a:solidFill>
                <a:srgbClr val="ff420e"/>
              </a:solidFill>
            </c:spPr>
          </c:marker>
          <c:dLbls>
            <c:numFmt formatCode="General" sourceLinked="0"/>
            <c:txPr>
              <a:bodyPr wrap="none"/>
              <a:lstStyle/>
              <a:p>
                <a:pPr>
                  <a:defRPr b="0" sz="500" strike="noStrike" u="none">
                    <a:solidFill>
                      <a:srgbClr val="000000"/>
                    </a:solidFill>
                    <a:uFillTx/>
                    <a:latin typeface="Arial"/>
                    <a:ea typeface="DejaVu Sans"/>
                  </a:defRPr>
                </a:pPr>
              </a:p>
            </c:txPr>
            <c:dLblPos val="t"/>
            <c:showLegendKey val="0"/>
            <c:showVal val="1"/>
            <c:showCatName val="0"/>
            <c:showSerName val="0"/>
            <c:showPercent val="0"/>
            <c:separator> </c:separator>
            <c:showLeaderLines val="1"/>
            <c:leaderLines>
              <c:spPr>
                <a:ln w="28800">
                  <a:solidFill>
                    <a:srgbClr val="000000"/>
                  </a:solidFill>
                </a:ln>
              </c:spPr>
            </c:leaderLines>
            <c:extLst>
              <c:ext xmlns:c15="http://schemas.microsoft.com/office/drawing/2012/chart" uri="{CE6537A1-D6FC-4f65-9D91-7224C49458BB}">
                <c15:showLeaderLines val="1"/>
              </c:ext>
            </c:extLst>
          </c:dLbls>
          <c:cat>
            <c:strRef>
              <c:f>categories</c:f>
              <c:strCache>
                <c:ptCount val="12"/>
                <c:pt idx="0">
                  <c:v>100</c:v>
                </c:pt>
                <c:pt idx="1">
                  <c:v>200</c:v>
                </c:pt>
                <c:pt idx="2">
                  <c:v>300</c:v>
                </c:pt>
                <c:pt idx="3">
                  <c:v>400</c:v>
                </c:pt>
                <c:pt idx="4">
                  <c:v>500</c:v>
                </c:pt>
                <c:pt idx="5">
                  <c:v>1000</c:v>
                </c:pt>
                <c:pt idx="6">
                  <c:v>1500</c:v>
                </c:pt>
                <c:pt idx="7">
                  <c:v>2000</c:v>
                </c:pt>
                <c:pt idx="8">
                  <c:v>2500</c:v>
                </c:pt>
                <c:pt idx="9">
                  <c:v>3000</c:v>
                </c:pt>
                <c:pt idx="10">
                  <c:v>3500</c:v>
                </c:pt>
                <c:pt idx="11">
                  <c:v>4000</c:v>
                </c:pt>
              </c:strCache>
            </c:strRef>
          </c:cat>
          <c:val>
            <c:numRef>
              <c:f>0</c:f>
              <c:numCache>
                <c:formatCode>General</c:formatCode>
                <c:ptCount val="12"/>
                <c:pt idx="0">
                  <c:v>0.0003957</c:v>
                </c:pt>
                <c:pt idx="1">
                  <c:v>0.0023856</c:v>
                </c:pt>
                <c:pt idx="2">
                  <c:v>0.0092742</c:v>
                </c:pt>
                <c:pt idx="3">
                  <c:v>0.0168637</c:v>
                </c:pt>
                <c:pt idx="4">
                  <c:v>0.0427091</c:v>
                </c:pt>
                <c:pt idx="5">
                  <c:v>0.510321</c:v>
                </c:pt>
                <c:pt idx="6">
                  <c:v>1.63854</c:v>
                </c:pt>
                <c:pt idx="7">
                  <c:v>3.54986</c:v>
                </c:pt>
                <c:pt idx="8">
                  <c:v>7.19002</c:v>
                </c:pt>
                <c:pt idx="9">
                  <c:v>12.8882</c:v>
                </c:pt>
                <c:pt idx="10">
                  <c:v>20.7162</c:v>
                </c:pt>
                <c:pt idx="11">
                  <c:v>31.2464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label 1</c:f>
              <c:strCache>
                <c:ptCount val="1"/>
                <c:pt idx="0">
                  <c:v>Реализация с отражениями Хаусхолдера</c:v>
                </c:pt>
              </c:strCache>
            </c:strRef>
          </c:tx>
          <c:spPr>
            <a:solidFill>
              <a:srgbClr val="ffd320"/>
            </a:solidFill>
            <a:ln w="28800">
              <a:solidFill>
                <a:srgbClr val="ffd320"/>
              </a:solidFill>
              <a:round/>
            </a:ln>
          </c:spPr>
          <c:marker>
            <c:symbol val="triangle"/>
            <c:size val="8"/>
            <c:spPr>
              <a:solidFill>
                <a:srgbClr val="ffd320"/>
              </a:solidFill>
            </c:spPr>
          </c:marker>
          <c:dLbls>
            <c:numFmt formatCode="General" sourceLinked="0"/>
            <c:txPr>
              <a:bodyPr wrap="none"/>
              <a:lstStyle/>
              <a:p>
                <a:pPr>
                  <a:defRPr b="0" sz="500" strike="noStrike" u="none">
                    <a:solidFill>
                      <a:srgbClr val="000000"/>
                    </a:solidFill>
                    <a:uFillTx/>
                    <a:latin typeface="Arial"/>
                    <a:ea typeface="DejaVu Sans"/>
                  </a:defRPr>
                </a:pPr>
              </a:p>
            </c:txPr>
            <c:dLblPos val="t"/>
            <c:showLegendKey val="0"/>
            <c:showVal val="1"/>
            <c:showCatName val="0"/>
            <c:showSerName val="0"/>
            <c:showPercent val="0"/>
            <c:separator> </c:separator>
            <c:showLeaderLines val="1"/>
            <c:leaderLines>
              <c:spPr>
                <a:ln w="28800">
                  <a:solidFill>
                    <a:srgbClr val="000000"/>
                  </a:solidFill>
                </a:ln>
              </c:spPr>
            </c:leaderLines>
            <c:extLst>
              <c:ext xmlns:c15="http://schemas.microsoft.com/office/drawing/2012/chart" uri="{CE6537A1-D6FC-4f65-9D91-7224C49458BB}">
                <c15:showLeaderLines val="1"/>
              </c:ext>
            </c:extLst>
          </c:dLbls>
          <c:cat>
            <c:strRef>
              <c:f>categories</c:f>
              <c:strCache>
                <c:ptCount val="12"/>
                <c:pt idx="0">
                  <c:v>100</c:v>
                </c:pt>
                <c:pt idx="1">
                  <c:v>200</c:v>
                </c:pt>
                <c:pt idx="2">
                  <c:v>300</c:v>
                </c:pt>
                <c:pt idx="3">
                  <c:v>400</c:v>
                </c:pt>
                <c:pt idx="4">
                  <c:v>500</c:v>
                </c:pt>
                <c:pt idx="5">
                  <c:v>1000</c:v>
                </c:pt>
                <c:pt idx="6">
                  <c:v>1500</c:v>
                </c:pt>
                <c:pt idx="7">
                  <c:v>2000</c:v>
                </c:pt>
                <c:pt idx="8">
                  <c:v>2500</c:v>
                </c:pt>
                <c:pt idx="9">
                  <c:v>3000</c:v>
                </c:pt>
                <c:pt idx="10">
                  <c:v>3500</c:v>
                </c:pt>
                <c:pt idx="11">
                  <c:v>4000</c:v>
                </c:pt>
              </c:strCache>
            </c:strRef>
          </c:cat>
          <c:val>
            <c:numRef>
              <c:f>1</c:f>
              <c:numCache>
                <c:formatCode>General</c:formatCode>
                <c:ptCount val="12"/>
                <c:pt idx="0">
                  <c:v>0.0013103</c:v>
                </c:pt>
                <c:pt idx="1">
                  <c:v>0.0069098</c:v>
                </c:pt>
                <c:pt idx="2">
                  <c:v>0.018879</c:v>
                </c:pt>
                <c:pt idx="3">
                  <c:v>0.0363722</c:v>
                </c:pt>
                <c:pt idx="4">
                  <c:v>0.0720739</c:v>
                </c:pt>
                <c:pt idx="5">
                  <c:v>0.173632</c:v>
                </c:pt>
                <c:pt idx="6">
                  <c:v>0.643838</c:v>
                </c:pt>
                <c:pt idx="7">
                  <c:v>2.10122</c:v>
                </c:pt>
                <c:pt idx="8">
                  <c:v>5.00486</c:v>
                </c:pt>
                <c:pt idx="9">
                  <c:v>9.74322</c:v>
                </c:pt>
                <c:pt idx="10">
                  <c:v>16.1714</c:v>
                </c:pt>
                <c:pt idx="11">
                  <c:v>24.6837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label 2</c:f>
              <c:strCache>
                <c:ptCount val="1"/>
                <c:pt idx="0">
                  <c:v>Разложение из Scilab</c:v>
                </c:pt>
              </c:strCache>
            </c:strRef>
          </c:tx>
          <c:spPr>
            <a:solidFill>
              <a:srgbClr val="579d1c"/>
            </a:solidFill>
            <a:ln w="28800">
              <a:solidFill>
                <a:srgbClr val="579d1c"/>
              </a:solidFill>
              <a:round/>
            </a:ln>
          </c:spPr>
          <c:marker>
            <c:symbol val="triangle"/>
            <c:size val="8"/>
            <c:spPr>
              <a:solidFill>
                <a:srgbClr val="579d1c"/>
              </a:solidFill>
            </c:spPr>
          </c:marker>
          <c:dLbls>
            <c:numFmt formatCode="General" sourceLinked="0"/>
            <c:txPr>
              <a:bodyPr wrap="none"/>
              <a:lstStyle/>
              <a:p>
                <a:pPr>
                  <a:defRPr b="0" sz="500" strike="noStrike" u="none">
                    <a:solidFill>
                      <a:srgbClr val="000000"/>
                    </a:solidFill>
                    <a:uFillTx/>
                    <a:latin typeface="Arial"/>
                    <a:ea typeface="DejaVu Sans"/>
                  </a:defRPr>
                </a:pPr>
              </a:p>
            </c:txPr>
            <c:dLblPos val="t"/>
            <c:showLegendKey val="0"/>
            <c:showVal val="1"/>
            <c:showCatName val="0"/>
            <c:showSerName val="0"/>
            <c:showPercent val="0"/>
            <c:separator> </c:separator>
            <c:showLeaderLines val="1"/>
            <c:leaderLines>
              <c:spPr>
                <a:ln w="28800">
                  <a:solidFill>
                    <a:srgbClr val="000000"/>
                  </a:solidFill>
                </a:ln>
              </c:spPr>
            </c:leaderLines>
            <c:extLst>
              <c:ext xmlns:c15="http://schemas.microsoft.com/office/drawing/2012/chart" uri="{CE6537A1-D6FC-4f65-9D91-7224C49458BB}">
                <c15:showLeaderLines val="1"/>
              </c:ext>
            </c:extLst>
          </c:dLbls>
          <c:cat>
            <c:strRef>
              <c:f>categories</c:f>
              <c:strCache>
                <c:ptCount val="12"/>
                <c:pt idx="0">
                  <c:v>100</c:v>
                </c:pt>
                <c:pt idx="1">
                  <c:v>200</c:v>
                </c:pt>
                <c:pt idx="2">
                  <c:v>300</c:v>
                </c:pt>
                <c:pt idx="3">
                  <c:v>400</c:v>
                </c:pt>
                <c:pt idx="4">
                  <c:v>500</c:v>
                </c:pt>
                <c:pt idx="5">
                  <c:v>1000</c:v>
                </c:pt>
                <c:pt idx="6">
                  <c:v>1500</c:v>
                </c:pt>
                <c:pt idx="7">
                  <c:v>2000</c:v>
                </c:pt>
                <c:pt idx="8">
                  <c:v>2500</c:v>
                </c:pt>
                <c:pt idx="9">
                  <c:v>3000</c:v>
                </c:pt>
                <c:pt idx="10">
                  <c:v>3500</c:v>
                </c:pt>
                <c:pt idx="11">
                  <c:v>4000</c:v>
                </c:pt>
              </c:strCache>
            </c:strRef>
          </c:cat>
          <c:val>
            <c:numRef>
              <c:f>2</c:f>
              <c:numCache>
                <c:formatCode>General</c:formatCode>
                <c:ptCount val="12"/>
                <c:pt idx="0">
                  <c:v>0.0179448</c:v>
                </c:pt>
                <c:pt idx="1">
                  <c:v>0.0065019</c:v>
                </c:pt>
                <c:pt idx="2">
                  <c:v>0.0073951</c:v>
                </c:pt>
                <c:pt idx="3">
                  <c:v>0.0080666</c:v>
                </c:pt>
                <c:pt idx="4">
                  <c:v>0.0111006</c:v>
                </c:pt>
                <c:pt idx="5">
                  <c:v>0.0324745</c:v>
                </c:pt>
                <c:pt idx="6">
                  <c:v>0.0849378</c:v>
                </c:pt>
                <c:pt idx="7">
                  <c:v>0.1808189</c:v>
                </c:pt>
                <c:pt idx="8">
                  <c:v>0.3221421</c:v>
                </c:pt>
                <c:pt idx="9">
                  <c:v>0.4588081</c:v>
                </c:pt>
                <c:pt idx="10">
                  <c:v>0.7511698</c:v>
                </c:pt>
                <c:pt idx="11">
                  <c:v>1.093605</c:v>
                </c:pt>
              </c:numCache>
            </c:numRef>
          </c:val>
          <c:smooth val="0"/>
        </c:ser>
        <c:hiLowLines>
          <c:spPr>
            <a:ln w="0">
              <a:noFill/>
            </a:ln>
          </c:spPr>
        </c:hiLowLines>
        <c:marker val="1"/>
        <c:axId val="74610640"/>
        <c:axId val="651588"/>
      </c:lineChart>
      <c:catAx>
        <c:axId val="74610640"/>
        <c:scaling>
          <c:orientation val="minMax"/>
        </c:scaling>
        <c:delete val="0"/>
        <c:axPos val="b"/>
        <c:title>
          <c:tx>
            <c:rich>
              <a:bodyPr rot="0"/>
              <a:lstStyle/>
              <a:p>
                <a:pPr>
                  <a:defRPr b="0" sz="1300" strike="noStrike" u="none">
                    <a:solidFill>
                      <a:srgbClr val="000000"/>
                    </a:solidFill>
                    <a:uFillTx/>
                    <a:latin typeface="Arial"/>
                  </a:defRPr>
                </a:pPr>
                <a:r>
                  <a:rPr b="0" sz="900" strike="noStrike" u="none">
                    <a:solidFill>
                      <a:srgbClr val="000000"/>
                    </a:solidFill>
                    <a:uFillTx/>
                    <a:latin typeface="Arial"/>
                    <a:ea typeface="DejaVu Sans"/>
                  </a:rPr>
                  <a:t>Размер данных, NxN</a:t>
                </a:r>
              </a:p>
            </c:rich>
          </c:tx>
          <c:overlay val="0"/>
          <c:spPr>
            <a:noFill/>
            <a:ln w="0">
              <a:noFill/>
            </a:ln>
          </c:spPr>
        </c:title>
        <c:numFmt formatCode="[$-419]dd/mm/yyyy" sourceLinked="0"/>
        <c:majorTickMark val="out"/>
        <c:minorTickMark val="none"/>
        <c:tickLblPos val="nextTo"/>
        <c:spPr>
          <a:ln w="0">
            <a:solidFill>
              <a:srgbClr val="b3b3b3"/>
            </a:solidFill>
          </a:ln>
        </c:spPr>
        <c:txPr>
          <a:bodyPr/>
          <a:lstStyle/>
          <a:p>
            <a:pPr>
              <a:defRPr b="0" sz="1000" strike="noStrike" u="none">
                <a:solidFill>
                  <a:srgbClr val="000000"/>
                </a:solidFill>
                <a:uFillTx/>
                <a:latin typeface="Arial"/>
                <a:ea typeface="DejaVu Sans"/>
              </a:defRPr>
            </a:pPr>
          </a:p>
        </c:txPr>
        <c:crossAx val="651588"/>
        <c:crosses val="autoZero"/>
        <c:auto val="1"/>
        <c:lblAlgn val="ctr"/>
        <c:lblOffset val="100"/>
        <c:noMultiLvlLbl val="0"/>
      </c:catAx>
      <c:valAx>
        <c:axId val="651588"/>
        <c:scaling>
          <c:orientation val="minMax"/>
        </c:scaling>
        <c:delete val="0"/>
        <c:axPos val="l"/>
        <c:majorGridlines>
          <c:spPr>
            <a:ln w="0">
              <a:solidFill>
                <a:srgbClr val="b3b3b3"/>
              </a:solidFill>
            </a:ln>
          </c:spPr>
        </c:majorGridlines>
        <c:title>
          <c:tx>
            <c:rich>
              <a:bodyPr rot="-5400000"/>
              <a:lstStyle/>
              <a:p>
                <a:pPr>
                  <a:defRPr b="0" sz="1300" strike="noStrike" u="none">
                    <a:solidFill>
                      <a:srgbClr val="000000"/>
                    </a:solidFill>
                    <a:uFillTx/>
                    <a:latin typeface="Arial"/>
                  </a:defRPr>
                </a:pPr>
                <a:r>
                  <a:rPr b="0" sz="900" strike="noStrike" u="none">
                    <a:solidFill>
                      <a:srgbClr val="000000"/>
                    </a:solidFill>
                    <a:uFillTx/>
                    <a:latin typeface="Arial"/>
                    <a:ea typeface="DejaVu Sans"/>
                  </a:rPr>
                  <a:t>Время работы, с</a:t>
                </a:r>
              </a:p>
            </c:rich>
          </c:tx>
          <c:overlay val="0"/>
          <c:spPr>
            <a:noFill/>
            <a:ln w="0">
              <a:noFill/>
            </a:ln>
          </c:spPr>
        </c:title>
        <c:numFmt formatCode="General" sourceLinked="0"/>
        <c:majorTickMark val="out"/>
        <c:minorTickMark val="none"/>
        <c:tickLblPos val="nextTo"/>
        <c:spPr>
          <a:ln w="0">
            <a:solidFill>
              <a:srgbClr val="b3b3b3"/>
            </a:solidFill>
          </a:ln>
        </c:spPr>
        <c:txPr>
          <a:bodyPr/>
          <a:lstStyle/>
          <a:p>
            <a:pPr>
              <a:defRPr b="0" sz="1000" strike="noStrike" u="none">
                <a:solidFill>
                  <a:srgbClr val="000000"/>
                </a:solidFill>
                <a:uFillTx/>
                <a:latin typeface="Arial"/>
                <a:ea typeface="DejaVu Sans"/>
              </a:defRPr>
            </a:pPr>
          </a:p>
        </c:txPr>
        <c:crossAx val="74610640"/>
        <c:crossesAt val="1"/>
        <c:crossBetween val="midCat"/>
      </c:valAx>
      <c:spPr>
        <a:noFill/>
        <a:ln w="0">
          <a:solidFill>
            <a:srgbClr val="b3b3b3"/>
          </a:solidFill>
        </a:ln>
      </c:spPr>
    </c:plotArea>
    <c:legend>
      <c:legendPos val="r"/>
      <c:layout>
        <c:manualLayout>
          <c:xMode val="edge"/>
          <c:yMode val="edge"/>
          <c:x val="0.74166169352165"/>
          <c:y val="0.37054287241353"/>
          <c:w val="0.243551488628075"/>
          <c:h val="0.338856226616783"/>
        </c:manualLayout>
      </c:layout>
      <c:overlay val="0"/>
      <c:spPr>
        <a:noFill/>
        <a:ln w="0">
          <a:noFill/>
        </a:ln>
      </c:spPr>
      <c:txPr>
        <a:bodyPr/>
        <a:lstStyle/>
        <a:p>
          <a:pPr>
            <a:defRPr b="0" sz="1000" strike="noStrike" u="none">
              <a:solidFill>
                <a:srgbClr val="000000"/>
              </a:solidFill>
              <a:uFillTx/>
              <a:latin typeface="Arial"/>
              <a:ea typeface="DejaVu Sans"/>
            </a:defRPr>
          </a:pPr>
        </a:p>
      </c:txPr>
    </c:legend>
    <c:plotVisOnly val="1"/>
    <c:dispBlanksAs val="gap"/>
  </c:chart>
  <c:spPr>
    <a:noFill/>
    <a:ln w="0">
      <a:noFill/>
    </a:ln>
  </c:spPr>
</c:chartSpace>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12.xml"/>
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PlaceHolder 1"/>
          <p:cNvSpPr>
            <a:spLocks noGrp="1"/>
          </p:cNvSpPr>
          <p:nvPr>
            <p:ph type="sldImg"/>
          </p:nvPr>
        </p:nvSpPr>
        <p:spPr>
          <a:xfrm>
            <a:off x="0" y="81252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r>
              <a:rPr b="0" lang="ru-RU" sz="4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Для перемещения страницы щёлкните мышью</a:t>
            </a:r>
            <a:endParaRPr b="0" lang="ru-RU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9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indent="0">
              <a:buNone/>
            </a:pPr>
            <a:r>
              <a:rPr b="0" lang="ru-RU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Для правки формата примечаний щёлкните мышью</a:t>
            </a:r>
            <a:endParaRPr b="0" lang="ru-R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0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indent="0">
              <a:buNone/>
            </a:pPr>
            <a:r>
              <a:rPr b="0" lang="ru-RU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&lt;верхний колонтитул&gt;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1" name="PlaceHolder 4"/>
          <p:cNvSpPr>
            <a:spLocks noGrp="1"/>
          </p:cNvSpPr>
          <p:nvPr>
            <p:ph type="dt" idx="34"/>
          </p:nvPr>
        </p:nvSpPr>
        <p:spPr>
          <a:xfrm>
            <a:off x="427896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r">
              <a:buNone/>
              <a:defRPr b="0" lang="ru-RU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r>
              <a:rPr b="0" lang="ru-RU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&lt;дата/время&gt;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2" name="PlaceHolder 5"/>
          <p:cNvSpPr>
            <a:spLocks noGrp="1"/>
          </p:cNvSpPr>
          <p:nvPr>
            <p:ph type="ftr" idx="35"/>
          </p:nvPr>
        </p:nvSpPr>
        <p:spPr>
          <a:xfrm>
            <a:off x="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>
              <a:buNone/>
              <a:defRPr b="0" lang="ru-RU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b="0" lang="ru-RU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&lt;нижний колонтитул&gt;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3" name="PlaceHolder 6"/>
          <p:cNvSpPr>
            <a:spLocks noGrp="1"/>
          </p:cNvSpPr>
          <p:nvPr>
            <p:ph type="sldNum" idx="36"/>
          </p:nvPr>
        </p:nvSpPr>
        <p:spPr>
          <a:xfrm>
            <a:off x="427896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 algn="r">
              <a:buNone/>
              <a:defRPr b="0" lang="ru-RU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fld id="{46720FAD-F4B9-4B53-A40B-750B74A8E57A}" type="slidenum">
              <a:rPr b="0" lang="ru-RU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&lt;номер&gt;</a:t>
            </a:fld>
            <a:endParaRPr b="0" lang="ru-RU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</p:notesMaster>
</file>

<file path=ppt/notesSlides/_rels/notesSlide2.xml.rels><?xml version="1.0" encoding="UTF-8"?>
<Relationships xmlns="http://schemas.openxmlformats.org/package/2006/relationships"><Relationship Id="rId1" Type="http://schemas.openxmlformats.org/officeDocument/2006/relationships/slide" Target="../slides/slide2.xml"/><Relationship Id="rId2" Type="http://schemas.openxmlformats.org/officeDocument/2006/relationships/notesMaster" Target="../notesMasters/notesMaster1.xml"/>
</Relationships>
</file>

<file path=ppt/notesSlides/_rels/notesSlide3.xml.rels><?xml version="1.0" encoding="UTF-8"?>
<Relationships xmlns="http://schemas.openxmlformats.org/package/2006/relationships"><Relationship Id="rId1" Type="http://schemas.openxmlformats.org/officeDocument/2006/relationships/slide" Target="../slides/slide3.xml"/><Relationship Id="rId2" Type="http://schemas.openxmlformats.org/officeDocument/2006/relationships/notesMaster" Target="../notesMasters/notesMaster1.xml"/>
</Relationships>
</file>

<file path=ppt/notesSlides/_rels/notesSlide4.xml.rels><?xml version="1.0" encoding="UTF-8"?>
<Relationships xmlns="http://schemas.openxmlformats.org/package/2006/relationships"><Relationship Id="rId1" Type="http://schemas.openxmlformats.org/officeDocument/2006/relationships/slide" Target="../slides/slide4.xml"/><Relationship Id="rId2" Type="http://schemas.openxmlformats.org/officeDocument/2006/relationships/notesMaster" Target="../notesMasters/notesMaster1.xml"/>
</Relationships>
</file>

<file path=ppt/notesSlides/_rels/notesSlide9.xml.rels><?xml version="1.0" encoding="UTF-8"?>
<Relationships xmlns="http://schemas.openxmlformats.org/package/2006/relationships"><Relationship Id="rId1" Type="http://schemas.openxmlformats.org/officeDocument/2006/relationships/slide" Target="../slides/slide9.xml"/><Relationship Id="rId2" Type="http://schemas.openxmlformats.org/officeDocument/2006/relationships/notesMaster" Target="../notesMasters/notesMaster1.xml"/>
</Relationships>
</file>

<file path=ppt/notesSlides/_rels/notesSlide11.xml.rels><?xml version="1.0" encoding="UTF-8"?>
<Relationships xmlns="http://schemas.openxmlformats.org/package/2006/relationships"><Relationship Id="rId1" Type="http://schemas.openxmlformats.org/officeDocument/2006/relationships/slide" Target="../slides/slide11.xml"/><Relationship Id="rId2" Type="http://schemas.openxmlformats.org/officeDocument/2006/relationships/notesMaster" Target="../notesMasters/notesMaster1.xml"/>
</Relationships>
</file>

<file path=ppt/notesSlides/_rels/notesSlide12.xml.rels><?xml version="1.0" encoding="UTF-8"?>
<Relationships xmlns="http://schemas.openxmlformats.org/package/2006/relationships"><Relationship Id="rId1" Type="http://schemas.openxmlformats.org/officeDocument/2006/relationships/slide" Target="../slides/slide12.xml"/><Relationship Id="rId2" Type="http://schemas.openxmlformats.org/officeDocument/2006/relationships/notesMaster" Target="../notesMasters/notesMaster1.xml"/>
</Relationships>
</file>

<file path=ppt/notesSlides/_rels/notesSlide13.xml.rels><?xml version="1.0" encoding="UTF-8"?>
<Relationships xmlns="http://schemas.openxmlformats.org/package/2006/relationships"><Relationship Id="rId1" Type="http://schemas.openxmlformats.org/officeDocument/2006/relationships/slide" Target="../slides/slide13.xml"/><Relationship Id="rId2" Type="http://schemas.openxmlformats.org/officeDocument/2006/relationships/notesMaster" Target="../notesMasters/notesMaster1.xml"/>
</Relationships>
</file>

<file path=ppt/notesSlides/_rels/notesSlide14.xml.rels><?xml version="1.0" encoding="UTF-8"?>
<Relationships xmlns="http://schemas.openxmlformats.org/package/2006/relationships"><Relationship Id="rId1" Type="http://schemas.openxmlformats.org/officeDocument/2006/relationships/slide" Target="../slides/slide14.xml"/><Relationship Id="rId2" Type="http://schemas.openxmlformats.org/officeDocument/2006/relationships/notesMaster" Target="../notesMasters/notesMaster1.xml"/>
</Relationships>
</file>

<file path=ppt/notesSlides/_rels/notesSlide15.xml.rels><?xml version="1.0" encoding="UTF-8"?>
<Relationships xmlns="http://schemas.openxmlformats.org/package/2006/relationships"><Relationship Id="rId1" Type="http://schemas.openxmlformats.org/officeDocument/2006/relationships/slide" Target="../slides/slide15.xml"/><Relationship Id="rId2" Type="http://schemas.openxmlformats.org/officeDocument/2006/relationships/notesMaster" Target="../notesMasters/notesMaster1.xml"/>
</Relationships>
</file>

<file path=ppt/notesSlides/_rels/notesSlide16.xml.rels><?xml version="1.0" encoding="UTF-8"?>
<Relationships xmlns="http://schemas.openxmlformats.org/package/2006/relationships"><Relationship Id="rId1" Type="http://schemas.openxmlformats.org/officeDocument/2006/relationships/slide" Target="../slides/slide16.xml"/><Relationship Id="rId2" Type="http://schemas.openxmlformats.org/officeDocument/2006/relationships/notesMaster" Target="../notesMasters/notesMaster1.xml"/>
</Relationships>
</file>

<file path=ppt/notesSlides/_rels/notesSlide17.xml.rels><?xml version="1.0" encoding="UTF-8"?>
<Relationships xmlns="http://schemas.openxmlformats.org/package/2006/relationships"><Relationship Id="rId1" Type="http://schemas.openxmlformats.org/officeDocument/2006/relationships/slide" Target="../slides/slide17.xml"/><Relationship Id="rId2" Type="http://schemas.openxmlformats.org/officeDocument/2006/relationships/notesMaster" Target="../notesMasters/notesMaster1.xml"/>
</Relationships>
</file>

<file path=ppt/notesSlides/_rels/notesSlide18.xml.rels><?xml version="1.0" encoding="UTF-8"?>
<Relationships xmlns="http://schemas.openxmlformats.org/package/2006/relationships"><Relationship Id="rId1" Type="http://schemas.openxmlformats.org/officeDocument/2006/relationships/slide" Target="../slides/slide18.xml"/><Relationship Id="rId2" Type="http://schemas.openxmlformats.org/officeDocument/2006/relationships/notesMaster" Target="../notesMasters/notesMaster1.xml"/>
</Relationship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PlaceHolder 1"/>
          <p:cNvSpPr>
            <a:spLocks noGrp="1"/>
          </p:cNvSpPr>
          <p:nvPr>
            <p:ph type="sldImg"/>
          </p:nvPr>
        </p:nvSpPr>
        <p:spPr>
          <a:xfrm>
            <a:off x="216000" y="812520"/>
            <a:ext cx="7126920" cy="4008600"/>
          </a:xfrm>
          <a:prstGeom prst="rect">
            <a:avLst/>
          </a:prstGeom>
          <a:ln w="0">
            <a:noFill/>
          </a:ln>
        </p:spPr>
      </p:sp>
      <p:sp>
        <p:nvSpPr>
          <p:cNvPr id="332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280" cy="4810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ru-RU" sz="12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Calibri"/>
              </a:rPr>
              <a:t>Если при этом A невырождена, то QR-разложение единственно и матрица R может быть выбрана так, чтобы её диагональные элементы были положительными вещественными числами. В частном случае, когда матрица A состоит только из вещественных чисел, матрицы Q и R также могут быть выбраны вещественными, причём Q является ортогональной [1]. На сегодняшний день применяется несколько методов для вычисления QR-разложения матриц [2].</a:t>
            </a:r>
            <a:endParaRPr b="0" lang="ru-RU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3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334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buNone/>
            </a:pP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5" name="PlaceHolder 3"/>
          <p:cNvSpPr>
            <a:spLocks noGrp="1"/>
          </p:cNvSpPr>
          <p:nvPr>
            <p:ph type="sldNum" idx="37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ru-RU" sz="1200" strike="noStrike" u="non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F6EF4160-684A-4FC1-AD4C-5B3D2E01A5FC}" type="slidenum">
              <a:rPr b="0" lang="ru-RU" sz="1200" strike="noStrike" u="non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&lt;номер&gt;</a:t>
            </a:fld>
            <a:endParaRPr b="0" lang="ru-RU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6" name="PlaceHolder 1"/>
          <p:cNvSpPr>
            <a:spLocks noGrp="1"/>
          </p:cNvSpPr>
          <p:nvPr>
            <p:ph type="sldImg"/>
          </p:nvPr>
        </p:nvSpPr>
        <p:spPr>
          <a:xfrm>
            <a:off x="216000" y="812520"/>
            <a:ext cx="7126920" cy="4008600"/>
          </a:xfrm>
          <a:prstGeom prst="rect">
            <a:avLst/>
          </a:prstGeom>
          <a:ln w="0">
            <a:noFill/>
          </a:ln>
        </p:spPr>
      </p:sp>
      <p:sp>
        <p:nvSpPr>
          <p:cNvPr id="337" name="PlaceHolder 2"/>
          <p:cNvSpPr>
            <a:spLocks noGrp="1"/>
          </p:cNvSpPr>
          <p:nvPr>
            <p:ph type="body"/>
          </p:nvPr>
        </p:nvSpPr>
        <p:spPr>
          <a:xfrm>
            <a:off x="76680" y="5078520"/>
            <a:ext cx="6780960" cy="4810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216000" indent="-216000" defTabSz="914400">
              <a:lnSpc>
                <a:spcPct val="150000"/>
              </a:lnSpc>
              <a:spcBef>
                <a:spcPts val="601"/>
              </a:spcBef>
              <a:spcAft>
                <a:spcPts val="601"/>
              </a:spcAft>
              <a:buClr>
                <a:srgbClr val="000000"/>
              </a:buClr>
              <a:buFont typeface="Symbol" charset="2"/>
              <a:buChar char=""/>
              <a:tabLst>
                <a:tab algn="l" pos="0"/>
              </a:tabLst>
            </a:pPr>
            <a:r>
              <a:rPr b="0" lang="ru-RU" sz="11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Процесс ортогонализации Грама-Шмидта: сложность O(n3); практически не поддаётся распараллеливанию; требует явного хранения Q; численно неустойчив, в большинстве случаев приводит к нарушению ортогональности.</a:t>
            </a:r>
            <a:endParaRPr b="0" lang="ru-RU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defTabSz="914400">
              <a:lnSpc>
                <a:spcPct val="150000"/>
              </a:lnSpc>
              <a:spcBef>
                <a:spcPts val="601"/>
              </a:spcBef>
              <a:spcAft>
                <a:spcPts val="601"/>
              </a:spcAft>
              <a:buClr>
                <a:srgbClr val="000000"/>
              </a:buClr>
              <a:buFont typeface="Symbol" charset="2"/>
              <a:buChar char=""/>
              <a:tabLst>
                <a:tab algn="l" pos="0"/>
              </a:tabLst>
            </a:pPr>
            <a:r>
              <a:rPr b="0" lang="ru-RU" sz="11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Отражения Хаусхолдера имеют сложность приблизительно O(n³); для достижения наибольшей эффективности требуется более сложная блочная реализация; вектора отражений можно хранить под диагональю матрицы R, экономя память; для построения явной Q все равно требуется O(n²) памяти и дополнительных вычислений; численно устойчив. Является основным методом для разложения плотных матриц общего вида. Из-за действий над целыми столбцами неэффективен для разреженных матриц, так как не учитывает уже занулённые значения.</a:t>
            </a:r>
            <a:endParaRPr b="0" lang="ru-RU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defTabSz="914400">
              <a:lnSpc>
                <a:spcPct val="150000"/>
              </a:lnSpc>
              <a:spcBef>
                <a:spcPts val="601"/>
              </a:spcBef>
              <a:spcAft>
                <a:spcPts val="601"/>
              </a:spcAft>
              <a:buClr>
                <a:srgbClr val="000000"/>
              </a:buClr>
              <a:buFont typeface="Symbol" charset="2"/>
              <a:buChar char=""/>
              <a:tabLst>
                <a:tab algn="l" pos="0"/>
              </a:tabLst>
            </a:pPr>
            <a:r>
              <a:rPr b="0" lang="ru-RU" sz="11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Вращения Гивенса имеют сложность 2n</a:t>
            </a:r>
            <a:r>
              <a:rPr b="0" lang="ru-RU" sz="1100" strike="noStrike" u="none" baseline="33000">
                <a:solidFill>
                  <a:srgbClr val="000000"/>
                </a:solidFill>
                <a:effectLst/>
                <a:uFillTx/>
                <a:latin typeface="Arial"/>
              </a:rPr>
              <a:t>3</a:t>
            </a:r>
            <a:r>
              <a:rPr b="0" lang="ru-RU" sz="11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; вектора вращений можно хранить очень компактно или даже не хранить явно; численно устойчив; лучше всего подходит для разреженных и ленточных матриц, так как позволяет обнулять отдельные элементы, не затрагивая другие; в связи с этим медленнее работает для плотных матриц. Этот метод также используется для обновления уже готового разложения при добавлении новой строки или столбца.</a:t>
            </a:r>
            <a:endParaRPr b="0" lang="ru-RU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PlaceHolder 1"/>
          <p:cNvSpPr>
            <a:spLocks noGrp="1"/>
          </p:cNvSpPr>
          <p:nvPr>
            <p:ph type="sldImg"/>
          </p:nvPr>
        </p:nvSpPr>
        <p:spPr>
          <a:xfrm>
            <a:off x="216000" y="812520"/>
            <a:ext cx="7126920" cy="4008600"/>
          </a:xfrm>
          <a:prstGeom prst="rect">
            <a:avLst/>
          </a:prstGeom>
          <a:ln w="0">
            <a:noFill/>
          </a:ln>
        </p:spPr>
      </p:sp>
      <p:sp>
        <p:nvSpPr>
          <p:cNvPr id="339" name="PlaceHolder 2"/>
          <p:cNvSpPr>
            <a:spLocks noGrp="1"/>
          </p:cNvSpPr>
          <p:nvPr>
            <p:ph type="body"/>
          </p:nvPr>
        </p:nvSpPr>
        <p:spPr>
          <a:xfrm>
            <a:off x="-1280880" y="5078520"/>
            <a:ext cx="12973320" cy="4810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indent="0" defTabSz="914400">
              <a:lnSpc>
                <a:spcPct val="150000"/>
              </a:lnSpc>
              <a:spcBef>
                <a:spcPts val="601"/>
              </a:spcBef>
              <a:spcAft>
                <a:spcPts val="601"/>
              </a:spcAft>
              <a:buNone/>
              <a:tabLst>
                <a:tab algn="l" pos="0"/>
              </a:tabLst>
            </a:pPr>
            <a:r>
              <a:rPr b="0" lang="ru-RU" sz="150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Самая очевидная реализация метода Хаусхолдера будет содержать в себе следующие недостатки:</a:t>
            </a:r>
            <a:endParaRPr b="0" lang="ru-RU" sz="1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defTabSz="914400">
              <a:lnSpc>
                <a:spcPct val="150000"/>
              </a:lnSpc>
              <a:spcBef>
                <a:spcPts val="601"/>
              </a:spcBef>
              <a:spcAft>
                <a:spcPts val="601"/>
              </a:spcAft>
              <a:buNone/>
              <a:tabLst>
                <a:tab algn="l" pos="0"/>
              </a:tabLst>
            </a:pPr>
            <a:r>
              <a:rPr b="0" lang="ru-RU" sz="150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    • использование операции матричного умножения матриц размером NxN; на каждую из (N-1) итераций цикла придётся два матричных произведения. </a:t>
            </a:r>
            <a:endParaRPr b="0" lang="ru-RU" sz="1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defTabSz="914400">
              <a:lnSpc>
                <a:spcPct val="150000"/>
              </a:lnSpc>
              <a:spcBef>
                <a:spcPts val="601"/>
              </a:spcBef>
              <a:spcAft>
                <a:spcPts val="601"/>
              </a:spcAft>
              <a:buNone/>
              <a:tabLst>
                <a:tab algn="l" pos="0"/>
              </a:tabLst>
            </a:pPr>
            <a:r>
              <a:rPr b="0" lang="ru-RU" sz="150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    • отдельное хранение матриц отражения H (NxN элементов, (N-1) штук) для вычисления Q.</a:t>
            </a:r>
            <a:endParaRPr b="0" lang="ru-RU" sz="1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defTabSz="914400">
              <a:lnSpc>
                <a:spcPct val="150000"/>
              </a:lnSpc>
              <a:spcBef>
                <a:spcPts val="601"/>
              </a:spcBef>
              <a:spcAft>
                <a:spcPts val="601"/>
              </a:spcAft>
              <a:buNone/>
              <a:tabLst>
                <a:tab algn="l" pos="0"/>
              </a:tabLst>
            </a:pPr>
            <a:r>
              <a:rPr b="0" lang="ru-RU" sz="150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В связи с выявленными недостатками возможны следующие оптимизации:</a:t>
            </a:r>
            <a:endParaRPr b="0" lang="ru-RU" sz="1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ru-RU" sz="150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Избавление от матричных умножений. Подсчитаем перемножение  по-другому, получим более дешёвые операции над векторами и матрицей A, уменьшим сложность в N раз.</a:t>
            </a:r>
            <a:endParaRPr b="0" lang="ru-RU" sz="1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defTabSz="914400">
              <a:lnSpc>
                <a:spcPct val="150000"/>
              </a:lnSpc>
              <a:spcBef>
                <a:spcPts val="601"/>
              </a:spcBef>
              <a:spcAft>
                <a:spcPts val="601"/>
              </a:spcAft>
              <a:buNone/>
              <a:tabLst>
                <a:tab algn="l" pos="0"/>
              </a:tabLst>
            </a:pPr>
            <a:r>
              <a:rPr b="0" lang="ru-RU" sz="150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Также вычисление матрицы R этим способом позволяет упростить вычисление матрицы Q. Для её восстановления понадобится только сохранить вектора Хаусхолдера vk, полученные на каждом шаге алгоритма. Вычислять Q будем восстанавливая матрицы отражения из сохранённых векторов v, в обратном порядке.</a:t>
            </a:r>
            <a:endParaRPr b="0" lang="ru-RU" sz="1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defTabSz="914400">
              <a:lnSpc>
                <a:spcPct val="150000"/>
              </a:lnSpc>
              <a:spcBef>
                <a:spcPts val="601"/>
              </a:spcBef>
              <a:spcAft>
                <a:spcPts val="601"/>
              </a:spcAft>
              <a:buNone/>
              <a:tabLst>
                <a:tab algn="l" pos="0"/>
              </a:tabLst>
            </a:pPr>
            <a:r>
              <a:rPr b="0" lang="ru-RU" sz="1500" strike="noStrike" u="none">
                <a:solidFill>
                  <a:schemeClr val="dk1"/>
                </a:solidFill>
                <a:effectLst/>
                <a:uFillTx/>
                <a:latin typeface="Arial"/>
                <a:ea typeface="Calibri"/>
              </a:rPr>
              <a:t>Работа с нормированными векторами Хаусхолдера позволит формировать вектор, который не потребуется сохранять в явном виде. Его можно хранить под диагональю в матрице R.</a:t>
            </a:r>
            <a:endParaRPr b="0" lang="ru-RU" sz="1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0" name="PlaceHolder 1"/>
          <p:cNvSpPr>
            <a:spLocks noGrp="1"/>
          </p:cNvSpPr>
          <p:nvPr>
            <p:ph type="sldImg"/>
          </p:nvPr>
        </p:nvSpPr>
        <p:spPr>
          <a:xfrm>
            <a:off x="216000" y="812520"/>
            <a:ext cx="7126920" cy="4008600"/>
          </a:xfrm>
          <a:prstGeom prst="rect">
            <a:avLst/>
          </a:prstGeom>
          <a:ln w="0">
            <a:noFill/>
          </a:ln>
        </p:spPr>
      </p:sp>
      <p:sp>
        <p:nvSpPr>
          <p:cNvPr id="341" name="PlaceHolder 2"/>
          <p:cNvSpPr>
            <a:spLocks noGrp="1"/>
          </p:cNvSpPr>
          <p:nvPr>
            <p:ph type="body"/>
          </p:nvPr>
        </p:nvSpPr>
        <p:spPr>
          <a:xfrm>
            <a:off x="0" y="5078520"/>
            <a:ext cx="6803280" cy="4810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indent="0">
              <a:lnSpc>
                <a:spcPct val="115000"/>
              </a:lnSpc>
              <a:spcBef>
                <a:spcPts val="283"/>
              </a:spcBef>
              <a:spcAft>
                <a:spcPts val="283"/>
              </a:spcAft>
              <a:buNone/>
              <a:tabLst>
                <a:tab algn="l" pos="0"/>
              </a:tabLst>
            </a:pPr>
            <a:r>
              <a:rPr b="0" lang="ru-RU" sz="15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Сначала в нуль последовательно обращаются элементы 1-го столбца, затем 2-го, и т.д. до N-1-го, после чего получившаяся матрица - это и есть матрица R. </a:t>
            </a:r>
            <a:endParaRPr b="0" lang="ru-RU" sz="1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15000"/>
              </a:lnSpc>
              <a:spcBef>
                <a:spcPts val="283"/>
              </a:spcBef>
              <a:spcAft>
                <a:spcPts val="283"/>
              </a:spcAft>
              <a:buNone/>
              <a:tabLst>
                <a:tab algn="l" pos="0"/>
              </a:tabLst>
            </a:pPr>
            <a:r>
              <a:rPr b="0" lang="ru-RU" sz="15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Сам шаг алгоритма распадается на две части: подбор параметра вращения и выполнение вращения над двумя строками матрицы.</a:t>
            </a:r>
            <a:endParaRPr b="0" lang="ru-RU" sz="1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15000"/>
              </a:lnSpc>
              <a:spcBef>
                <a:spcPts val="283"/>
              </a:spcBef>
              <a:spcAft>
                <a:spcPts val="283"/>
              </a:spcAft>
              <a:buNone/>
              <a:tabLst>
                <a:tab algn="l" pos="0"/>
              </a:tabLst>
            </a:pPr>
            <a:r>
              <a:rPr b="0" lang="ru-RU" sz="15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Для получения матрицы R матрицу A последовательно домножают слева на матрицы вращения G12, G13, …, G1n, G23, G24, …, G2n, …, GN-2,N, GN-1,N.</a:t>
            </a:r>
            <a:endParaRPr b="0" lang="ru-RU" sz="1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283"/>
              </a:spcBef>
              <a:spcAft>
                <a:spcPts val="283"/>
              </a:spcAft>
              <a:buNone/>
              <a:tabLst>
                <a:tab algn="l" pos="0"/>
              </a:tabLst>
            </a:pPr>
            <a:r>
              <a:rPr b="0" lang="ru-RU" sz="15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Calibri"/>
              </a:rPr>
              <a:t>Отсюда для получения матрицы </a:t>
            </a:r>
            <a:r>
              <a:rPr b="0" lang="en-US" sz="15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Calibri"/>
              </a:rPr>
              <a:t>Q </a:t>
            </a:r>
            <a:r>
              <a:rPr b="0" lang="ru-RU" sz="15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Calibri"/>
              </a:rPr>
              <a:t>необходимо последовательно перемножить все транспонированные матрицы вращения друг на друга справа.</a:t>
            </a:r>
            <a:endParaRPr b="0" lang="ru-RU" sz="1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15000"/>
              </a:lnSpc>
              <a:buNone/>
              <a:tabLst>
                <a:tab algn="l" pos="0"/>
              </a:tabLst>
            </a:pPr>
            <a:endParaRPr b="0" lang="ru-R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2" name="PlaceHolder 1"/>
          <p:cNvSpPr>
            <a:spLocks noGrp="1"/>
          </p:cNvSpPr>
          <p:nvPr>
            <p:ph type="sldImg"/>
          </p:nvPr>
        </p:nvSpPr>
        <p:spPr>
          <a:xfrm>
            <a:off x="216000" y="812520"/>
            <a:ext cx="7126920" cy="4008600"/>
          </a:xfrm>
          <a:prstGeom prst="rect">
            <a:avLst/>
          </a:prstGeom>
          <a:ln w="0">
            <a:noFill/>
          </a:ln>
        </p:spPr>
      </p:sp>
      <p:sp>
        <p:nvSpPr>
          <p:cNvPr id="343" name="PlaceHolder 2"/>
          <p:cNvSpPr>
            <a:spLocks noGrp="1"/>
          </p:cNvSpPr>
          <p:nvPr>
            <p:ph type="body"/>
          </p:nvPr>
        </p:nvSpPr>
        <p:spPr>
          <a:xfrm>
            <a:off x="0" y="5078520"/>
            <a:ext cx="6857640" cy="4810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indent="0" defTabSz="914400">
              <a:lnSpc>
                <a:spcPct val="150000"/>
              </a:lnSpc>
              <a:spcBef>
                <a:spcPts val="601"/>
              </a:spcBef>
              <a:spcAft>
                <a:spcPts val="601"/>
              </a:spcAft>
              <a:buNone/>
              <a:tabLst>
                <a:tab algn="l" pos="0"/>
              </a:tabLst>
            </a:pPr>
            <a:r>
              <a:rPr b="0" lang="ru-RU" sz="1500" strike="noStrike" u="none">
                <a:solidFill>
                  <a:schemeClr val="dk1"/>
                </a:solidFill>
                <a:effectLst/>
                <a:uFillTx/>
                <a:latin typeface="Arial"/>
                <a:ea typeface="Calibri"/>
              </a:rPr>
              <a:t>Самая очевидная реализация метода Гивенса будет содержать в себе следующие недостатки:</a:t>
            </a:r>
            <a:endParaRPr b="0" lang="ru-RU" sz="1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defTabSz="914400">
              <a:lnSpc>
                <a:spcPct val="150000"/>
              </a:lnSpc>
              <a:spcBef>
                <a:spcPts val="601"/>
              </a:spcBef>
              <a:spcAft>
                <a:spcPts val="601"/>
              </a:spcAft>
              <a:buNone/>
              <a:tabLst>
                <a:tab algn="l" pos="0"/>
              </a:tabLst>
            </a:pPr>
            <a:r>
              <a:rPr b="0" lang="ru-RU" sz="1500" strike="noStrike" u="none">
                <a:solidFill>
                  <a:schemeClr val="dk1"/>
                </a:solidFill>
                <a:effectLst/>
                <a:uFillTx/>
                <a:latin typeface="Arial"/>
                <a:ea typeface="Calibri"/>
              </a:rPr>
              <a:t>    • неэффективное, «прямое» хранение матрицы Q: обращение к элементам матрицы Q происходит по столбцам, в виду чего выгоднее хранить её транспонированной.</a:t>
            </a:r>
            <a:endParaRPr b="0" lang="ru-RU" sz="1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defTabSz="914400">
              <a:lnSpc>
                <a:spcPct val="150000"/>
              </a:lnSpc>
              <a:spcBef>
                <a:spcPts val="601"/>
              </a:spcBef>
              <a:spcAft>
                <a:spcPts val="601"/>
              </a:spcAft>
              <a:buNone/>
              <a:tabLst>
                <a:tab algn="l" pos="0"/>
              </a:tabLst>
            </a:pPr>
            <a:r>
              <a:rPr b="0" lang="ru-RU" sz="1500" strike="noStrike" u="none">
                <a:solidFill>
                  <a:schemeClr val="dk1"/>
                </a:solidFill>
                <a:effectLst/>
                <a:uFillTx/>
                <a:latin typeface="Arial"/>
                <a:ea typeface="Calibri"/>
              </a:rPr>
              <a:t>    • вычислять R и Q можно в рамках одной итерации цикла, после вычисления параметров вращения, а можно в разных циклах, сохраняя параметры вращения в отдельной структуре либо в матрице R. Необходимо сравнение двух подходов. </a:t>
            </a:r>
            <a:endParaRPr b="0" lang="ru-RU" sz="1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defTabSz="914400">
              <a:lnSpc>
                <a:spcPct val="150000"/>
              </a:lnSpc>
              <a:spcBef>
                <a:spcPts val="601"/>
              </a:spcBef>
              <a:spcAft>
                <a:spcPts val="601"/>
              </a:spcAft>
              <a:buNone/>
              <a:tabLst>
                <a:tab algn="l" pos="0"/>
              </a:tabLst>
            </a:pPr>
            <a:r>
              <a:rPr b="0" lang="ru-RU" sz="1500" strike="noStrike" u="none">
                <a:solidFill>
                  <a:schemeClr val="dk1"/>
                </a:solidFill>
                <a:effectLst/>
                <a:uFillTx/>
                <a:latin typeface="Arial"/>
                <a:ea typeface="Calibri"/>
              </a:rPr>
              <a:t>    • можно не выполнять вращение строки при вычислении матрицы R целиком, поскольку слева от текущего столбца элементы вращаемых строк равны 0.</a:t>
            </a:r>
            <a:endParaRPr b="0" lang="ru-RU" sz="1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4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34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buNone/>
            </a:pP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6" name="PlaceHolder 3"/>
          <p:cNvSpPr>
            <a:spLocks noGrp="1"/>
          </p:cNvSpPr>
          <p:nvPr>
            <p:ph type="sldNum" idx="38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ru-RU" sz="1200" strike="noStrike" u="non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BE3DAA1A-8831-49F4-A85D-2A261C6943FB}" type="slidenum">
              <a:rPr b="0" lang="ru-RU" sz="1200" strike="noStrike" u="non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&lt;номер&gt;</a:t>
            </a:fld>
            <a:endParaRPr b="0" lang="ru-RU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7" name="PlaceHolder 1"/>
          <p:cNvSpPr>
            <a:spLocks noGrp="1"/>
          </p:cNvSpPr>
          <p:nvPr>
            <p:ph type="sldImg"/>
          </p:nvPr>
        </p:nvSpPr>
        <p:spPr>
          <a:xfrm>
            <a:off x="216000" y="812520"/>
            <a:ext cx="7126920" cy="4008600"/>
          </a:xfrm>
          <a:prstGeom prst="rect">
            <a:avLst/>
          </a:prstGeom>
          <a:ln w="0">
            <a:noFill/>
          </a:ln>
        </p:spPr>
      </p:sp>
      <p:sp>
        <p:nvSpPr>
          <p:cNvPr id="348" name="PlaceHolder 2"/>
          <p:cNvSpPr>
            <a:spLocks noGrp="1"/>
          </p:cNvSpPr>
          <p:nvPr>
            <p:ph type="body"/>
          </p:nvPr>
        </p:nvSpPr>
        <p:spPr>
          <a:xfrm>
            <a:off x="0" y="5078520"/>
            <a:ext cx="6803280" cy="4810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indent="0">
              <a:lnSpc>
                <a:spcPct val="115000"/>
              </a:lnSpc>
              <a:spcBef>
                <a:spcPts val="283"/>
              </a:spcBef>
              <a:spcAft>
                <a:spcPts val="283"/>
              </a:spcAft>
              <a:buNone/>
              <a:tabLst>
                <a:tab algn="l" pos="0"/>
              </a:tabLst>
            </a:pPr>
            <a:r>
              <a:rPr b="0" lang="ru-RU" sz="15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Сначала в нуль последовательно обращаются элементы 1-го столбца, затем 2-го, и т.д. до N-1-го, после чего получившаяся матрица - это и есть матрица R. </a:t>
            </a:r>
            <a:endParaRPr b="0" lang="ru-RU" sz="1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15000"/>
              </a:lnSpc>
              <a:spcBef>
                <a:spcPts val="283"/>
              </a:spcBef>
              <a:spcAft>
                <a:spcPts val="283"/>
              </a:spcAft>
              <a:buNone/>
              <a:tabLst>
                <a:tab algn="l" pos="0"/>
              </a:tabLst>
            </a:pPr>
            <a:r>
              <a:rPr b="0" lang="ru-RU" sz="15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Сам шаг алгоритма распадается на две части: подбор параметра вращения и выполнение вращения над двумя строками матрицы.</a:t>
            </a:r>
            <a:endParaRPr b="0" lang="ru-RU" sz="1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15000"/>
              </a:lnSpc>
              <a:spcBef>
                <a:spcPts val="283"/>
              </a:spcBef>
              <a:spcAft>
                <a:spcPts val="283"/>
              </a:spcAft>
              <a:buNone/>
              <a:tabLst>
                <a:tab algn="l" pos="0"/>
              </a:tabLst>
            </a:pPr>
            <a:r>
              <a:rPr b="0" lang="ru-RU" sz="15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Для получения матрицы R матрицу A последовательно домножают слева на матрицы вращения G12, G13, …, G1n, G23, G24, …, G2n, …, GN-2,N, GN-1,N.</a:t>
            </a:r>
            <a:endParaRPr b="0" lang="ru-RU" sz="1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283"/>
              </a:spcBef>
              <a:spcAft>
                <a:spcPts val="283"/>
              </a:spcAft>
              <a:buNone/>
              <a:tabLst>
                <a:tab algn="l" pos="0"/>
              </a:tabLst>
            </a:pPr>
            <a:r>
              <a:rPr b="0" lang="ru-RU" sz="15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Calibri"/>
              </a:rPr>
              <a:t>Отсюда для получения матрицы </a:t>
            </a:r>
            <a:r>
              <a:rPr b="0" lang="en-US" sz="15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Calibri"/>
              </a:rPr>
              <a:t>Q </a:t>
            </a:r>
            <a:r>
              <a:rPr b="0" lang="ru-RU" sz="15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Calibri"/>
              </a:rPr>
              <a:t>необходимо последовательно перемножить все транспонированные матрицы вращения друг на друга справа.</a:t>
            </a:r>
            <a:endParaRPr b="0" lang="ru-RU" sz="1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15000"/>
              </a:lnSpc>
              <a:buNone/>
              <a:tabLst>
                <a:tab algn="l" pos="0"/>
              </a:tabLst>
            </a:pPr>
            <a:endParaRPr b="0" lang="ru-R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9" name="PlaceHolder 1"/>
          <p:cNvSpPr>
            <a:spLocks noGrp="1"/>
          </p:cNvSpPr>
          <p:nvPr>
            <p:ph type="sldImg"/>
          </p:nvPr>
        </p:nvSpPr>
        <p:spPr>
          <a:xfrm>
            <a:off x="216000" y="812520"/>
            <a:ext cx="7126920" cy="4008600"/>
          </a:xfrm>
          <a:prstGeom prst="rect">
            <a:avLst/>
          </a:prstGeom>
          <a:ln w="0">
            <a:noFill/>
          </a:ln>
        </p:spPr>
      </p:sp>
      <p:sp>
        <p:nvSpPr>
          <p:cNvPr id="350" name="PlaceHolder 2"/>
          <p:cNvSpPr>
            <a:spLocks noGrp="1"/>
          </p:cNvSpPr>
          <p:nvPr>
            <p:ph type="body"/>
          </p:nvPr>
        </p:nvSpPr>
        <p:spPr>
          <a:xfrm>
            <a:off x="0" y="5078520"/>
            <a:ext cx="6803280" cy="4810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indent="0">
              <a:lnSpc>
                <a:spcPct val="115000"/>
              </a:lnSpc>
              <a:spcBef>
                <a:spcPts val="283"/>
              </a:spcBef>
              <a:spcAft>
                <a:spcPts val="283"/>
              </a:spcAft>
              <a:buNone/>
              <a:tabLst>
                <a:tab algn="l" pos="0"/>
              </a:tabLst>
            </a:pPr>
            <a:r>
              <a:rPr b="0" lang="ru-RU" sz="15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Сначала в нуль последовательно обращаются элементы 1-го столбца, затем 2-го, и т.д. до N-1-го, после чего получившаяся матрица - это и есть матрица R. </a:t>
            </a:r>
            <a:endParaRPr b="0" lang="ru-RU" sz="1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15000"/>
              </a:lnSpc>
              <a:spcBef>
                <a:spcPts val="283"/>
              </a:spcBef>
              <a:spcAft>
                <a:spcPts val="283"/>
              </a:spcAft>
              <a:buNone/>
              <a:tabLst>
                <a:tab algn="l" pos="0"/>
              </a:tabLst>
            </a:pPr>
            <a:r>
              <a:rPr b="0" lang="ru-RU" sz="15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Сам шаг алгоритма распадается на две части: подбор параметра вращения и выполнение вращения над двумя строками матрицы.</a:t>
            </a:r>
            <a:endParaRPr b="0" lang="ru-RU" sz="1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15000"/>
              </a:lnSpc>
              <a:spcBef>
                <a:spcPts val="283"/>
              </a:spcBef>
              <a:spcAft>
                <a:spcPts val="283"/>
              </a:spcAft>
              <a:buNone/>
              <a:tabLst>
                <a:tab algn="l" pos="0"/>
              </a:tabLst>
            </a:pPr>
            <a:r>
              <a:rPr b="0" lang="ru-RU" sz="15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Для получения матрицы R матрицу A последовательно домножают слева на матрицы вращения G12, G13, …, G1n, G23, G24, …, G2n, …, GN-2,N, GN-1,N.</a:t>
            </a:r>
            <a:endParaRPr b="0" lang="ru-RU" sz="1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283"/>
              </a:spcBef>
              <a:spcAft>
                <a:spcPts val="283"/>
              </a:spcAft>
              <a:buNone/>
              <a:tabLst>
                <a:tab algn="l" pos="0"/>
              </a:tabLst>
            </a:pPr>
            <a:r>
              <a:rPr b="0" lang="ru-RU" sz="15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Calibri"/>
              </a:rPr>
              <a:t>Отсюда для получения матрицы </a:t>
            </a:r>
            <a:r>
              <a:rPr b="0" lang="en-US" sz="15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Calibri"/>
              </a:rPr>
              <a:t>Q </a:t>
            </a:r>
            <a:r>
              <a:rPr b="0" lang="ru-RU" sz="15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Calibri"/>
              </a:rPr>
              <a:t>необходимо последовательно перемножить все транспонированные матрицы вращения друг на друга справа.</a:t>
            </a:r>
            <a:endParaRPr b="0" lang="ru-RU" sz="1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15000"/>
              </a:lnSpc>
              <a:buNone/>
              <a:tabLst>
                <a:tab algn="l" pos="0"/>
              </a:tabLst>
            </a:pPr>
            <a:endParaRPr b="0" lang="ru-R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PlaceHolder 1"/>
          <p:cNvSpPr>
            <a:spLocks noGrp="1"/>
          </p:cNvSpPr>
          <p:nvPr>
            <p:ph type="sldImg"/>
          </p:nvPr>
        </p:nvSpPr>
        <p:spPr>
          <a:xfrm>
            <a:off x="216000" y="812520"/>
            <a:ext cx="7126920" cy="4008600"/>
          </a:xfrm>
          <a:prstGeom prst="rect">
            <a:avLst/>
          </a:prstGeom>
          <a:ln w="0">
            <a:noFill/>
          </a:ln>
        </p:spPr>
      </p:sp>
      <p:sp>
        <p:nvSpPr>
          <p:cNvPr id="352" name="PlaceHolder 2"/>
          <p:cNvSpPr>
            <a:spLocks noGrp="1"/>
          </p:cNvSpPr>
          <p:nvPr>
            <p:ph type="body"/>
          </p:nvPr>
        </p:nvSpPr>
        <p:spPr>
          <a:xfrm>
            <a:off x="0" y="5078520"/>
            <a:ext cx="6803280" cy="4810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indent="0">
              <a:lnSpc>
                <a:spcPct val="115000"/>
              </a:lnSpc>
              <a:spcBef>
                <a:spcPts val="283"/>
              </a:spcBef>
              <a:spcAft>
                <a:spcPts val="283"/>
              </a:spcAft>
              <a:buNone/>
              <a:tabLst>
                <a:tab algn="l" pos="0"/>
              </a:tabLst>
            </a:pPr>
            <a:r>
              <a:rPr b="0" lang="ru-RU" sz="15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Сначала в нуль последовательно обращаются элементы 1-го столбца, затем 2-го, и т.д. до N-1-го, после чего получившаяся матрица - это и есть матрица R. </a:t>
            </a:r>
            <a:endParaRPr b="0" lang="ru-RU" sz="1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15000"/>
              </a:lnSpc>
              <a:spcBef>
                <a:spcPts val="283"/>
              </a:spcBef>
              <a:spcAft>
                <a:spcPts val="283"/>
              </a:spcAft>
              <a:buNone/>
              <a:tabLst>
                <a:tab algn="l" pos="0"/>
              </a:tabLst>
            </a:pPr>
            <a:r>
              <a:rPr b="0" lang="ru-RU" sz="15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Сам шаг алгоритма распадается на две части: подбор параметра вращения и выполнение вращения над двумя строками матрицы.</a:t>
            </a:r>
            <a:endParaRPr b="0" lang="ru-RU" sz="1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15000"/>
              </a:lnSpc>
              <a:spcBef>
                <a:spcPts val="283"/>
              </a:spcBef>
              <a:spcAft>
                <a:spcPts val="283"/>
              </a:spcAft>
              <a:buNone/>
              <a:tabLst>
                <a:tab algn="l" pos="0"/>
              </a:tabLst>
            </a:pPr>
            <a:r>
              <a:rPr b="0" lang="ru-RU" sz="15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Для получения матрицы R матрицу A последовательно домножают слева на матрицы вращения G12, G13, …, G1n, G23, G24, …, G2n, …, GN-2,N, GN-1,N.</a:t>
            </a:r>
            <a:endParaRPr b="0" lang="ru-RU" sz="1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283"/>
              </a:spcBef>
              <a:spcAft>
                <a:spcPts val="283"/>
              </a:spcAft>
              <a:buNone/>
              <a:tabLst>
                <a:tab algn="l" pos="0"/>
              </a:tabLst>
            </a:pPr>
            <a:r>
              <a:rPr b="0" lang="ru-RU" sz="15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Calibri"/>
              </a:rPr>
              <a:t>Отсюда для получения матрицы </a:t>
            </a:r>
            <a:r>
              <a:rPr b="0" lang="en-US" sz="15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Calibri"/>
              </a:rPr>
              <a:t>Q </a:t>
            </a:r>
            <a:r>
              <a:rPr b="0" lang="ru-RU" sz="15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Calibri"/>
              </a:rPr>
              <a:t>необходимо последовательно перемножить все транспонированные матрицы вращения друг на друга справа.</a:t>
            </a:r>
            <a:endParaRPr b="0" lang="ru-RU" sz="1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15000"/>
              </a:lnSpc>
              <a:buNone/>
              <a:tabLst>
                <a:tab algn="l" pos="0"/>
              </a:tabLst>
            </a:pPr>
            <a:endParaRPr b="0" lang="ru-R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3" name="PlaceHolder 1"/>
          <p:cNvSpPr>
            <a:spLocks noGrp="1"/>
          </p:cNvSpPr>
          <p:nvPr>
            <p:ph type="sldImg"/>
          </p:nvPr>
        </p:nvSpPr>
        <p:spPr>
          <a:xfrm>
            <a:off x="216000" y="812520"/>
            <a:ext cx="7126920" cy="4008600"/>
          </a:xfrm>
          <a:prstGeom prst="rect">
            <a:avLst/>
          </a:prstGeom>
          <a:ln w="0">
            <a:noFill/>
          </a:ln>
        </p:spPr>
      </p:sp>
      <p:sp>
        <p:nvSpPr>
          <p:cNvPr id="354" name="PlaceHolder 2"/>
          <p:cNvSpPr>
            <a:spLocks noGrp="1"/>
          </p:cNvSpPr>
          <p:nvPr>
            <p:ph type="body"/>
          </p:nvPr>
        </p:nvSpPr>
        <p:spPr>
          <a:xfrm>
            <a:off x="0" y="5078520"/>
            <a:ext cx="6803280" cy="4810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indent="0">
              <a:lnSpc>
                <a:spcPct val="115000"/>
              </a:lnSpc>
              <a:spcBef>
                <a:spcPts val="283"/>
              </a:spcBef>
              <a:spcAft>
                <a:spcPts val="283"/>
              </a:spcAft>
              <a:buNone/>
              <a:tabLst>
                <a:tab algn="l" pos="0"/>
              </a:tabLst>
            </a:pPr>
            <a:r>
              <a:rPr b="0" lang="ru-RU" sz="15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Сначала в нуль последовательно обращаются элементы 1-го столбца, затем 2-го, и т.д. до N-1-го, после чего получившаяся матрица - это и есть матрица R. </a:t>
            </a:r>
            <a:endParaRPr b="0" lang="ru-RU" sz="1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15000"/>
              </a:lnSpc>
              <a:spcBef>
                <a:spcPts val="283"/>
              </a:spcBef>
              <a:spcAft>
                <a:spcPts val="283"/>
              </a:spcAft>
              <a:buNone/>
              <a:tabLst>
                <a:tab algn="l" pos="0"/>
              </a:tabLst>
            </a:pPr>
            <a:r>
              <a:rPr b="0" lang="ru-RU" sz="15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Сам шаг алгоритма распадается на две части: подбор параметра вращения и выполнение вращения над двумя строками матрицы.</a:t>
            </a:r>
            <a:endParaRPr b="0" lang="ru-RU" sz="1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15000"/>
              </a:lnSpc>
              <a:spcBef>
                <a:spcPts val="283"/>
              </a:spcBef>
              <a:spcAft>
                <a:spcPts val="283"/>
              </a:spcAft>
              <a:buNone/>
              <a:tabLst>
                <a:tab algn="l" pos="0"/>
              </a:tabLst>
            </a:pPr>
            <a:r>
              <a:rPr b="0" lang="ru-RU" sz="15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Для получения матрицы R матрицу A последовательно домножают слева на матрицы вращения G12, G13, …, G1n, G23, G24, …, G2n, …, GN-2,N, GN-1,N.</a:t>
            </a:r>
            <a:endParaRPr b="0" lang="ru-RU" sz="1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283"/>
              </a:spcBef>
              <a:spcAft>
                <a:spcPts val="283"/>
              </a:spcAft>
              <a:buNone/>
              <a:tabLst>
                <a:tab algn="l" pos="0"/>
              </a:tabLst>
            </a:pPr>
            <a:r>
              <a:rPr b="0" lang="ru-RU" sz="15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Calibri"/>
              </a:rPr>
              <a:t>Отсюда для получения матрицы </a:t>
            </a:r>
            <a:r>
              <a:rPr b="0" lang="en-US" sz="15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Calibri"/>
              </a:rPr>
              <a:t>Q </a:t>
            </a:r>
            <a:r>
              <a:rPr b="0" lang="ru-RU" sz="15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Calibri"/>
              </a:rPr>
              <a:t>необходимо последовательно перемножить все транспонированные матрицы вращения друг на друга справа.</a:t>
            </a:r>
            <a:endParaRPr b="0" lang="ru-RU" sz="1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15000"/>
              </a:lnSpc>
              <a:buNone/>
              <a:tabLst>
                <a:tab algn="l" pos="0"/>
              </a:tabLst>
            </a:pPr>
            <a:endParaRPr b="0" lang="ru-R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5" name="PlaceHolder 1"/>
          <p:cNvSpPr>
            <a:spLocks noGrp="1"/>
          </p:cNvSpPr>
          <p:nvPr>
            <p:ph type="sldImg"/>
          </p:nvPr>
        </p:nvSpPr>
        <p:spPr>
          <a:xfrm>
            <a:off x="216000" y="812520"/>
            <a:ext cx="7126920" cy="4008600"/>
          </a:xfrm>
          <a:prstGeom prst="rect">
            <a:avLst/>
          </a:prstGeom>
          <a:ln w="0">
            <a:noFill/>
          </a:ln>
        </p:spPr>
      </p:sp>
      <p:sp>
        <p:nvSpPr>
          <p:cNvPr id="356" name="PlaceHolder 2"/>
          <p:cNvSpPr>
            <a:spLocks noGrp="1"/>
          </p:cNvSpPr>
          <p:nvPr>
            <p:ph type="body"/>
          </p:nvPr>
        </p:nvSpPr>
        <p:spPr>
          <a:xfrm>
            <a:off x="0" y="5078520"/>
            <a:ext cx="6803280" cy="4810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indent="0">
              <a:buNone/>
            </a:pPr>
            <a:r>
              <a:rPr b="0" lang="ru-RU" sz="1500" strike="noStrike" u="none">
                <a:solidFill>
                  <a:srgbClr val="000000"/>
                </a:solidFill>
                <a:effectLst/>
                <a:uFillTx/>
                <a:latin typeface="Times New Roman;serif"/>
                <a:ea typeface="Times New Roman;serif"/>
              </a:rPr>
              <a:t>Видно, что моя реализация </a:t>
            </a:r>
            <a:r>
              <a:rPr b="0" lang="en-US" sz="1500" strike="noStrike" u="none">
                <a:solidFill>
                  <a:srgbClr val="000000"/>
                </a:solidFill>
                <a:effectLst/>
                <a:uFillTx/>
                <a:latin typeface="Times New Roman;serif"/>
                <a:ea typeface="Times New Roman;serif"/>
              </a:rPr>
              <a:t>QR-</a:t>
            </a:r>
            <a:r>
              <a:rPr b="0" lang="ru-RU" sz="1500" strike="noStrike" u="none">
                <a:solidFill>
                  <a:srgbClr val="000000"/>
                </a:solidFill>
                <a:effectLst/>
                <a:uFillTx/>
                <a:latin typeface="Times New Roman;serif"/>
                <a:ea typeface="Times New Roman;serif"/>
              </a:rPr>
              <a:t>разложения методом вращений Гивенса решила задачу </a:t>
            </a:r>
            <a:r>
              <a:rPr b="0" lang="en-US" sz="1500" strike="noStrike" u="none">
                <a:solidFill>
                  <a:srgbClr val="000000"/>
                </a:solidFill>
                <a:effectLst/>
                <a:uFillTx/>
                <a:latin typeface="Times New Roman;serif"/>
                <a:ea typeface="Times New Roman;serif"/>
              </a:rPr>
              <a:t>QR-</a:t>
            </a:r>
            <a:r>
              <a:rPr b="0" lang="ru-RU" sz="1500" strike="noStrike" u="none">
                <a:solidFill>
                  <a:srgbClr val="000000"/>
                </a:solidFill>
                <a:effectLst/>
                <a:uFillTx/>
                <a:latin typeface="Times New Roman;serif"/>
                <a:ea typeface="Times New Roman;serif"/>
              </a:rPr>
              <a:t>разложения верхней хессенберговой матрицы быстрее, так как, по-видимому, </a:t>
            </a:r>
            <a:r>
              <a:rPr b="0" lang="en-US" sz="1500" strike="noStrike" u="none">
                <a:solidFill>
                  <a:srgbClr val="000000"/>
                </a:solidFill>
                <a:effectLst/>
                <a:uFillTx/>
                <a:latin typeface="Times New Roman;serif"/>
                <a:ea typeface="Times New Roman;serif"/>
              </a:rPr>
              <a:t>SciLab </a:t>
            </a:r>
            <a:r>
              <a:rPr b="0" lang="ru-RU" sz="1500" strike="noStrike" u="none">
                <a:solidFill>
                  <a:srgbClr val="000000"/>
                </a:solidFill>
                <a:effectLst/>
                <a:uFillTx/>
                <a:latin typeface="Times New Roman;serif"/>
                <a:ea typeface="Times New Roman;serif"/>
              </a:rPr>
              <a:t>использует метод отражений Хаусхолдера, который не может игнорировать отдельно стоящие пустые значения в столбцах, а вынужден производить отражение и занулять весь столбец целиком, даже не смотря на то, что в нём всего один значащий элемент.</a:t>
            </a:r>
            <a:endParaRPr b="0" lang="ru-RU" sz="1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buNone/>
            </a:pPr>
            <a:endParaRPr b="0" lang="ru-RU" sz="1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buNone/>
            </a:pPr>
            <a:endParaRPr b="0" lang="ru-RU" sz="1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note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Пустой слайд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dt" idx="1"/>
          </p:nvPr>
        </p:nvSpPr>
        <p:spPr>
          <a:xfrm>
            <a:off x="8380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b="0" lang="ru-RU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ru-RU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&lt;дата/время&gt;</a:t>
            </a:r>
            <a:endParaRPr b="0" lang="ru-RU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ftr" idx="2"/>
          </p:nvPr>
        </p:nvSpPr>
        <p:spPr>
          <a:xfrm>
            <a:off x="4038480" y="6356520"/>
            <a:ext cx="411408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ru-RU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ru-RU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&lt;нижний колонтитул&gt;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" name="PlaceHolder 3"/>
          <p:cNvSpPr>
            <a:spLocks noGrp="1"/>
          </p:cNvSpPr>
          <p:nvPr>
            <p:ph type="sldNum" idx="3"/>
          </p:nvPr>
        </p:nvSpPr>
        <p:spPr>
          <a:xfrm>
            <a:off x="86104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ru-RU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77B21B72-2D1F-41DB-B550-E96484D85626}" type="slidenum">
              <a:rPr b="0" lang="ru-RU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&lt;номер&gt;</a:t>
            </a:fld>
            <a:endParaRPr b="0" lang="ru-RU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Объект с подписью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laceHolder 1"/>
          <p:cNvSpPr>
            <a:spLocks noGrp="1"/>
          </p:cNvSpPr>
          <p:nvPr>
            <p:ph type="title"/>
          </p:nvPr>
        </p:nvSpPr>
        <p:spPr>
          <a:xfrm>
            <a:off x="839880" y="457200"/>
            <a:ext cx="3931560" cy="1599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ru-RU" sz="3200" strike="noStrike" u="none">
                <a:solidFill>
                  <a:schemeClr val="dk1"/>
                </a:solidFill>
                <a:effectLst/>
                <a:uFillTx/>
                <a:latin typeface="Calibri Light"/>
              </a:rPr>
              <a:t>Образец заголовка</a:t>
            </a:r>
            <a:endParaRPr b="0" lang="ru-RU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2"/>
          <p:cNvSpPr>
            <a:spLocks noGrp="1"/>
          </p:cNvSpPr>
          <p:nvPr>
            <p:ph type="body"/>
          </p:nvPr>
        </p:nvSpPr>
        <p:spPr>
          <a:xfrm>
            <a:off x="5183280" y="987480"/>
            <a:ext cx="6171480" cy="4872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ru-RU" sz="32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Образец текста</a:t>
            </a:r>
            <a:endParaRPr b="0" lang="ru-RU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ru-RU" sz="2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Второй уровень</a:t>
            </a:r>
            <a:endParaRPr b="0" lang="ru-RU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1430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ru-RU" sz="2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Третий уровень</a:t>
            </a:r>
            <a:endParaRPr b="0" lang="ru-RU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6002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ru-RU" sz="20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Четвертый уровень</a:t>
            </a:r>
            <a:endParaRPr b="0" lang="ru-R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0574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ru-RU" sz="20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Пятый уровень</a:t>
            </a:r>
            <a:endParaRPr b="0" lang="ru-R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" name="PlaceHolder 3"/>
          <p:cNvSpPr>
            <a:spLocks noGrp="1"/>
          </p:cNvSpPr>
          <p:nvPr>
            <p:ph type="body"/>
          </p:nvPr>
        </p:nvSpPr>
        <p:spPr>
          <a:xfrm>
            <a:off x="839880" y="2057400"/>
            <a:ext cx="3931560" cy="3810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ru-RU" sz="16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Образец текста</a:t>
            </a:r>
            <a:endParaRPr b="0" lang="ru-RU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" name="PlaceHolder 4"/>
          <p:cNvSpPr>
            <a:spLocks noGrp="1"/>
          </p:cNvSpPr>
          <p:nvPr>
            <p:ph type="dt" idx="4"/>
          </p:nvPr>
        </p:nvSpPr>
        <p:spPr>
          <a:xfrm>
            <a:off x="8380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b="0" lang="ru-RU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ru-RU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&lt;дата/время&gt;</a:t>
            </a:r>
            <a:endParaRPr b="0" lang="ru-RU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" name="PlaceHolder 5"/>
          <p:cNvSpPr>
            <a:spLocks noGrp="1"/>
          </p:cNvSpPr>
          <p:nvPr>
            <p:ph type="ftr" idx="5"/>
          </p:nvPr>
        </p:nvSpPr>
        <p:spPr>
          <a:xfrm>
            <a:off x="4038480" y="6356520"/>
            <a:ext cx="411408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ru-RU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ru-RU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&lt;нижний колонтитул&gt;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" name="PlaceHolder 6"/>
          <p:cNvSpPr>
            <a:spLocks noGrp="1"/>
          </p:cNvSpPr>
          <p:nvPr>
            <p:ph type="sldNum" idx="6"/>
          </p:nvPr>
        </p:nvSpPr>
        <p:spPr>
          <a:xfrm>
            <a:off x="86104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ru-RU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6594288D-4BEA-45D9-902B-38417C22D04B}" type="slidenum">
              <a:rPr b="0" lang="ru-RU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&lt;номер&gt;</a:t>
            </a:fld>
            <a:endParaRPr b="0" lang="ru-RU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Рисунок с подписью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laceHolder 1"/>
          <p:cNvSpPr>
            <a:spLocks noGrp="1"/>
          </p:cNvSpPr>
          <p:nvPr>
            <p:ph type="title"/>
          </p:nvPr>
        </p:nvSpPr>
        <p:spPr>
          <a:xfrm>
            <a:off x="839880" y="457200"/>
            <a:ext cx="3931560" cy="1599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ru-RU" sz="3200" strike="noStrike" u="none">
                <a:solidFill>
                  <a:schemeClr val="dk1"/>
                </a:solidFill>
                <a:effectLst/>
                <a:uFillTx/>
                <a:latin typeface="Calibri Light"/>
              </a:rPr>
              <a:t>Образец заголовка</a:t>
            </a:r>
            <a:endParaRPr b="0" lang="ru-RU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" name="PlaceHolder 2"/>
          <p:cNvSpPr>
            <a:spLocks noGrp="1"/>
          </p:cNvSpPr>
          <p:nvPr>
            <p:ph type="body"/>
          </p:nvPr>
        </p:nvSpPr>
        <p:spPr>
          <a:xfrm>
            <a:off x="5183280" y="987480"/>
            <a:ext cx="6171480" cy="48729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 marL="432000" indent="-3240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32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Для правки структуры щёлкните мышью</a:t>
            </a:r>
            <a:endParaRPr b="0" lang="ru-RU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32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Второй уровень структуры</a:t>
            </a:r>
            <a:endParaRPr b="0" lang="ru-RU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32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Третий уровень структуры</a:t>
            </a:r>
            <a:endParaRPr b="0" lang="ru-RU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32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Четвёртый уровень структуры</a:t>
            </a:r>
            <a:endParaRPr b="0" lang="ru-RU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32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Пятый уровень структуры</a:t>
            </a:r>
            <a:endParaRPr b="0" lang="ru-RU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32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Шестой уровень структуры</a:t>
            </a:r>
            <a:endParaRPr b="0" lang="ru-RU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32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Седьмой уровень структуры</a:t>
            </a:r>
            <a:endParaRPr b="0" lang="ru-RU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" name="PlaceHolder 3"/>
          <p:cNvSpPr>
            <a:spLocks noGrp="1"/>
          </p:cNvSpPr>
          <p:nvPr>
            <p:ph type="body"/>
          </p:nvPr>
        </p:nvSpPr>
        <p:spPr>
          <a:xfrm>
            <a:off x="839880" y="2057400"/>
            <a:ext cx="3931560" cy="3810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ru-RU" sz="16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Образец текста</a:t>
            </a:r>
            <a:endParaRPr b="0" lang="ru-RU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" name="PlaceHolder 4"/>
          <p:cNvSpPr>
            <a:spLocks noGrp="1"/>
          </p:cNvSpPr>
          <p:nvPr>
            <p:ph type="dt" idx="7"/>
          </p:nvPr>
        </p:nvSpPr>
        <p:spPr>
          <a:xfrm>
            <a:off x="8380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b="0" lang="ru-RU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ru-RU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&lt;дата/время&gt;</a:t>
            </a:r>
            <a:endParaRPr b="0" lang="ru-RU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" name="PlaceHolder 5"/>
          <p:cNvSpPr>
            <a:spLocks noGrp="1"/>
          </p:cNvSpPr>
          <p:nvPr>
            <p:ph type="ftr" idx="8"/>
          </p:nvPr>
        </p:nvSpPr>
        <p:spPr>
          <a:xfrm>
            <a:off x="4038480" y="6356520"/>
            <a:ext cx="411408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ru-RU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ru-RU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&lt;нижний колонтитул&gt;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" name="PlaceHolder 6"/>
          <p:cNvSpPr>
            <a:spLocks noGrp="1"/>
          </p:cNvSpPr>
          <p:nvPr>
            <p:ph type="sldNum" idx="9"/>
          </p:nvPr>
        </p:nvSpPr>
        <p:spPr>
          <a:xfrm>
            <a:off x="86104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ru-RU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F6B7F919-B200-4759-A062-F356E57B7026}" type="slidenum">
              <a:rPr b="0" lang="ru-RU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&lt;номер&gt;</a:t>
            </a:fld>
            <a:endParaRPr b="0" lang="ru-RU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Титульный слайд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PlaceHolder 1"/>
          <p:cNvSpPr>
            <a:spLocks noGrp="1"/>
          </p:cNvSpPr>
          <p:nvPr>
            <p:ph type="title"/>
          </p:nvPr>
        </p:nvSpPr>
        <p:spPr>
          <a:xfrm>
            <a:off x="1523880" y="1122480"/>
            <a:ext cx="9143280" cy="2386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algn="ctr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ru-RU" sz="6000" strike="noStrike" u="none">
                <a:solidFill>
                  <a:schemeClr val="dk1"/>
                </a:solidFill>
                <a:effectLst/>
                <a:uFillTx/>
                <a:latin typeface="Calibri Light"/>
              </a:rPr>
              <a:t>Образец заголовка</a:t>
            </a:r>
            <a:endParaRPr b="0" lang="ru-RU" sz="6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" name="PlaceHolder 2"/>
          <p:cNvSpPr>
            <a:spLocks noGrp="1"/>
          </p:cNvSpPr>
          <p:nvPr>
            <p:ph type="dt" idx="10"/>
          </p:nvPr>
        </p:nvSpPr>
        <p:spPr>
          <a:xfrm>
            <a:off x="8380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b="0" lang="ru-RU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ru-RU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&lt;дата/время&gt;</a:t>
            </a:r>
            <a:endParaRPr b="0" lang="ru-RU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7" name="PlaceHolder 3"/>
          <p:cNvSpPr>
            <a:spLocks noGrp="1"/>
          </p:cNvSpPr>
          <p:nvPr>
            <p:ph type="ftr" idx="11"/>
          </p:nvPr>
        </p:nvSpPr>
        <p:spPr>
          <a:xfrm>
            <a:off x="4038480" y="6356520"/>
            <a:ext cx="411408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ru-RU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ru-RU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&lt;нижний колонтитул&gt;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8" name="PlaceHolder 4"/>
          <p:cNvSpPr>
            <a:spLocks noGrp="1"/>
          </p:cNvSpPr>
          <p:nvPr>
            <p:ph type="sldNum" idx="12"/>
          </p:nvPr>
        </p:nvSpPr>
        <p:spPr>
          <a:xfrm>
            <a:off x="86104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ru-RU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B56F2046-9EA5-41F6-8B4F-A90421BC2F12}" type="slidenum">
              <a:rPr b="0" lang="ru-RU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&lt;номер&gt;</a:t>
            </a:fld>
            <a:endParaRPr b="0" lang="ru-RU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x" preserve="1">
  <p:cSld name="Заголовок и вертикальный текст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880" cy="1324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ru-RU" sz="4400" strike="noStrike" u="none">
                <a:solidFill>
                  <a:schemeClr val="dk1"/>
                </a:solidFill>
                <a:effectLst/>
                <a:uFillTx/>
                <a:latin typeface="Calibri Light"/>
              </a:rPr>
              <a:t>Образец заголовка</a:t>
            </a:r>
            <a:endParaRPr b="0" lang="ru-RU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" name="PlaceHolder 2"/>
          <p:cNvSpPr>
            <a:spLocks noGrp="1"/>
          </p:cNvSpPr>
          <p:nvPr>
            <p:ph type="body"/>
          </p:nvPr>
        </p:nvSpPr>
        <p:spPr>
          <a:xfrm>
            <a:off x="838080" y="1825560"/>
            <a:ext cx="10514880" cy="4350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 vert="eaVert">
            <a:no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ru-RU" sz="2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Образец текста</a:t>
            </a:r>
            <a:endParaRPr b="0" lang="ru-RU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ru-RU" sz="2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Второй уровень</a:t>
            </a:r>
            <a:endParaRPr b="0" lang="ru-RU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1430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ru-RU" sz="20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Третий уровень</a:t>
            </a:r>
            <a:endParaRPr b="0" lang="ru-R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6002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ru-RU" sz="1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Четвертый уровень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0574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ru-RU" sz="1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Пятый уровень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" name="PlaceHolder 3"/>
          <p:cNvSpPr>
            <a:spLocks noGrp="1"/>
          </p:cNvSpPr>
          <p:nvPr>
            <p:ph type="dt" idx="13"/>
          </p:nvPr>
        </p:nvSpPr>
        <p:spPr>
          <a:xfrm>
            <a:off x="8380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b="0" lang="ru-RU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ru-RU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&lt;дата/время&gt;</a:t>
            </a:r>
            <a:endParaRPr b="0" lang="ru-RU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2" name="PlaceHolder 4"/>
          <p:cNvSpPr>
            <a:spLocks noGrp="1"/>
          </p:cNvSpPr>
          <p:nvPr>
            <p:ph type="ftr" idx="14"/>
          </p:nvPr>
        </p:nvSpPr>
        <p:spPr>
          <a:xfrm>
            <a:off x="4038480" y="6356520"/>
            <a:ext cx="411408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ru-RU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ru-RU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&lt;нижний колонтитул&gt;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3" name="PlaceHolder 5"/>
          <p:cNvSpPr>
            <a:spLocks noGrp="1"/>
          </p:cNvSpPr>
          <p:nvPr>
            <p:ph type="sldNum" idx="15"/>
          </p:nvPr>
        </p:nvSpPr>
        <p:spPr>
          <a:xfrm>
            <a:off x="86104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ru-RU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CFF8A1FE-AF6C-4323-9E48-1AB7112CA57F}" type="slidenum">
              <a:rPr b="0" lang="ru-RU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&lt;номер&gt;</a:t>
            </a:fld>
            <a:endParaRPr b="0" lang="ru-RU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itleAndTx" preserve="1">
  <p:cSld name="Вертикальный заголовок и текст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PlaceHolder 1"/>
          <p:cNvSpPr>
            <a:spLocks noGrp="1"/>
          </p:cNvSpPr>
          <p:nvPr>
            <p:ph type="title"/>
          </p:nvPr>
        </p:nvSpPr>
        <p:spPr>
          <a:xfrm>
            <a:off x="8724960" y="365040"/>
            <a:ext cx="2628360" cy="5811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 vert="eaVert">
            <a:noAutofit/>
          </a:bodyPr>
          <a:p>
            <a:pPr indent="0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ru-RU" sz="4400" strike="noStrike" u="none">
                <a:solidFill>
                  <a:schemeClr val="dk1"/>
                </a:solidFill>
                <a:effectLst/>
                <a:uFillTx/>
                <a:latin typeface="Calibri Light"/>
              </a:rPr>
              <a:t>Образец заголовка</a:t>
            </a:r>
            <a:endParaRPr b="0" lang="ru-RU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" name="PlaceHolder 2"/>
          <p:cNvSpPr>
            <a:spLocks noGrp="1"/>
          </p:cNvSpPr>
          <p:nvPr>
            <p:ph type="body"/>
          </p:nvPr>
        </p:nvSpPr>
        <p:spPr>
          <a:xfrm>
            <a:off x="838080" y="365040"/>
            <a:ext cx="7733520" cy="5811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 vert="eaVert">
            <a:no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ru-RU" sz="2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Образец текста</a:t>
            </a:r>
            <a:endParaRPr b="0" lang="ru-RU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ru-RU" sz="2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Второй уровень</a:t>
            </a:r>
            <a:endParaRPr b="0" lang="ru-RU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1430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ru-RU" sz="20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Третий уровень</a:t>
            </a:r>
            <a:endParaRPr b="0" lang="ru-R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6002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ru-RU" sz="1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Четвертый уровень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0574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ru-RU" sz="1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Пятый уровень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" name="PlaceHolder 3"/>
          <p:cNvSpPr>
            <a:spLocks noGrp="1"/>
          </p:cNvSpPr>
          <p:nvPr>
            <p:ph type="dt" idx="16"/>
          </p:nvPr>
        </p:nvSpPr>
        <p:spPr>
          <a:xfrm>
            <a:off x="8380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b="0" lang="ru-RU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ru-RU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&lt;дата/время&gt;</a:t>
            </a:r>
            <a:endParaRPr b="0" lang="ru-RU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7" name="PlaceHolder 4"/>
          <p:cNvSpPr>
            <a:spLocks noGrp="1"/>
          </p:cNvSpPr>
          <p:nvPr>
            <p:ph type="ftr" idx="17"/>
          </p:nvPr>
        </p:nvSpPr>
        <p:spPr>
          <a:xfrm>
            <a:off x="4038480" y="6356520"/>
            <a:ext cx="411408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ru-RU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ru-RU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&lt;нижний колонтитул&gt;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8" name="PlaceHolder 5"/>
          <p:cNvSpPr>
            <a:spLocks noGrp="1"/>
          </p:cNvSpPr>
          <p:nvPr>
            <p:ph type="sldNum" idx="18"/>
          </p:nvPr>
        </p:nvSpPr>
        <p:spPr>
          <a:xfrm>
            <a:off x="86104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ru-RU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27D3703F-620F-456F-9C7A-1328BAE787A8}" type="slidenum">
              <a:rPr b="0" lang="ru-RU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&lt;номер&gt;</a:t>
            </a:fld>
            <a:endParaRPr b="0" lang="ru-RU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Заголовок и объект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880" cy="1324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ru-RU" sz="4400" strike="noStrike" u="none">
                <a:solidFill>
                  <a:schemeClr val="dk1"/>
                </a:solidFill>
                <a:effectLst/>
                <a:uFillTx/>
                <a:latin typeface="Calibri Light"/>
              </a:rPr>
              <a:t>Образец заголовка</a:t>
            </a:r>
            <a:endParaRPr b="0" lang="ru-RU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" name="PlaceHolder 2"/>
          <p:cNvSpPr>
            <a:spLocks noGrp="1"/>
          </p:cNvSpPr>
          <p:nvPr>
            <p:ph type="body"/>
          </p:nvPr>
        </p:nvSpPr>
        <p:spPr>
          <a:xfrm>
            <a:off x="838080" y="1825560"/>
            <a:ext cx="10514880" cy="4350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ru-RU" sz="2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Образец текста</a:t>
            </a:r>
            <a:endParaRPr b="0" lang="ru-RU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ru-RU" sz="2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Второй уровень</a:t>
            </a:r>
            <a:endParaRPr b="0" lang="ru-RU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1430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ru-RU" sz="20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Третий уровень</a:t>
            </a:r>
            <a:endParaRPr b="0" lang="ru-R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6002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ru-RU" sz="1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Четвертый уровень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0574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ru-RU" sz="1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Пятый уровень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" name="PlaceHolder 3"/>
          <p:cNvSpPr>
            <a:spLocks noGrp="1"/>
          </p:cNvSpPr>
          <p:nvPr>
            <p:ph type="dt" idx="19"/>
          </p:nvPr>
        </p:nvSpPr>
        <p:spPr>
          <a:xfrm>
            <a:off x="8380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b="0" lang="ru-RU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ru-RU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&lt;дата/время&gt;</a:t>
            </a:r>
            <a:endParaRPr b="0" lang="ru-RU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2" name="PlaceHolder 4"/>
          <p:cNvSpPr>
            <a:spLocks noGrp="1"/>
          </p:cNvSpPr>
          <p:nvPr>
            <p:ph type="ftr" idx="20"/>
          </p:nvPr>
        </p:nvSpPr>
        <p:spPr>
          <a:xfrm>
            <a:off x="4038480" y="6356520"/>
            <a:ext cx="411408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ru-RU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ru-RU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&lt;нижний колонтитул&gt;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3" name="PlaceHolder 5"/>
          <p:cNvSpPr>
            <a:spLocks noGrp="1"/>
          </p:cNvSpPr>
          <p:nvPr>
            <p:ph type="sldNum" idx="21"/>
          </p:nvPr>
        </p:nvSpPr>
        <p:spPr>
          <a:xfrm>
            <a:off x="86104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ru-RU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7088D66C-5759-45C9-BB18-94BC01FC584D}" type="slidenum">
              <a:rPr b="0" lang="ru-RU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&lt;номер&gt;</a:t>
            </a:fld>
            <a:endParaRPr b="0" lang="ru-RU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Заголовок раздела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PlaceHolder 1"/>
          <p:cNvSpPr>
            <a:spLocks noGrp="1"/>
          </p:cNvSpPr>
          <p:nvPr>
            <p:ph type="title"/>
          </p:nvPr>
        </p:nvSpPr>
        <p:spPr>
          <a:xfrm>
            <a:off x="831960" y="1709640"/>
            <a:ext cx="10514880" cy="2851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ru-RU" sz="6000" strike="noStrike" u="none">
                <a:solidFill>
                  <a:schemeClr val="dk1"/>
                </a:solidFill>
                <a:effectLst/>
                <a:uFillTx/>
                <a:latin typeface="Calibri Light"/>
              </a:rPr>
              <a:t>Образец заголовка</a:t>
            </a:r>
            <a:endParaRPr b="0" lang="ru-RU" sz="6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" name="PlaceHolder 2"/>
          <p:cNvSpPr>
            <a:spLocks noGrp="1"/>
          </p:cNvSpPr>
          <p:nvPr>
            <p:ph type="body"/>
          </p:nvPr>
        </p:nvSpPr>
        <p:spPr>
          <a:xfrm>
            <a:off x="831960" y="4589640"/>
            <a:ext cx="10514880" cy="14994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ru-RU" sz="24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Образец текста</a:t>
            </a:r>
            <a:endParaRPr b="0" lang="ru-RU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" name="PlaceHolder 3"/>
          <p:cNvSpPr>
            <a:spLocks noGrp="1"/>
          </p:cNvSpPr>
          <p:nvPr>
            <p:ph type="dt" idx="22"/>
          </p:nvPr>
        </p:nvSpPr>
        <p:spPr>
          <a:xfrm>
            <a:off x="8380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b="0" lang="ru-RU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ru-RU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&lt;дата/время&gt;</a:t>
            </a:r>
            <a:endParaRPr b="0" lang="ru-RU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7" name="PlaceHolder 4"/>
          <p:cNvSpPr>
            <a:spLocks noGrp="1"/>
          </p:cNvSpPr>
          <p:nvPr>
            <p:ph type="ftr" idx="23"/>
          </p:nvPr>
        </p:nvSpPr>
        <p:spPr>
          <a:xfrm>
            <a:off x="4038480" y="6356520"/>
            <a:ext cx="411408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ru-RU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ru-RU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&lt;нижний колонтитул&gt;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8" name="PlaceHolder 5"/>
          <p:cNvSpPr>
            <a:spLocks noGrp="1"/>
          </p:cNvSpPr>
          <p:nvPr>
            <p:ph type="sldNum" idx="24"/>
          </p:nvPr>
        </p:nvSpPr>
        <p:spPr>
          <a:xfrm>
            <a:off x="86104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ru-RU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4722EA4C-A0F8-4459-AC65-986D74FDC0B8}" type="slidenum">
              <a:rPr b="0" lang="ru-RU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&lt;номер&gt;</a:t>
            </a:fld>
            <a:endParaRPr b="0" lang="ru-RU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Два объекта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880" cy="1324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ru-RU" sz="4400" strike="noStrike" u="none">
                <a:solidFill>
                  <a:schemeClr val="dk1"/>
                </a:solidFill>
                <a:effectLst/>
                <a:uFillTx/>
                <a:latin typeface="Calibri Light"/>
              </a:rPr>
              <a:t>Образец заголовка</a:t>
            </a:r>
            <a:endParaRPr b="0" lang="ru-RU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" name="PlaceHolder 2"/>
          <p:cNvSpPr>
            <a:spLocks noGrp="1"/>
          </p:cNvSpPr>
          <p:nvPr>
            <p:ph type="body"/>
          </p:nvPr>
        </p:nvSpPr>
        <p:spPr>
          <a:xfrm>
            <a:off x="838080" y="1825560"/>
            <a:ext cx="5180760" cy="4350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ru-RU" sz="2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Образец текста</a:t>
            </a:r>
            <a:endParaRPr b="0" lang="ru-RU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ru-RU" sz="2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Второй уровень</a:t>
            </a:r>
            <a:endParaRPr b="0" lang="ru-RU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1430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ru-RU" sz="20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Третий уровень</a:t>
            </a:r>
            <a:endParaRPr b="0" lang="ru-R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6002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ru-RU" sz="1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Четвертый уровень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0574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ru-RU" sz="1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Пятый уровень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" name="PlaceHolder 3"/>
          <p:cNvSpPr>
            <a:spLocks noGrp="1"/>
          </p:cNvSpPr>
          <p:nvPr>
            <p:ph type="body"/>
          </p:nvPr>
        </p:nvSpPr>
        <p:spPr>
          <a:xfrm>
            <a:off x="6172200" y="1825560"/>
            <a:ext cx="5180760" cy="4350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ru-RU" sz="2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Образец текста</a:t>
            </a:r>
            <a:endParaRPr b="0" lang="ru-RU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ru-RU" sz="2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Второй уровень</a:t>
            </a:r>
            <a:endParaRPr b="0" lang="ru-RU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1430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ru-RU" sz="20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Третий уровень</a:t>
            </a:r>
            <a:endParaRPr b="0" lang="ru-R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6002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ru-RU" sz="1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Четвертый уровень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0574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ru-RU" sz="1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Пятый уровень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" name="PlaceHolder 4"/>
          <p:cNvSpPr>
            <a:spLocks noGrp="1"/>
          </p:cNvSpPr>
          <p:nvPr>
            <p:ph type="dt" idx="25"/>
          </p:nvPr>
        </p:nvSpPr>
        <p:spPr>
          <a:xfrm>
            <a:off x="8380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b="0" lang="ru-RU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ru-RU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&lt;дата/время&gt;</a:t>
            </a:r>
            <a:endParaRPr b="0" lang="ru-RU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3" name="PlaceHolder 5"/>
          <p:cNvSpPr>
            <a:spLocks noGrp="1"/>
          </p:cNvSpPr>
          <p:nvPr>
            <p:ph type="ftr" idx="26"/>
          </p:nvPr>
        </p:nvSpPr>
        <p:spPr>
          <a:xfrm>
            <a:off x="4038480" y="6356520"/>
            <a:ext cx="411408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ru-RU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ru-RU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&lt;нижний колонтитул&gt;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4" name="PlaceHolder 6"/>
          <p:cNvSpPr>
            <a:spLocks noGrp="1"/>
          </p:cNvSpPr>
          <p:nvPr>
            <p:ph type="sldNum" idx="27"/>
          </p:nvPr>
        </p:nvSpPr>
        <p:spPr>
          <a:xfrm>
            <a:off x="86104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ru-RU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389A495A-3572-4B1E-A1A5-499BBF3EEEF3}" type="slidenum">
              <a:rPr b="0" lang="ru-RU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&lt;номер&gt;</a:t>
            </a:fld>
            <a:endParaRPr b="0" lang="ru-RU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Сравнение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PlaceHolder 1"/>
          <p:cNvSpPr>
            <a:spLocks noGrp="1"/>
          </p:cNvSpPr>
          <p:nvPr>
            <p:ph type="title"/>
          </p:nvPr>
        </p:nvSpPr>
        <p:spPr>
          <a:xfrm>
            <a:off x="839880" y="365040"/>
            <a:ext cx="10514880" cy="1324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ru-RU" sz="4400" strike="noStrike" u="none">
                <a:solidFill>
                  <a:schemeClr val="dk1"/>
                </a:solidFill>
                <a:effectLst/>
                <a:uFillTx/>
                <a:latin typeface="Calibri Light"/>
              </a:rPr>
              <a:t>Образец заголовка</a:t>
            </a:r>
            <a:endParaRPr b="0" lang="ru-RU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" name="PlaceHolder 2"/>
          <p:cNvSpPr>
            <a:spLocks noGrp="1"/>
          </p:cNvSpPr>
          <p:nvPr>
            <p:ph type="body"/>
          </p:nvPr>
        </p:nvSpPr>
        <p:spPr>
          <a:xfrm>
            <a:off x="839880" y="1681200"/>
            <a:ext cx="5157000" cy="823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1" lang="ru-RU" sz="2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Образец текста</a:t>
            </a:r>
            <a:endParaRPr b="0" lang="ru-RU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" name="PlaceHolder 3"/>
          <p:cNvSpPr>
            <a:spLocks noGrp="1"/>
          </p:cNvSpPr>
          <p:nvPr>
            <p:ph type="body"/>
          </p:nvPr>
        </p:nvSpPr>
        <p:spPr>
          <a:xfrm>
            <a:off x="839880" y="2505240"/>
            <a:ext cx="5157000" cy="3683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ru-RU" sz="2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Образец текста</a:t>
            </a:r>
            <a:endParaRPr b="0" lang="ru-RU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ru-RU" sz="2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Второй уровень</a:t>
            </a:r>
            <a:endParaRPr b="0" lang="ru-RU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1430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ru-RU" sz="20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Третий уровень</a:t>
            </a:r>
            <a:endParaRPr b="0" lang="ru-R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6002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ru-RU" sz="1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Четвертый уровень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0574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ru-RU" sz="1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Пятый уровень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" name="PlaceHolder 4"/>
          <p:cNvSpPr>
            <a:spLocks noGrp="1"/>
          </p:cNvSpPr>
          <p:nvPr>
            <p:ph type="body"/>
          </p:nvPr>
        </p:nvSpPr>
        <p:spPr>
          <a:xfrm>
            <a:off x="6172200" y="1681200"/>
            <a:ext cx="5182560" cy="823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1" lang="ru-RU" sz="2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Образец текста</a:t>
            </a:r>
            <a:endParaRPr b="0" lang="ru-RU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" name="PlaceHolder 5"/>
          <p:cNvSpPr>
            <a:spLocks noGrp="1"/>
          </p:cNvSpPr>
          <p:nvPr>
            <p:ph type="body"/>
          </p:nvPr>
        </p:nvSpPr>
        <p:spPr>
          <a:xfrm>
            <a:off x="6172200" y="2505240"/>
            <a:ext cx="5182560" cy="3683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ru-RU" sz="2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Образец текста</a:t>
            </a:r>
            <a:endParaRPr b="0" lang="ru-RU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ru-RU" sz="2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Второй уровень</a:t>
            </a:r>
            <a:endParaRPr b="0" lang="ru-RU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1430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ru-RU" sz="20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Третий уровень</a:t>
            </a:r>
            <a:endParaRPr b="0" lang="ru-R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6002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ru-RU" sz="1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Четвертый уровень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0574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ru-RU" sz="1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Пятый уровень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" name="PlaceHolder 6"/>
          <p:cNvSpPr>
            <a:spLocks noGrp="1"/>
          </p:cNvSpPr>
          <p:nvPr>
            <p:ph type="dt" idx="28"/>
          </p:nvPr>
        </p:nvSpPr>
        <p:spPr>
          <a:xfrm>
            <a:off x="8380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b="0" lang="ru-RU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ru-RU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&lt;дата/время&gt;</a:t>
            </a:r>
            <a:endParaRPr b="0" lang="ru-RU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1" name="PlaceHolder 7"/>
          <p:cNvSpPr>
            <a:spLocks noGrp="1"/>
          </p:cNvSpPr>
          <p:nvPr>
            <p:ph type="ftr" idx="29"/>
          </p:nvPr>
        </p:nvSpPr>
        <p:spPr>
          <a:xfrm>
            <a:off x="4038480" y="6356520"/>
            <a:ext cx="411408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ru-RU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ru-RU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&lt;нижний колонтитул&gt;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2" name="PlaceHolder 8"/>
          <p:cNvSpPr>
            <a:spLocks noGrp="1"/>
          </p:cNvSpPr>
          <p:nvPr>
            <p:ph type="sldNum" idx="30"/>
          </p:nvPr>
        </p:nvSpPr>
        <p:spPr>
          <a:xfrm>
            <a:off x="86104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ru-RU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49156274-297C-4F6B-978B-6806C24B661D}" type="slidenum">
              <a:rPr b="0" lang="ru-RU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&lt;номер&gt;</a:t>
            </a:fld>
            <a:endParaRPr b="0" lang="ru-RU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Только заголовок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880" cy="1324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ru-RU" sz="4400" strike="noStrike" u="none">
                <a:solidFill>
                  <a:schemeClr val="dk1"/>
                </a:solidFill>
                <a:effectLst/>
                <a:uFillTx/>
                <a:latin typeface="Calibri Light"/>
              </a:rPr>
              <a:t>Образец заголовка</a:t>
            </a:r>
            <a:endParaRPr b="0" lang="ru-RU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4" name="PlaceHolder 2"/>
          <p:cNvSpPr>
            <a:spLocks noGrp="1"/>
          </p:cNvSpPr>
          <p:nvPr>
            <p:ph type="dt" idx="31"/>
          </p:nvPr>
        </p:nvSpPr>
        <p:spPr>
          <a:xfrm>
            <a:off x="8380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b="0" lang="ru-RU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ru-RU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&lt;дата/время&gt;</a:t>
            </a:r>
            <a:endParaRPr b="0" lang="ru-RU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5" name="PlaceHolder 3"/>
          <p:cNvSpPr>
            <a:spLocks noGrp="1"/>
          </p:cNvSpPr>
          <p:nvPr>
            <p:ph type="ftr" idx="32"/>
          </p:nvPr>
        </p:nvSpPr>
        <p:spPr>
          <a:xfrm>
            <a:off x="4038480" y="6356520"/>
            <a:ext cx="411408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ru-RU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ru-RU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&lt;нижний колонтитул&gt;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6" name="PlaceHolder 4"/>
          <p:cNvSpPr>
            <a:spLocks noGrp="1"/>
          </p:cNvSpPr>
          <p:nvPr>
            <p:ph type="sldNum" idx="33"/>
          </p:nvPr>
        </p:nvSpPr>
        <p:spPr>
          <a:xfrm>
            <a:off x="86104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ru-RU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EF541123-FD6D-4DC6-A841-F19406E96CA2}" type="slidenum">
              <a:rPr b="0" lang="ru-RU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&lt;номер&gt;</a:t>
            </a:fld>
            <a:endParaRPr b="0" lang="ru-RU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7" name="PlaceHolder 5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080" cy="3976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2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Для правки структуры щёлкните мышью</a:t>
            </a:r>
            <a:endParaRPr b="0" lang="ru-RU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20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Второй уровень структуры</a:t>
            </a:r>
            <a:endParaRPr b="0" lang="ru-R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Третий уровень структуры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1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Четвёртый уровень структуры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20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Пятый уровень структуры</a:t>
            </a:r>
            <a:endParaRPr b="0" lang="ru-R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20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Шестой уровень структуры</a:t>
            </a:r>
            <a:endParaRPr b="0" lang="ru-R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20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Седьмой уровень структуры</a:t>
            </a:r>
            <a:endParaRPr b="0" lang="ru-R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image" Target="../media/image1.jpeg"/><Relationship Id="rId2" Type="http://schemas.openxmlformats.org/officeDocument/2006/relationships/image" Target="../media/image2.png"/><Relationship Id="rId3" Type="http://schemas.openxmlformats.org/officeDocument/2006/relationships/slideLayout" Target="../slideLayouts/slideLayout7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slideLayout" Target="../slideLayouts/slideLayout11.xml"/><Relationship Id="rId5" Type="http://schemas.openxmlformats.org/officeDocument/2006/relationships/notesSlide" Target="../notesSlides/notesSlide2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image" Target="../media/image5.png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slideLayout" Target="../slideLayouts/slideLayout11.xml"/><Relationship Id="rId5" Type="http://schemas.openxmlformats.org/officeDocument/2006/relationships/notesSlide" Target="../notesSlides/notesSlide3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image" Target="../media/image3.png"/><Relationship Id="rId3" Type="http://schemas.openxmlformats.org/officeDocument/2006/relationships/slideLayout" Target="../slideLayouts/slideLayout11.xml"/><Relationship Id="rId4" Type="http://schemas.openxmlformats.org/officeDocument/2006/relationships/notesSlide" Target="../notesSlides/notesSlide4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image" Target="../media/image3.png"/><Relationship Id="rId3" Type="http://schemas.openxmlformats.org/officeDocument/2006/relationships/slideLayout" Target="../slideLayouts/slideLayout11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image" Target="../media/image6.png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slideLayout" Target="../slideLayouts/slideLayout11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image" Target="../media/image7.png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slideLayout" Target="../slideLayouts/slideLayout11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image" Target="../media/image8.png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slideLayout" Target="../slideLayouts/slideLayout11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image" Target="../media/image3.png"/><Relationship Id="rId3" Type="http://schemas.openxmlformats.org/officeDocument/2006/relationships/image" Target="../media/image9.png"/><Relationship Id="rId4" Type="http://schemas.openxmlformats.org/officeDocument/2006/relationships/image" Target="../media/image10.png"/><Relationship Id="rId5" Type="http://schemas.openxmlformats.org/officeDocument/2006/relationships/image" Target="../media/image11.png"/><Relationship Id="rId6" Type="http://schemas.openxmlformats.org/officeDocument/2006/relationships/image" Target="../media/image12.png"/><Relationship Id="rId7" Type="http://schemas.openxmlformats.org/officeDocument/2006/relationships/image" Target="../media/image13.png"/><Relationship Id="rId8" Type="http://schemas.openxmlformats.org/officeDocument/2006/relationships/image" Target="../media/image14.png"/><Relationship Id="rId9" Type="http://schemas.openxmlformats.org/officeDocument/2006/relationships/image" Target="../media/image15.png"/><Relationship Id="rId10" Type="http://schemas.openxmlformats.org/officeDocument/2006/relationships/image" Target="../media/image16.png"/><Relationship Id="rId11" Type="http://schemas.openxmlformats.org/officeDocument/2006/relationships/slideLayout" Target="../slideLayouts/slideLayout11.xml"/><Relationship Id="rId12" Type="http://schemas.openxmlformats.org/officeDocument/2006/relationships/notesSlide" Target="../notesSlides/notesSlide9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image" Target="../media/image3.png"/><Relationship Id="rId3" Type="http://schemas.openxmlformats.org/officeDocument/2006/relationships/image" Target="../media/image17.png"/><Relationship Id="rId4" Type="http://schemas.openxmlformats.org/officeDocument/2006/relationships/slideLayout" Target="../slideLayouts/slideLayout11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image" Target="../media/image3.png"/><Relationship Id="rId3" Type="http://schemas.openxmlformats.org/officeDocument/2006/relationships/image" Target="../media/image18.png"/><Relationship Id="rId4" Type="http://schemas.openxmlformats.org/officeDocument/2006/relationships/image" Target="../media/image19.png"/><Relationship Id="rId5" Type="http://schemas.openxmlformats.org/officeDocument/2006/relationships/image" Target="../media/image20.png"/><Relationship Id="rId6" Type="http://schemas.openxmlformats.org/officeDocument/2006/relationships/image" Target="../media/image21.png"/><Relationship Id="rId7" Type="http://schemas.openxmlformats.org/officeDocument/2006/relationships/image" Target="../media/image22.png"/><Relationship Id="rId8" Type="http://schemas.openxmlformats.org/officeDocument/2006/relationships/slideLayout" Target="../slideLayouts/slideLayout11.xml"/><Relationship Id="rId9" Type="http://schemas.openxmlformats.org/officeDocument/2006/relationships/notesSlide" Target="../notesSlides/notesSlide11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image" Target="../media/image3.png"/><Relationship Id="rId3" Type="http://schemas.openxmlformats.org/officeDocument/2006/relationships/slideLayout" Target="../slideLayouts/slideLayout11.xml"/><Relationship Id="rId4" Type="http://schemas.openxmlformats.org/officeDocument/2006/relationships/notesSlide" Target="../notesSlides/notesSlide12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image" Target="../media/image3.png"/><Relationship Id="rId3" Type="http://schemas.openxmlformats.org/officeDocument/2006/relationships/chart" Target="../charts/chart1.xml"/><Relationship Id="rId4" Type="http://schemas.openxmlformats.org/officeDocument/2006/relationships/slideLayout" Target="../slideLayouts/slideLayout11.xml"/><Relationship Id="rId5" Type="http://schemas.openxmlformats.org/officeDocument/2006/relationships/notesSlide" Target="../notesSlides/notesSlide13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image" Target="../media/image3.png"/><Relationship Id="rId3" Type="http://schemas.openxmlformats.org/officeDocument/2006/relationships/image" Target="../media/image23.png"/><Relationship Id="rId4" Type="http://schemas.openxmlformats.org/officeDocument/2006/relationships/image" Target="../media/image24.png"/><Relationship Id="rId5" Type="http://schemas.openxmlformats.org/officeDocument/2006/relationships/slideLayout" Target="../slideLayouts/slideLayout11.xml"/><Relationship Id="rId6" Type="http://schemas.openxmlformats.org/officeDocument/2006/relationships/notesSlide" Target="../notesSlides/notesSlide14.xml"/>
</Relationships>
</file>

<file path=ppt/slides/_rels/slide15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image" Target="../media/image3.png"/><Relationship Id="rId3" Type="http://schemas.openxmlformats.org/officeDocument/2006/relationships/image" Target="../media/image25.png"/><Relationship Id="rId4" Type="http://schemas.openxmlformats.org/officeDocument/2006/relationships/image" Target="../media/image26.png"/><Relationship Id="rId5" Type="http://schemas.openxmlformats.org/officeDocument/2006/relationships/image" Target="../media/image27.png"/><Relationship Id="rId6" Type="http://schemas.openxmlformats.org/officeDocument/2006/relationships/slideLayout" Target="../slideLayouts/slideLayout11.xml"/><Relationship Id="rId7" Type="http://schemas.openxmlformats.org/officeDocument/2006/relationships/notesSlide" Target="../notesSlides/notesSlide15.xml"/>
</Relationships>
</file>

<file path=ppt/slides/_rels/slide16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image" Target="../media/image3.png"/><Relationship Id="rId3" Type="http://schemas.openxmlformats.org/officeDocument/2006/relationships/image" Target="../media/image28.emf"/><Relationship Id="rId4" Type="http://schemas.openxmlformats.org/officeDocument/2006/relationships/image" Target="../media/image29.png"/><Relationship Id="rId5" Type="http://schemas.openxmlformats.org/officeDocument/2006/relationships/image" Target="../media/image30.png"/><Relationship Id="rId6" Type="http://schemas.openxmlformats.org/officeDocument/2006/relationships/image" Target="../media/image31.png"/><Relationship Id="rId7" Type="http://schemas.openxmlformats.org/officeDocument/2006/relationships/slideLayout" Target="../slideLayouts/slideLayout11.xml"/><Relationship Id="rId8" Type="http://schemas.openxmlformats.org/officeDocument/2006/relationships/notesSlide" Target="../notesSlides/notesSlide16.xml"/>
</Relationships>
</file>

<file path=ppt/slides/_rels/slide17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image" Target="../media/image3.png"/><Relationship Id="rId3" Type="http://schemas.openxmlformats.org/officeDocument/2006/relationships/image" Target="../media/image28.emf"/><Relationship Id="rId4" Type="http://schemas.openxmlformats.org/officeDocument/2006/relationships/image" Target="../media/image29.png"/><Relationship Id="rId5" Type="http://schemas.openxmlformats.org/officeDocument/2006/relationships/image" Target="../media/image30.png"/><Relationship Id="rId6" Type="http://schemas.openxmlformats.org/officeDocument/2006/relationships/image" Target="../media/image31.png"/><Relationship Id="rId7" Type="http://schemas.openxmlformats.org/officeDocument/2006/relationships/slideLayout" Target="../slideLayouts/slideLayout11.xml"/><Relationship Id="rId8" Type="http://schemas.openxmlformats.org/officeDocument/2006/relationships/notesSlide" Target="../notesSlides/notesSlide17.xml"/>
</Relationships>
</file>

<file path=ppt/slides/_rels/slide18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image" Target="../media/image3.png"/><Relationship Id="rId3" Type="http://schemas.openxmlformats.org/officeDocument/2006/relationships/chart" Target="../charts/chart2.xml"/><Relationship Id="rId4" Type="http://schemas.openxmlformats.org/officeDocument/2006/relationships/chart" Target="../charts/chart3.xml"/><Relationship Id="rId5" Type="http://schemas.openxmlformats.org/officeDocument/2006/relationships/slideLayout" Target="../slideLayouts/slideLayout11.xml"/><Relationship Id="rId6" Type="http://schemas.openxmlformats.org/officeDocument/2006/relationships/notesSlide" Target="../notesSlides/notesSlide18.xml"/>
</Relationships>
</file>

<file path=ppt/slides/_rels/slide19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1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Прямоугольник 21"/>
          <p:cNvSpPr/>
          <p:nvPr/>
        </p:nvSpPr>
        <p:spPr>
          <a:xfrm>
            <a:off x="0" y="742680"/>
            <a:ext cx="12191400" cy="4957560"/>
          </a:xfrm>
          <a:prstGeom prst="rect">
            <a:avLst/>
          </a:prstGeom>
          <a:gradFill rotWithShape="0">
            <a:gsLst>
              <a:gs pos="0">
                <a:srgbClr val="ffffff"/>
              </a:gs>
              <a:gs pos="72000">
                <a:srgbClr val="a5a5a5"/>
              </a:gs>
              <a:gs pos="100000">
                <a:srgbClr val="173c90"/>
              </a:gs>
            </a:gsLst>
            <a:lin ang="54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ru-RU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pic>
        <p:nvPicPr>
          <p:cNvPr id="65" name="Рисунок 9" descr="Изображение выглядит как текст, человек&#10;&#10;Автоматически созданное описание"/>
          <p:cNvPicPr/>
          <p:nvPr/>
        </p:nvPicPr>
        <p:blipFill>
          <a:blip r:embed="rId1"/>
          <a:srcRect l="15600" t="9331" r="40177" b="0"/>
          <a:stretch/>
        </p:blipFill>
        <p:spPr>
          <a:xfrm>
            <a:off x="0" y="718200"/>
            <a:ext cx="3644640" cy="4982040"/>
          </a:xfrm>
          <a:prstGeom prst="rect">
            <a:avLst/>
          </a:prstGeom>
          <a:noFill/>
          <a:ln w="12700">
            <a:noFill/>
          </a:ln>
        </p:spPr>
      </p:pic>
      <p:cxnSp>
        <p:nvCxnSpPr>
          <p:cNvPr id="66" name="Прямая соединительная линия 17"/>
          <p:cNvCxnSpPr/>
          <p:nvPr/>
        </p:nvCxnSpPr>
        <p:spPr>
          <a:xfrm>
            <a:off x="0" y="5700600"/>
            <a:ext cx="12192480" cy="720"/>
          </a:xfrm>
          <a:prstGeom prst="straightConnector1">
            <a:avLst/>
          </a:prstGeom>
          <a:ln w="19050">
            <a:solidFill>
              <a:srgbClr val="173c90"/>
            </a:solidFill>
            <a:round/>
          </a:ln>
        </p:spPr>
      </p:cxnSp>
      <p:pic>
        <p:nvPicPr>
          <p:cNvPr id="67" name="Рисунок 18" descr="Изображение выглядит как текст&#10;&#10;Автоматически созданное описание"/>
          <p:cNvPicPr/>
          <p:nvPr/>
        </p:nvPicPr>
        <p:blipFill>
          <a:blip r:embed="rId2"/>
          <a:stretch/>
        </p:blipFill>
        <p:spPr>
          <a:xfrm>
            <a:off x="4167360" y="718200"/>
            <a:ext cx="2543400" cy="7160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68" name="TextBox 10"/>
          <p:cNvSpPr/>
          <p:nvPr/>
        </p:nvSpPr>
        <p:spPr>
          <a:xfrm>
            <a:off x="4167360" y="2345760"/>
            <a:ext cx="6367680" cy="2009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914400">
              <a:lnSpc>
                <a:spcPct val="100000"/>
              </a:lnSpc>
            </a:pPr>
            <a:r>
              <a:rPr b="1" lang="ru-RU" sz="4200" strike="noStrike" u="none">
                <a:solidFill>
                  <a:srgbClr val="173c90"/>
                </a:solidFill>
                <a:effectLst/>
                <a:uFillTx/>
                <a:latin typeface="Arial"/>
              </a:rPr>
              <a:t>Параллельная реализация </a:t>
            </a:r>
            <a:endParaRPr b="0" lang="ru-RU" sz="4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r>
              <a:rPr b="1" lang="en-US" sz="4200" strike="noStrike" u="none">
                <a:solidFill>
                  <a:srgbClr val="173c90"/>
                </a:solidFill>
                <a:effectLst/>
                <a:uFillTx/>
                <a:latin typeface="Arial"/>
              </a:rPr>
              <a:t>QR</a:t>
            </a:r>
            <a:r>
              <a:rPr b="1" lang="ru-RU" sz="4200" strike="noStrike" u="none">
                <a:solidFill>
                  <a:srgbClr val="173c90"/>
                </a:solidFill>
                <a:effectLst/>
                <a:uFillTx/>
                <a:latin typeface="Arial"/>
              </a:rPr>
              <a:t>-разложение</a:t>
            </a:r>
            <a:endParaRPr b="0" lang="ru-RU" sz="4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9" name="Прямоугольник 1"/>
          <p:cNvSpPr/>
          <p:nvPr/>
        </p:nvSpPr>
        <p:spPr>
          <a:xfrm>
            <a:off x="9491040" y="5725440"/>
            <a:ext cx="2700360" cy="1045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 anchorCtr="1">
            <a:spAutoFit/>
          </a:bodyPr>
          <a:p>
            <a:pPr algn="r" defTabSz="914400">
              <a:lnSpc>
                <a:spcPct val="100000"/>
              </a:lnSpc>
            </a:pPr>
            <a:r>
              <a:rPr b="0" lang="ru-RU" sz="140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Коробейникова Алиса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r" defTabSz="914400">
              <a:lnSpc>
                <a:spcPct val="100000"/>
              </a:lnSpc>
            </a:pPr>
            <a:r>
              <a:rPr b="0" lang="ru-RU" sz="140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Студентка группы 3824М1Пр1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r" defTabSz="914400">
              <a:lnSpc>
                <a:spcPct val="100000"/>
              </a:lnSpc>
            </a:pPr>
            <a:r>
              <a:rPr b="0" lang="ru-RU" sz="140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Научный руководитель: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r" defTabSz="914400">
              <a:lnSpc>
                <a:spcPct val="100000"/>
              </a:lnSpc>
            </a:pPr>
            <a:r>
              <a:rPr b="0" lang="ru-RU" sz="140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Баркалов К.А., д.т.н., доц.</a:t>
            </a:r>
            <a:r>
              <a:rPr b="0" lang="ru-RU" sz="180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 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Скругленный прямоугольник 45"/>
          <p:cNvSpPr/>
          <p:nvPr/>
        </p:nvSpPr>
        <p:spPr>
          <a:xfrm>
            <a:off x="295560" y="225360"/>
            <a:ext cx="11599920" cy="766440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 w="19050">
            <a:solidFill>
              <a:srgbClr val="173c9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ru-RU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71" name="TextBox 10"/>
          <p:cNvSpPr/>
          <p:nvPr/>
        </p:nvSpPr>
        <p:spPr>
          <a:xfrm rot="16200000">
            <a:off x="11178360" y="5500080"/>
            <a:ext cx="110484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0" lang="ru-RU" sz="1400" strike="noStrike" u="none">
                <a:solidFill>
                  <a:srgbClr val="fa4012"/>
                </a:solidFill>
                <a:effectLst/>
                <a:uFillTx/>
                <a:latin typeface="Arial"/>
              </a:rPr>
              <a:t>06.2026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2" name="TextBox 11"/>
          <p:cNvSpPr/>
          <p:nvPr/>
        </p:nvSpPr>
        <p:spPr>
          <a:xfrm>
            <a:off x="11579400" y="6314400"/>
            <a:ext cx="307080" cy="307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914400">
              <a:lnSpc>
                <a:spcPct val="100000"/>
              </a:lnSpc>
            </a:pPr>
            <a:r>
              <a:rPr b="0" lang="ru-RU" sz="1400" strike="noStrike" u="none">
                <a:solidFill>
                  <a:srgbClr val="173c90"/>
                </a:solidFill>
                <a:effectLst/>
                <a:uFillTx/>
                <a:latin typeface="Arial"/>
              </a:rPr>
              <a:t>1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73" name="Прямая соединительная линия 15"/>
          <p:cNvCxnSpPr/>
          <p:nvPr/>
        </p:nvCxnSpPr>
        <p:spPr>
          <a:xfrm>
            <a:off x="11579040" y="6240600"/>
            <a:ext cx="288720" cy="720"/>
          </a:xfrm>
          <a:prstGeom prst="straightConnector1">
            <a:avLst/>
          </a:prstGeom>
          <a:ln w="19050">
            <a:solidFill>
              <a:srgbClr val="173c90"/>
            </a:solidFill>
            <a:round/>
          </a:ln>
        </p:spPr>
      </p:cxnSp>
      <p:sp>
        <p:nvSpPr>
          <p:cNvPr id="74" name="TextBox 38"/>
          <p:cNvSpPr/>
          <p:nvPr/>
        </p:nvSpPr>
        <p:spPr>
          <a:xfrm>
            <a:off x="375480" y="456480"/>
            <a:ext cx="1599120" cy="27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1" lang="en-US" sz="1200" strike="noStrike" u="none">
                <a:solidFill>
                  <a:srgbClr val="173c90"/>
                </a:solidFill>
                <a:effectLst/>
                <a:uFillTx/>
                <a:latin typeface="Arial"/>
              </a:rPr>
              <a:t>QR-</a:t>
            </a:r>
            <a:r>
              <a:rPr b="1" lang="ru-RU" sz="1200" strike="noStrike" u="none">
                <a:solidFill>
                  <a:srgbClr val="173c90"/>
                </a:solidFill>
                <a:effectLst/>
                <a:uFillTx/>
                <a:latin typeface="Arial"/>
              </a:rPr>
              <a:t>разложение</a:t>
            </a:r>
            <a:endParaRPr b="0" lang="ru-RU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5" name="TextBox 39"/>
          <p:cNvSpPr/>
          <p:nvPr/>
        </p:nvSpPr>
        <p:spPr>
          <a:xfrm>
            <a:off x="1974960" y="456480"/>
            <a:ext cx="2251080" cy="27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0" lang="ru-RU" sz="1200" strike="noStrike" u="none">
                <a:solidFill>
                  <a:srgbClr val="173c90"/>
                </a:solidFill>
                <a:effectLst/>
                <a:uFillTx/>
                <a:latin typeface="Arial"/>
              </a:rPr>
              <a:t>Описание разложения</a:t>
            </a:r>
            <a:endParaRPr b="0" lang="ru-RU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76" name="Прямая соединительная линия 41"/>
          <p:cNvCxnSpPr/>
          <p:nvPr/>
        </p:nvCxnSpPr>
        <p:spPr>
          <a:xfrm>
            <a:off x="4190760" y="607680"/>
            <a:ext cx="2184840" cy="720"/>
          </a:xfrm>
          <a:prstGeom prst="straightConnector1">
            <a:avLst/>
          </a:prstGeom>
          <a:ln w="19050">
            <a:solidFill>
              <a:srgbClr val="173c90"/>
            </a:solidFill>
            <a:round/>
          </a:ln>
        </p:spPr>
      </p:cxnSp>
      <p:cxnSp>
        <p:nvCxnSpPr>
          <p:cNvPr id="77" name="Прямая соединительная линия 42"/>
          <p:cNvCxnSpPr/>
          <p:nvPr/>
        </p:nvCxnSpPr>
        <p:spPr>
          <a:xfrm>
            <a:off x="6374880" y="466200"/>
            <a:ext cx="720" cy="288720"/>
          </a:xfrm>
          <a:prstGeom prst="straightConnector1">
            <a:avLst/>
          </a:prstGeom>
          <a:ln w="19050">
            <a:solidFill>
              <a:srgbClr val="173c90"/>
            </a:solidFill>
            <a:round/>
          </a:ln>
        </p:spPr>
      </p:cxnSp>
      <p:cxnSp>
        <p:nvCxnSpPr>
          <p:cNvPr id="78" name="Прямая соединительная линия 46"/>
          <p:cNvCxnSpPr/>
          <p:nvPr/>
        </p:nvCxnSpPr>
        <p:spPr>
          <a:xfrm>
            <a:off x="9295560" y="466200"/>
            <a:ext cx="720" cy="288720"/>
          </a:xfrm>
          <a:prstGeom prst="straightConnector1">
            <a:avLst/>
          </a:prstGeom>
          <a:ln w="19050">
            <a:solidFill>
              <a:srgbClr val="173c90"/>
            </a:solidFill>
            <a:round/>
          </a:ln>
        </p:spPr>
      </p:cxnSp>
      <p:sp>
        <p:nvSpPr>
          <p:cNvPr id="79" name="TextBox 8"/>
          <p:cNvSpPr/>
          <p:nvPr/>
        </p:nvSpPr>
        <p:spPr>
          <a:xfrm>
            <a:off x="375480" y="1093680"/>
            <a:ext cx="4619520" cy="36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1" lang="ru-RU" sz="180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Описание разложения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0" name="TextBox 9"/>
          <p:cNvSpPr/>
          <p:nvPr/>
        </p:nvSpPr>
        <p:spPr>
          <a:xfrm>
            <a:off x="293040" y="1463040"/>
            <a:ext cx="9942840" cy="354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50000"/>
              </a:lnSpc>
              <a:spcBef>
                <a:spcPts val="601"/>
              </a:spcBef>
              <a:spcAft>
                <a:spcPts val="601"/>
              </a:spcAft>
              <a:tabLst>
                <a:tab algn="l" pos="0"/>
              </a:tabLst>
            </a:pPr>
            <a:r>
              <a:rPr b="0" lang="en-US" sz="180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QR</a:t>
            </a:r>
            <a:r>
              <a:rPr b="0" lang="ru-RU" sz="180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-разложение матрицы – представление матрицы в виде произведения унитарной (или ортогональной, в вещественном случае, матрицы) </a:t>
            </a:r>
            <a:r>
              <a:rPr b="0" lang="en-US" sz="180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Q </a:t>
            </a:r>
            <a:r>
              <a:rPr b="0" lang="ru-RU" sz="180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(Q</a:t>
            </a:r>
            <a:r>
              <a:rPr b="0" lang="ru-RU" sz="1800" strike="noStrike" u="none" baseline="33000">
                <a:solidFill>
                  <a:schemeClr val="dk1"/>
                </a:solidFill>
                <a:effectLst/>
                <a:uFillTx/>
                <a:latin typeface="Arial"/>
              </a:rPr>
              <a:t>T</a:t>
            </a:r>
            <a:r>
              <a:rPr b="0" lang="ru-RU" sz="180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Q=E) и верхнетреугольной матрицы </a:t>
            </a:r>
            <a:r>
              <a:rPr b="0" lang="en-US" sz="180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R </a:t>
            </a:r>
            <a:r>
              <a:rPr b="0" lang="ru-RU" sz="180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с положительными диагональными элементами.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50000"/>
              </a:lnSpc>
              <a:spcBef>
                <a:spcPts val="601"/>
              </a:spcBef>
              <a:spcAft>
                <a:spcPts val="601"/>
              </a:spcAft>
              <a:tabLst>
                <a:tab algn="l" pos="0"/>
              </a:tabLst>
            </a:pPr>
            <a:r>
              <a:rPr b="0" lang="ru-RU" sz="180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Если при этом A невырождена, то QR-разложение единственно и матрица R может быть выбрана так, чтобы её диагональные элементы были положительными вещественными числами. 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50000"/>
              </a:lnSpc>
              <a:spcBef>
                <a:spcPts val="601"/>
              </a:spcBef>
              <a:spcAft>
                <a:spcPts val="601"/>
              </a:spcAft>
              <a:tabLst>
                <a:tab algn="l" pos="0"/>
              </a:tabLst>
            </a:pP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81" name="Рисунок 12" descr="Изображение выглядит как текст&#10;&#10;Автоматически созданное описание"/>
          <p:cNvPicPr/>
          <p:nvPr/>
        </p:nvPicPr>
        <p:blipFill>
          <a:blip r:embed="rId1"/>
          <a:stretch/>
        </p:blipFill>
        <p:spPr>
          <a:xfrm>
            <a:off x="7077960" y="389520"/>
            <a:ext cx="1607040" cy="45216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82" name="Рисунок 13" descr="Изображение выглядит как текст, красный, знак, оранжевый&#10;&#10;Автоматически созданное описание"/>
          <p:cNvPicPr/>
          <p:nvPr/>
        </p:nvPicPr>
        <p:blipFill>
          <a:blip r:embed="rId2"/>
          <a:stretch/>
        </p:blipFill>
        <p:spPr>
          <a:xfrm>
            <a:off x="9810000" y="476280"/>
            <a:ext cx="1667520" cy="3240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83" name="Picture 2" descr="Picture background"/>
          <p:cNvPicPr/>
          <p:nvPr/>
        </p:nvPicPr>
        <p:blipFill>
          <a:blip r:embed="rId3"/>
          <a:srcRect l="0" t="2763" r="3818" b="8002"/>
          <a:stretch/>
        </p:blipFill>
        <p:spPr>
          <a:xfrm>
            <a:off x="5141880" y="4089600"/>
            <a:ext cx="5949360" cy="273132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Скругленный прямоугольник 45"/>
          <p:cNvSpPr/>
          <p:nvPr/>
        </p:nvSpPr>
        <p:spPr>
          <a:xfrm>
            <a:off x="295560" y="225360"/>
            <a:ext cx="11599920" cy="766440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 w="19050">
            <a:solidFill>
              <a:srgbClr val="173c9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ru-RU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85" name="TextBox 10"/>
          <p:cNvSpPr/>
          <p:nvPr/>
        </p:nvSpPr>
        <p:spPr>
          <a:xfrm rot="16200000">
            <a:off x="11178360" y="5500080"/>
            <a:ext cx="110484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0" lang="ru-RU" sz="1400" strike="noStrike" u="none">
                <a:solidFill>
                  <a:srgbClr val="fa4012"/>
                </a:solidFill>
                <a:effectLst/>
                <a:uFillTx/>
                <a:latin typeface="Arial"/>
              </a:rPr>
              <a:t>06.2025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6" name="TextBox 11"/>
          <p:cNvSpPr/>
          <p:nvPr/>
        </p:nvSpPr>
        <p:spPr>
          <a:xfrm>
            <a:off x="11579400" y="6314400"/>
            <a:ext cx="30708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914400">
              <a:lnSpc>
                <a:spcPct val="100000"/>
              </a:lnSpc>
            </a:pPr>
            <a:r>
              <a:rPr b="0" lang="ru-RU" sz="1400" strike="noStrike" u="none">
                <a:solidFill>
                  <a:srgbClr val="173c90"/>
                </a:solidFill>
                <a:effectLst/>
                <a:uFillTx/>
                <a:latin typeface="Arial"/>
              </a:rPr>
              <a:t>7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87" name="Прямая соединительная линия 15"/>
          <p:cNvCxnSpPr/>
          <p:nvPr/>
        </p:nvCxnSpPr>
        <p:spPr>
          <a:xfrm>
            <a:off x="11579040" y="6240600"/>
            <a:ext cx="288720" cy="720"/>
          </a:xfrm>
          <a:prstGeom prst="straightConnector1">
            <a:avLst/>
          </a:prstGeom>
          <a:ln w="19050">
            <a:solidFill>
              <a:srgbClr val="173c90"/>
            </a:solidFill>
            <a:round/>
          </a:ln>
        </p:spPr>
      </p:cxnSp>
      <p:sp>
        <p:nvSpPr>
          <p:cNvPr id="88" name="TextBox 38"/>
          <p:cNvSpPr/>
          <p:nvPr/>
        </p:nvSpPr>
        <p:spPr>
          <a:xfrm>
            <a:off x="375480" y="456480"/>
            <a:ext cx="159912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1" lang="en-US" sz="1200" strike="noStrike" u="none">
                <a:solidFill>
                  <a:srgbClr val="173c90"/>
                </a:solidFill>
                <a:effectLst/>
                <a:uFillTx/>
                <a:latin typeface="Arial"/>
              </a:rPr>
              <a:t>QR-</a:t>
            </a:r>
            <a:r>
              <a:rPr b="1" lang="ru-RU" sz="1200" strike="noStrike" u="none">
                <a:solidFill>
                  <a:srgbClr val="173c90"/>
                </a:solidFill>
                <a:effectLst/>
                <a:uFillTx/>
                <a:latin typeface="Arial"/>
              </a:rPr>
              <a:t>разложение</a:t>
            </a:r>
            <a:endParaRPr b="0" lang="ru-RU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9" name="TextBox 39"/>
          <p:cNvSpPr/>
          <p:nvPr/>
        </p:nvSpPr>
        <p:spPr>
          <a:xfrm>
            <a:off x="1762560" y="456480"/>
            <a:ext cx="246348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0" lang="ru-RU" sz="1200" strike="noStrike" u="none">
                <a:solidFill>
                  <a:srgbClr val="173c90"/>
                </a:solidFill>
                <a:effectLst/>
                <a:uFillTx/>
                <a:latin typeface="Arial"/>
              </a:rPr>
              <a:t>Описание первой реализации</a:t>
            </a:r>
            <a:endParaRPr b="0" lang="ru-RU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90" name="Прямая соединительная линия 41"/>
          <p:cNvCxnSpPr/>
          <p:nvPr/>
        </p:nvCxnSpPr>
        <p:spPr>
          <a:xfrm>
            <a:off x="4190760" y="607680"/>
            <a:ext cx="2184840" cy="720"/>
          </a:xfrm>
          <a:prstGeom prst="straightConnector1">
            <a:avLst/>
          </a:prstGeom>
          <a:ln w="19050">
            <a:solidFill>
              <a:srgbClr val="173c90"/>
            </a:solidFill>
            <a:round/>
          </a:ln>
        </p:spPr>
      </p:cxnSp>
      <p:cxnSp>
        <p:nvCxnSpPr>
          <p:cNvPr id="91" name="Прямая соединительная линия 42"/>
          <p:cNvCxnSpPr/>
          <p:nvPr/>
        </p:nvCxnSpPr>
        <p:spPr>
          <a:xfrm>
            <a:off x="6374880" y="466200"/>
            <a:ext cx="720" cy="288720"/>
          </a:xfrm>
          <a:prstGeom prst="straightConnector1">
            <a:avLst/>
          </a:prstGeom>
          <a:ln w="19050">
            <a:solidFill>
              <a:srgbClr val="173c90"/>
            </a:solidFill>
            <a:round/>
          </a:ln>
        </p:spPr>
      </p:cxnSp>
      <p:cxnSp>
        <p:nvCxnSpPr>
          <p:cNvPr id="92" name="Прямая соединительная линия 46"/>
          <p:cNvCxnSpPr/>
          <p:nvPr/>
        </p:nvCxnSpPr>
        <p:spPr>
          <a:xfrm>
            <a:off x="9295560" y="466200"/>
            <a:ext cx="720" cy="288720"/>
          </a:xfrm>
          <a:prstGeom prst="straightConnector1">
            <a:avLst/>
          </a:prstGeom>
          <a:ln w="19050">
            <a:solidFill>
              <a:srgbClr val="173c90"/>
            </a:solidFill>
            <a:round/>
          </a:ln>
        </p:spPr>
      </p:cxnSp>
      <p:sp>
        <p:nvSpPr>
          <p:cNvPr id="93" name="TextBox 8"/>
          <p:cNvSpPr/>
          <p:nvPr/>
        </p:nvSpPr>
        <p:spPr>
          <a:xfrm>
            <a:off x="375480" y="1045440"/>
            <a:ext cx="760176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1" lang="ru-RU" sz="180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Проверка корректности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4" name="TextBox 9"/>
          <p:cNvSpPr/>
          <p:nvPr/>
        </p:nvSpPr>
        <p:spPr>
          <a:xfrm>
            <a:off x="801000" y="1772280"/>
            <a:ext cx="10589760" cy="4178880"/>
          </a:xfrm>
          <a:prstGeom prst="rect">
            <a:avLst/>
          </a:prstGeom>
          <a:blipFill rotWithShape="0">
            <a:blip r:embed="rId1"/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r>
              <a:rPr b="0" lang="ru-RU" sz="1800" strike="noStrike" u="none">
                <a:solidFill>
                  <a:srgbClr val="ffffff">
                    <a:alpha val="1000"/>
                  </a:srgbClr>
                </a:solidFill>
                <a:effectLst/>
                <a:uFillTx/>
                <a:latin typeface="Calibri"/>
              </a:rPr>
              <a:t> 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95" name="Рисунок 12" descr="Изображение выглядит как текст&#10;&#10;Автоматически созданное описание"/>
          <p:cNvPicPr/>
          <p:nvPr/>
        </p:nvPicPr>
        <p:blipFill>
          <a:blip r:embed="rId2"/>
          <a:stretch/>
        </p:blipFill>
        <p:spPr>
          <a:xfrm>
            <a:off x="7077960" y="389520"/>
            <a:ext cx="1607040" cy="45216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96" name="Рисунок 13" descr="Изображение выглядит как текст, красный, знак, оранжевый&#10;&#10;Автоматически созданное описание"/>
          <p:cNvPicPr/>
          <p:nvPr/>
        </p:nvPicPr>
        <p:blipFill>
          <a:blip r:embed="rId3"/>
          <a:stretch/>
        </p:blipFill>
        <p:spPr>
          <a:xfrm>
            <a:off x="9810000" y="476280"/>
            <a:ext cx="1667520" cy="32400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Скругленный прямоугольник 45"/>
          <p:cNvSpPr/>
          <p:nvPr/>
        </p:nvSpPr>
        <p:spPr>
          <a:xfrm>
            <a:off x="295560" y="225360"/>
            <a:ext cx="11599920" cy="766440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 w="19050">
            <a:solidFill>
              <a:srgbClr val="173c9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ru-RU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98" name="TextBox 10"/>
          <p:cNvSpPr/>
          <p:nvPr/>
        </p:nvSpPr>
        <p:spPr>
          <a:xfrm rot="16200000">
            <a:off x="11178360" y="5500080"/>
            <a:ext cx="110484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0" lang="ru-RU" sz="1400" strike="noStrike" u="none">
                <a:solidFill>
                  <a:srgbClr val="fa4012"/>
                </a:solidFill>
                <a:effectLst/>
                <a:uFillTx/>
                <a:latin typeface="Arial"/>
              </a:rPr>
              <a:t>06.2026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9" name="TextBox 11"/>
          <p:cNvSpPr/>
          <p:nvPr/>
        </p:nvSpPr>
        <p:spPr>
          <a:xfrm>
            <a:off x="11579400" y="6314400"/>
            <a:ext cx="307080" cy="307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914400">
              <a:lnSpc>
                <a:spcPct val="100000"/>
              </a:lnSpc>
            </a:pPr>
            <a:r>
              <a:rPr b="0" lang="ru-RU" sz="1400" strike="noStrike" u="none">
                <a:solidFill>
                  <a:srgbClr val="173c90"/>
                </a:solidFill>
                <a:effectLst/>
                <a:uFillTx/>
                <a:latin typeface="Arial"/>
              </a:rPr>
              <a:t>2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100" name="Прямая соединительная линия 15"/>
          <p:cNvCxnSpPr/>
          <p:nvPr/>
        </p:nvCxnSpPr>
        <p:spPr>
          <a:xfrm>
            <a:off x="11579040" y="6240600"/>
            <a:ext cx="288720" cy="720"/>
          </a:xfrm>
          <a:prstGeom prst="straightConnector1">
            <a:avLst/>
          </a:prstGeom>
          <a:ln w="19050">
            <a:solidFill>
              <a:srgbClr val="173c90"/>
            </a:solidFill>
            <a:round/>
          </a:ln>
        </p:spPr>
      </p:cxnSp>
      <p:sp>
        <p:nvSpPr>
          <p:cNvPr id="101" name="TextBox 38"/>
          <p:cNvSpPr/>
          <p:nvPr/>
        </p:nvSpPr>
        <p:spPr>
          <a:xfrm>
            <a:off x="375480" y="456480"/>
            <a:ext cx="1599120" cy="27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1" lang="en-US" sz="1200" strike="noStrike" u="none">
                <a:solidFill>
                  <a:srgbClr val="173c90"/>
                </a:solidFill>
                <a:effectLst/>
                <a:uFillTx/>
                <a:latin typeface="Arial"/>
              </a:rPr>
              <a:t>QR-</a:t>
            </a:r>
            <a:r>
              <a:rPr b="1" lang="ru-RU" sz="1200" strike="noStrike" u="none">
                <a:solidFill>
                  <a:srgbClr val="173c90"/>
                </a:solidFill>
                <a:effectLst/>
                <a:uFillTx/>
                <a:latin typeface="Arial"/>
              </a:rPr>
              <a:t>разложение</a:t>
            </a:r>
            <a:endParaRPr b="0" lang="ru-RU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2" name="TextBox 39"/>
          <p:cNvSpPr/>
          <p:nvPr/>
        </p:nvSpPr>
        <p:spPr>
          <a:xfrm>
            <a:off x="1974960" y="456480"/>
            <a:ext cx="225108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0" lang="ru-RU" sz="1200" strike="noStrike" u="none">
                <a:solidFill>
                  <a:srgbClr val="173c90"/>
                </a:solidFill>
                <a:effectLst/>
                <a:uFillTx/>
                <a:latin typeface="Arial"/>
              </a:rPr>
              <a:t>Применение и получение разложения</a:t>
            </a:r>
            <a:endParaRPr b="0" lang="ru-RU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103" name="Прямая соединительная линия 41"/>
          <p:cNvCxnSpPr/>
          <p:nvPr/>
        </p:nvCxnSpPr>
        <p:spPr>
          <a:xfrm>
            <a:off x="4190760" y="607680"/>
            <a:ext cx="2184840" cy="720"/>
          </a:xfrm>
          <a:prstGeom prst="straightConnector1">
            <a:avLst/>
          </a:prstGeom>
          <a:ln w="19050">
            <a:solidFill>
              <a:srgbClr val="173c90"/>
            </a:solidFill>
            <a:round/>
          </a:ln>
        </p:spPr>
      </p:cxnSp>
      <p:cxnSp>
        <p:nvCxnSpPr>
          <p:cNvPr id="104" name="Прямая соединительная линия 42"/>
          <p:cNvCxnSpPr/>
          <p:nvPr/>
        </p:nvCxnSpPr>
        <p:spPr>
          <a:xfrm>
            <a:off x="6374880" y="466200"/>
            <a:ext cx="720" cy="288720"/>
          </a:xfrm>
          <a:prstGeom prst="straightConnector1">
            <a:avLst/>
          </a:prstGeom>
          <a:ln w="19050">
            <a:solidFill>
              <a:srgbClr val="173c90"/>
            </a:solidFill>
            <a:round/>
          </a:ln>
        </p:spPr>
      </p:cxnSp>
      <p:cxnSp>
        <p:nvCxnSpPr>
          <p:cNvPr id="105" name="Прямая соединительная линия 46"/>
          <p:cNvCxnSpPr/>
          <p:nvPr/>
        </p:nvCxnSpPr>
        <p:spPr>
          <a:xfrm>
            <a:off x="9295560" y="466200"/>
            <a:ext cx="720" cy="288720"/>
          </a:xfrm>
          <a:prstGeom prst="straightConnector1">
            <a:avLst/>
          </a:prstGeom>
          <a:ln w="19050">
            <a:solidFill>
              <a:srgbClr val="173c90"/>
            </a:solidFill>
            <a:round/>
          </a:ln>
        </p:spPr>
      </p:cxnSp>
      <p:sp>
        <p:nvSpPr>
          <p:cNvPr id="106" name="TextBox 8"/>
          <p:cNvSpPr/>
          <p:nvPr/>
        </p:nvSpPr>
        <p:spPr>
          <a:xfrm>
            <a:off x="375480" y="1045440"/>
            <a:ext cx="461952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1" lang="ru-RU" sz="180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Применение и получение разложения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7" name="TextBox 9"/>
          <p:cNvSpPr/>
          <p:nvPr/>
        </p:nvSpPr>
        <p:spPr>
          <a:xfrm>
            <a:off x="311400" y="1694520"/>
            <a:ext cx="11584440" cy="4509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50000"/>
              </a:lnSpc>
              <a:spcBef>
                <a:spcPts val="601"/>
              </a:spcBef>
              <a:spcAft>
                <a:spcPts val="601"/>
              </a:spcAft>
              <a:tabLst>
                <a:tab algn="l" pos="0"/>
              </a:tabLst>
            </a:pPr>
            <a:r>
              <a:rPr b="0" lang="ru-RU" sz="180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QR-разложение является основой одного из методов поиска собственных векторов и чисел матрицы — QR-алгоритма. С помощью разложения можно решить линейную задачу наименьших квадратов.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50000"/>
              </a:lnSpc>
              <a:spcBef>
                <a:spcPts val="601"/>
              </a:spcBef>
              <a:spcAft>
                <a:spcPts val="601"/>
              </a:spcAft>
              <a:tabLst>
                <a:tab algn="l" pos="0"/>
              </a:tabLst>
            </a:pPr>
            <a:r>
              <a:rPr b="0" lang="ru-RU" sz="180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Также с помощью QR-разложения можно решать СЛАУ Ax = b: если известно QR-разложение матрицы, исходная система может быть записана как QRx=b. Решением этой задачи является решение треугольной системы Rx=Q</a:t>
            </a:r>
            <a:r>
              <a:rPr b="0" lang="ru-RU" sz="1800" strike="noStrike" u="none" baseline="33000">
                <a:solidFill>
                  <a:schemeClr val="dk1"/>
                </a:solidFill>
                <a:effectLst/>
                <a:uFillTx/>
                <a:latin typeface="Arial"/>
              </a:rPr>
              <a:t>T</a:t>
            </a:r>
            <a:r>
              <a:rPr b="0" lang="ru-RU" sz="180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b. Эта система может быть решена с помощью обратной подстановки, поскольку R – верхняя треугольная матрица.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50000"/>
              </a:lnSpc>
              <a:spcBef>
                <a:spcPts val="601"/>
              </a:spcBef>
              <a:spcAft>
                <a:spcPts val="601"/>
              </a:spcAft>
              <a:tabLst>
                <a:tab algn="l" pos="0"/>
              </a:tabLst>
            </a:pPr>
            <a:r>
              <a:rPr b="0" lang="ru-RU" sz="180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QR-разложение может быть получено различными методами. Проще всего оно может быть вычислено в процессе ортогонализации Грама-Шмидта. Другие методы QR-разложения основаны на отражениях Хаусхолдера и вращениях Гивенса. Все перечисленные методы имеют ряд ограничений для применения.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08" name="Рисунок 12" descr="Изображение выглядит как текст&#10;&#10;Автоматически созданное описание"/>
          <p:cNvPicPr/>
          <p:nvPr/>
        </p:nvPicPr>
        <p:blipFill>
          <a:blip r:embed="rId1"/>
          <a:stretch/>
        </p:blipFill>
        <p:spPr>
          <a:xfrm>
            <a:off x="7077960" y="389520"/>
            <a:ext cx="1607040" cy="45216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09" name="Рисунок 13" descr="Изображение выглядит как текст, красный, знак, оранжевый&#10;&#10;Автоматически созданное описание"/>
          <p:cNvPicPr/>
          <p:nvPr/>
        </p:nvPicPr>
        <p:blipFill>
          <a:blip r:embed="rId2"/>
          <a:stretch/>
        </p:blipFill>
        <p:spPr>
          <a:xfrm>
            <a:off x="9810000" y="476280"/>
            <a:ext cx="1667520" cy="32400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Скругленный прямоугольник 45"/>
          <p:cNvSpPr/>
          <p:nvPr/>
        </p:nvSpPr>
        <p:spPr>
          <a:xfrm>
            <a:off x="295560" y="225360"/>
            <a:ext cx="11599920" cy="766440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 w="19050">
            <a:solidFill>
              <a:srgbClr val="173c9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ru-RU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1" name="TextBox 10"/>
          <p:cNvSpPr/>
          <p:nvPr/>
        </p:nvSpPr>
        <p:spPr>
          <a:xfrm rot="16200000">
            <a:off x="11178360" y="5500080"/>
            <a:ext cx="110484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0" lang="ru-RU" sz="1400" strike="noStrike" u="none">
                <a:solidFill>
                  <a:srgbClr val="fa4012"/>
                </a:solidFill>
                <a:effectLst/>
                <a:uFillTx/>
                <a:latin typeface="Arial"/>
              </a:rPr>
              <a:t>06.2026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2" name="TextBox 11"/>
          <p:cNvSpPr/>
          <p:nvPr/>
        </p:nvSpPr>
        <p:spPr>
          <a:xfrm>
            <a:off x="11579400" y="6314400"/>
            <a:ext cx="307080" cy="307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914400">
              <a:lnSpc>
                <a:spcPct val="100000"/>
              </a:lnSpc>
            </a:pPr>
            <a:r>
              <a:rPr b="0" lang="ru-RU" sz="1400" strike="noStrike" u="none">
                <a:solidFill>
                  <a:srgbClr val="173c90"/>
                </a:solidFill>
                <a:effectLst/>
                <a:uFillTx/>
                <a:latin typeface="Arial"/>
              </a:rPr>
              <a:t>3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113" name="Прямая соединительная линия 15"/>
          <p:cNvCxnSpPr/>
          <p:nvPr/>
        </p:nvCxnSpPr>
        <p:spPr>
          <a:xfrm>
            <a:off x="11579040" y="6240600"/>
            <a:ext cx="288720" cy="720"/>
          </a:xfrm>
          <a:prstGeom prst="straightConnector1">
            <a:avLst/>
          </a:prstGeom>
          <a:ln w="19050">
            <a:solidFill>
              <a:srgbClr val="173c90"/>
            </a:solidFill>
            <a:round/>
          </a:ln>
        </p:spPr>
      </p:cxnSp>
      <p:sp>
        <p:nvSpPr>
          <p:cNvPr id="114" name="TextBox 38"/>
          <p:cNvSpPr/>
          <p:nvPr/>
        </p:nvSpPr>
        <p:spPr>
          <a:xfrm>
            <a:off x="375480" y="456480"/>
            <a:ext cx="1599120" cy="27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1" lang="en-US" sz="1200" strike="noStrike" u="none">
                <a:solidFill>
                  <a:srgbClr val="173c90"/>
                </a:solidFill>
                <a:effectLst/>
                <a:uFillTx/>
                <a:latin typeface="Arial"/>
              </a:rPr>
              <a:t>QR-</a:t>
            </a:r>
            <a:r>
              <a:rPr b="1" lang="ru-RU" sz="1200" strike="noStrike" u="none">
                <a:solidFill>
                  <a:srgbClr val="173c90"/>
                </a:solidFill>
                <a:effectLst/>
                <a:uFillTx/>
                <a:latin typeface="Arial"/>
              </a:rPr>
              <a:t>разложение</a:t>
            </a:r>
            <a:endParaRPr b="0" lang="ru-RU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5" name="TextBox 39"/>
          <p:cNvSpPr/>
          <p:nvPr/>
        </p:nvSpPr>
        <p:spPr>
          <a:xfrm>
            <a:off x="1974960" y="456480"/>
            <a:ext cx="2251080" cy="27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0" lang="ru-RU" sz="1200" strike="noStrike" u="none">
                <a:solidFill>
                  <a:srgbClr val="173c90"/>
                </a:solidFill>
                <a:effectLst/>
                <a:uFillTx/>
                <a:latin typeface="Arial"/>
              </a:rPr>
              <a:t>Постановка задачи</a:t>
            </a:r>
            <a:endParaRPr b="0" lang="ru-RU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116" name="Прямая соединительная линия 41"/>
          <p:cNvCxnSpPr/>
          <p:nvPr/>
        </p:nvCxnSpPr>
        <p:spPr>
          <a:xfrm>
            <a:off x="4190760" y="607680"/>
            <a:ext cx="2184840" cy="720"/>
          </a:xfrm>
          <a:prstGeom prst="straightConnector1">
            <a:avLst/>
          </a:prstGeom>
          <a:ln w="19050">
            <a:solidFill>
              <a:srgbClr val="173c90"/>
            </a:solidFill>
            <a:round/>
          </a:ln>
        </p:spPr>
      </p:cxnSp>
      <p:cxnSp>
        <p:nvCxnSpPr>
          <p:cNvPr id="117" name="Прямая соединительная линия 42"/>
          <p:cNvCxnSpPr/>
          <p:nvPr/>
        </p:nvCxnSpPr>
        <p:spPr>
          <a:xfrm>
            <a:off x="6374880" y="466200"/>
            <a:ext cx="720" cy="288720"/>
          </a:xfrm>
          <a:prstGeom prst="straightConnector1">
            <a:avLst/>
          </a:prstGeom>
          <a:ln w="19050">
            <a:solidFill>
              <a:srgbClr val="173c90"/>
            </a:solidFill>
            <a:round/>
          </a:ln>
        </p:spPr>
      </p:cxnSp>
      <p:cxnSp>
        <p:nvCxnSpPr>
          <p:cNvPr id="118" name="Прямая соединительная линия 46"/>
          <p:cNvCxnSpPr/>
          <p:nvPr/>
        </p:nvCxnSpPr>
        <p:spPr>
          <a:xfrm>
            <a:off x="9295560" y="466200"/>
            <a:ext cx="720" cy="288720"/>
          </a:xfrm>
          <a:prstGeom prst="straightConnector1">
            <a:avLst/>
          </a:prstGeom>
          <a:ln w="19050">
            <a:solidFill>
              <a:srgbClr val="173c90"/>
            </a:solidFill>
            <a:round/>
          </a:ln>
        </p:spPr>
      </p:cxnSp>
      <p:sp>
        <p:nvSpPr>
          <p:cNvPr id="119" name="TextBox 8"/>
          <p:cNvSpPr/>
          <p:nvPr/>
        </p:nvSpPr>
        <p:spPr>
          <a:xfrm>
            <a:off x="375480" y="1045440"/>
            <a:ext cx="7601760" cy="36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1" lang="ru-RU" sz="180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Постановка задачи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20" name="Рисунок 12" descr="Изображение выглядит как текст&#10;&#10;Автоматически созданное описание"/>
          <p:cNvPicPr/>
          <p:nvPr/>
        </p:nvPicPr>
        <p:blipFill>
          <a:blip r:embed="rId1"/>
          <a:stretch/>
        </p:blipFill>
        <p:spPr>
          <a:xfrm>
            <a:off x="7077960" y="389520"/>
            <a:ext cx="1607040" cy="45216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21" name="Рисунок 13" descr="Изображение выглядит как текст, красный, знак, оранжевый&#10;&#10;Автоматически созданное описание"/>
          <p:cNvPicPr/>
          <p:nvPr/>
        </p:nvPicPr>
        <p:blipFill>
          <a:blip r:embed="rId2"/>
          <a:stretch/>
        </p:blipFill>
        <p:spPr>
          <a:xfrm>
            <a:off x="9810000" y="476280"/>
            <a:ext cx="1667520" cy="3240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22" name="TextBox 1"/>
          <p:cNvSpPr/>
          <p:nvPr/>
        </p:nvSpPr>
        <p:spPr>
          <a:xfrm>
            <a:off x="311400" y="1694520"/>
            <a:ext cx="11584440" cy="425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50000"/>
              </a:lnSpc>
              <a:spcBef>
                <a:spcPts val="601"/>
              </a:spcBef>
              <a:spcAft>
                <a:spcPts val="601"/>
              </a:spcAft>
              <a:tabLst>
                <a:tab algn="l" pos="0"/>
              </a:tabLst>
            </a:pPr>
            <a:r>
              <a:rPr b="0" lang="ru-RU" sz="180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Необходимо реализовать эффективные программные алгоритмы QR-разложения квадратной матрицы A с помощью методов отражений Хаусхолдера и вращений Гивенса, используя различные аппаратные оптимизации, а также применяя, где это возможно, параллелизм. Разработать несколько версий, сравнить их работу друг с другом.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50000"/>
              </a:lnSpc>
              <a:spcBef>
                <a:spcPts val="601"/>
              </a:spcBef>
              <a:spcAft>
                <a:spcPts val="601"/>
              </a:spcAft>
              <a:tabLst>
                <a:tab algn="l" pos="0"/>
              </a:tabLst>
            </a:pPr>
            <a:r>
              <a:rPr b="0" lang="ru-RU" sz="180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Для разработки использовать язык Си++ и технологии OpenMP для обеспечения параллельного исполнения кода.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50000"/>
              </a:lnSpc>
              <a:spcBef>
                <a:spcPts val="601"/>
              </a:spcBef>
              <a:spcAft>
                <a:spcPts val="601"/>
              </a:spcAft>
              <a:tabLst>
                <a:tab algn="l" pos="0"/>
              </a:tabLst>
            </a:pPr>
            <a:r>
              <a:rPr b="0" lang="ru-RU" sz="180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В качестве примера приложения QR-разложения на практике выполнить решение задачи QR-разложения хессенберговых матриц, верхней и нижней.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50000"/>
              </a:lnSpc>
              <a:spcBef>
                <a:spcPts val="601"/>
              </a:spcBef>
              <a:spcAft>
                <a:spcPts val="601"/>
              </a:spcAft>
              <a:tabLst>
                <a:tab algn="l" pos="0"/>
              </a:tabLst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Сравнить работу алгоритма с известными реализациями в сторонних библиотеках.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Скругленный прямоугольник 45"/>
          <p:cNvSpPr/>
          <p:nvPr/>
        </p:nvSpPr>
        <p:spPr>
          <a:xfrm>
            <a:off x="295560" y="225360"/>
            <a:ext cx="11599920" cy="766440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 w="19050">
            <a:solidFill>
              <a:srgbClr val="173c9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ru-RU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4" name="TextBox 10"/>
          <p:cNvSpPr/>
          <p:nvPr/>
        </p:nvSpPr>
        <p:spPr>
          <a:xfrm rot="16200000">
            <a:off x="11178360" y="5500080"/>
            <a:ext cx="110484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0" lang="ru-RU" sz="1400" strike="noStrike" u="none">
                <a:solidFill>
                  <a:srgbClr val="fa4012"/>
                </a:solidFill>
                <a:effectLst/>
                <a:uFillTx/>
                <a:latin typeface="Arial"/>
              </a:rPr>
              <a:t>06.2026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5" name="TextBox 11"/>
          <p:cNvSpPr/>
          <p:nvPr/>
        </p:nvSpPr>
        <p:spPr>
          <a:xfrm>
            <a:off x="11579400" y="6314400"/>
            <a:ext cx="307080" cy="307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914400">
              <a:lnSpc>
                <a:spcPct val="100000"/>
              </a:lnSpc>
            </a:pPr>
            <a:r>
              <a:rPr b="0" lang="ru-RU" sz="1400" strike="noStrike" u="none">
                <a:solidFill>
                  <a:srgbClr val="173c90"/>
                </a:solidFill>
                <a:effectLst/>
                <a:uFillTx/>
                <a:latin typeface="Arial"/>
              </a:rPr>
              <a:t>4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126" name="Прямая соединительная линия 15"/>
          <p:cNvCxnSpPr/>
          <p:nvPr/>
        </p:nvCxnSpPr>
        <p:spPr>
          <a:xfrm>
            <a:off x="11579040" y="6240600"/>
            <a:ext cx="288720" cy="720"/>
          </a:xfrm>
          <a:prstGeom prst="straightConnector1">
            <a:avLst/>
          </a:prstGeom>
          <a:ln w="19050">
            <a:solidFill>
              <a:srgbClr val="173c90"/>
            </a:solidFill>
            <a:round/>
          </a:ln>
        </p:spPr>
      </p:cxnSp>
      <p:sp>
        <p:nvSpPr>
          <p:cNvPr id="127" name="TextBox 38"/>
          <p:cNvSpPr/>
          <p:nvPr/>
        </p:nvSpPr>
        <p:spPr>
          <a:xfrm>
            <a:off x="375480" y="456480"/>
            <a:ext cx="1599120" cy="27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1" lang="en-US" sz="1200" strike="noStrike" u="none">
                <a:solidFill>
                  <a:srgbClr val="173c90"/>
                </a:solidFill>
                <a:effectLst/>
                <a:uFillTx/>
                <a:latin typeface="Arial"/>
              </a:rPr>
              <a:t>QR-</a:t>
            </a:r>
            <a:r>
              <a:rPr b="1" lang="ru-RU" sz="1200" strike="noStrike" u="none">
                <a:solidFill>
                  <a:srgbClr val="173c90"/>
                </a:solidFill>
                <a:effectLst/>
                <a:uFillTx/>
                <a:latin typeface="Arial"/>
              </a:rPr>
              <a:t>разложение</a:t>
            </a:r>
            <a:endParaRPr b="0" lang="ru-RU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8" name="TextBox 39"/>
          <p:cNvSpPr/>
          <p:nvPr/>
        </p:nvSpPr>
        <p:spPr>
          <a:xfrm>
            <a:off x="1974960" y="456480"/>
            <a:ext cx="225108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0" lang="ru-RU" sz="1200" strike="noStrike" u="none">
                <a:solidFill>
                  <a:srgbClr val="173c90"/>
                </a:solidFill>
                <a:effectLst/>
                <a:uFillTx/>
                <a:latin typeface="Arial"/>
              </a:rPr>
              <a:t>Метод отражений Хаусхолдера</a:t>
            </a:r>
            <a:endParaRPr b="0" lang="ru-RU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129" name="Прямая соединительная линия 41"/>
          <p:cNvCxnSpPr/>
          <p:nvPr/>
        </p:nvCxnSpPr>
        <p:spPr>
          <a:xfrm>
            <a:off x="4190760" y="607680"/>
            <a:ext cx="2184840" cy="720"/>
          </a:xfrm>
          <a:prstGeom prst="straightConnector1">
            <a:avLst/>
          </a:prstGeom>
          <a:ln w="19050">
            <a:solidFill>
              <a:srgbClr val="173c90"/>
            </a:solidFill>
            <a:round/>
          </a:ln>
        </p:spPr>
      </p:cxnSp>
      <p:cxnSp>
        <p:nvCxnSpPr>
          <p:cNvPr id="130" name="Прямая соединительная линия 42"/>
          <p:cNvCxnSpPr/>
          <p:nvPr/>
        </p:nvCxnSpPr>
        <p:spPr>
          <a:xfrm>
            <a:off x="6374880" y="466200"/>
            <a:ext cx="720" cy="288720"/>
          </a:xfrm>
          <a:prstGeom prst="straightConnector1">
            <a:avLst/>
          </a:prstGeom>
          <a:ln w="19050">
            <a:solidFill>
              <a:srgbClr val="173c90"/>
            </a:solidFill>
            <a:round/>
          </a:ln>
        </p:spPr>
      </p:cxnSp>
      <p:cxnSp>
        <p:nvCxnSpPr>
          <p:cNvPr id="131" name="Прямая соединительная линия 46"/>
          <p:cNvCxnSpPr/>
          <p:nvPr/>
        </p:nvCxnSpPr>
        <p:spPr>
          <a:xfrm>
            <a:off x="9295560" y="466200"/>
            <a:ext cx="720" cy="288720"/>
          </a:xfrm>
          <a:prstGeom prst="straightConnector1">
            <a:avLst/>
          </a:prstGeom>
          <a:ln w="19050">
            <a:solidFill>
              <a:srgbClr val="173c90"/>
            </a:solidFill>
            <a:round/>
          </a:ln>
        </p:spPr>
      </p:cxnSp>
      <p:sp>
        <p:nvSpPr>
          <p:cNvPr id="132" name="TextBox 8"/>
          <p:cNvSpPr/>
          <p:nvPr/>
        </p:nvSpPr>
        <p:spPr>
          <a:xfrm>
            <a:off x="375480" y="1045440"/>
            <a:ext cx="4619520" cy="36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1" lang="ru-RU" sz="180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Метод отражений Хаусхолдера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3" name="TextBox 9"/>
          <p:cNvSpPr/>
          <p:nvPr/>
        </p:nvSpPr>
        <p:spPr>
          <a:xfrm>
            <a:off x="801000" y="1741680"/>
            <a:ext cx="10589760" cy="4335120"/>
          </a:xfrm>
          <a:prstGeom prst="rect">
            <a:avLst/>
          </a:prstGeom>
          <a:blipFill rotWithShape="0">
            <a:blip r:embed="rId1"/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r>
              <a:rPr b="0" lang="ru-RU" sz="1800" strike="noStrike" u="none">
                <a:solidFill>
                  <a:srgbClr val="ffffff">
                    <a:alpha val="1000"/>
                  </a:srgbClr>
                </a:solidFill>
                <a:effectLst/>
                <a:uFillTx/>
                <a:latin typeface="Calibri"/>
              </a:rPr>
              <a:t> 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34" name="Рисунок 12" descr="Изображение выглядит как текст&#10;&#10;Автоматически созданное описание"/>
          <p:cNvPicPr/>
          <p:nvPr/>
        </p:nvPicPr>
        <p:blipFill>
          <a:blip r:embed="rId2"/>
          <a:stretch/>
        </p:blipFill>
        <p:spPr>
          <a:xfrm>
            <a:off x="7077960" y="389520"/>
            <a:ext cx="1607040" cy="45216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35" name="Рисунок 13" descr="Изображение выглядит как текст, красный, знак, оранжевый&#10;&#10;Автоматически созданное описание"/>
          <p:cNvPicPr/>
          <p:nvPr/>
        </p:nvPicPr>
        <p:blipFill>
          <a:blip r:embed="rId3"/>
          <a:stretch/>
        </p:blipFill>
        <p:spPr>
          <a:xfrm>
            <a:off x="9810000" y="476280"/>
            <a:ext cx="1667520" cy="32400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Скругленный прямоугольник 45"/>
          <p:cNvSpPr/>
          <p:nvPr/>
        </p:nvSpPr>
        <p:spPr>
          <a:xfrm>
            <a:off x="295560" y="225360"/>
            <a:ext cx="11599920" cy="766440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 w="19050">
            <a:solidFill>
              <a:srgbClr val="173c9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ru-RU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7" name="TextBox 10"/>
          <p:cNvSpPr/>
          <p:nvPr/>
        </p:nvSpPr>
        <p:spPr>
          <a:xfrm rot="16200000">
            <a:off x="11178360" y="5500080"/>
            <a:ext cx="110484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0" lang="ru-RU" sz="1400" strike="noStrike" u="none">
                <a:solidFill>
                  <a:srgbClr val="fa4012"/>
                </a:solidFill>
                <a:effectLst/>
                <a:uFillTx/>
                <a:latin typeface="Arial"/>
              </a:rPr>
              <a:t>06.2026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8" name="TextBox 11"/>
          <p:cNvSpPr/>
          <p:nvPr/>
        </p:nvSpPr>
        <p:spPr>
          <a:xfrm>
            <a:off x="11579400" y="6314400"/>
            <a:ext cx="307080" cy="307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914400">
              <a:lnSpc>
                <a:spcPct val="100000"/>
              </a:lnSpc>
            </a:pPr>
            <a:r>
              <a:rPr b="0" lang="ru-RU" sz="1400" strike="noStrike" u="none">
                <a:solidFill>
                  <a:srgbClr val="173c90"/>
                </a:solidFill>
                <a:effectLst/>
                <a:uFillTx/>
                <a:latin typeface="Arial"/>
              </a:rPr>
              <a:t>5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139" name="Прямая соединительная линия 15"/>
          <p:cNvCxnSpPr/>
          <p:nvPr/>
        </p:nvCxnSpPr>
        <p:spPr>
          <a:xfrm>
            <a:off x="11579040" y="6240600"/>
            <a:ext cx="288720" cy="720"/>
          </a:xfrm>
          <a:prstGeom prst="straightConnector1">
            <a:avLst/>
          </a:prstGeom>
          <a:ln w="19050">
            <a:solidFill>
              <a:srgbClr val="173c90"/>
            </a:solidFill>
            <a:round/>
          </a:ln>
        </p:spPr>
      </p:cxnSp>
      <p:sp>
        <p:nvSpPr>
          <p:cNvPr id="140" name="TextBox 38"/>
          <p:cNvSpPr/>
          <p:nvPr/>
        </p:nvSpPr>
        <p:spPr>
          <a:xfrm>
            <a:off x="375480" y="456480"/>
            <a:ext cx="1599120" cy="27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1" lang="en-US" sz="1200" strike="noStrike" u="none">
                <a:solidFill>
                  <a:srgbClr val="173c90"/>
                </a:solidFill>
                <a:effectLst/>
                <a:uFillTx/>
                <a:latin typeface="Arial"/>
              </a:rPr>
              <a:t>QR-</a:t>
            </a:r>
            <a:r>
              <a:rPr b="1" lang="ru-RU" sz="1200" strike="noStrike" u="none">
                <a:solidFill>
                  <a:srgbClr val="173c90"/>
                </a:solidFill>
                <a:effectLst/>
                <a:uFillTx/>
                <a:latin typeface="Arial"/>
              </a:rPr>
              <a:t>разложение</a:t>
            </a:r>
            <a:endParaRPr b="0" lang="ru-RU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1" name="TextBox 39"/>
          <p:cNvSpPr/>
          <p:nvPr/>
        </p:nvSpPr>
        <p:spPr>
          <a:xfrm>
            <a:off x="1974960" y="308520"/>
            <a:ext cx="225108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0" lang="ru-RU" sz="1200" strike="noStrike" u="none">
                <a:solidFill>
                  <a:srgbClr val="173c90"/>
                </a:solidFill>
                <a:effectLst/>
                <a:uFillTx/>
                <a:latin typeface="Arial"/>
              </a:rPr>
              <a:t>Применение отражений Хаусхолдера для QR-разложения</a:t>
            </a:r>
            <a:endParaRPr b="0" lang="ru-RU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142" name="Прямая соединительная линия 41"/>
          <p:cNvCxnSpPr/>
          <p:nvPr/>
        </p:nvCxnSpPr>
        <p:spPr>
          <a:xfrm>
            <a:off x="4190760" y="607680"/>
            <a:ext cx="2184840" cy="720"/>
          </a:xfrm>
          <a:prstGeom prst="straightConnector1">
            <a:avLst/>
          </a:prstGeom>
          <a:ln w="19050">
            <a:solidFill>
              <a:srgbClr val="173c90"/>
            </a:solidFill>
            <a:round/>
          </a:ln>
        </p:spPr>
      </p:cxnSp>
      <p:cxnSp>
        <p:nvCxnSpPr>
          <p:cNvPr id="143" name="Прямая соединительная линия 42"/>
          <p:cNvCxnSpPr/>
          <p:nvPr/>
        </p:nvCxnSpPr>
        <p:spPr>
          <a:xfrm>
            <a:off x="6374880" y="466200"/>
            <a:ext cx="720" cy="288720"/>
          </a:xfrm>
          <a:prstGeom prst="straightConnector1">
            <a:avLst/>
          </a:prstGeom>
          <a:ln w="19050">
            <a:solidFill>
              <a:srgbClr val="173c90"/>
            </a:solidFill>
            <a:round/>
          </a:ln>
        </p:spPr>
      </p:cxnSp>
      <p:cxnSp>
        <p:nvCxnSpPr>
          <p:cNvPr id="144" name="Прямая соединительная линия 46"/>
          <p:cNvCxnSpPr/>
          <p:nvPr/>
        </p:nvCxnSpPr>
        <p:spPr>
          <a:xfrm>
            <a:off x="9295560" y="466200"/>
            <a:ext cx="720" cy="288720"/>
          </a:xfrm>
          <a:prstGeom prst="straightConnector1">
            <a:avLst/>
          </a:prstGeom>
          <a:ln w="19050">
            <a:solidFill>
              <a:srgbClr val="173c90"/>
            </a:solidFill>
            <a:round/>
          </a:ln>
        </p:spPr>
      </p:cxnSp>
      <p:sp>
        <p:nvSpPr>
          <p:cNvPr id="145" name="TextBox 8"/>
          <p:cNvSpPr/>
          <p:nvPr/>
        </p:nvSpPr>
        <p:spPr>
          <a:xfrm>
            <a:off x="375480" y="1045440"/>
            <a:ext cx="7601760" cy="36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1" lang="ru-RU" sz="180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Применение отражений Хаусхолдера для </a:t>
            </a:r>
            <a:r>
              <a:rPr b="1" lang="en-US" sz="180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QR-</a:t>
            </a:r>
            <a:r>
              <a:rPr b="1" lang="ru-RU" sz="180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разложения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6" name="TextBox 9"/>
          <p:cNvSpPr/>
          <p:nvPr/>
        </p:nvSpPr>
        <p:spPr>
          <a:xfrm>
            <a:off x="801000" y="1440720"/>
            <a:ext cx="10589760" cy="5103720"/>
          </a:xfrm>
          <a:prstGeom prst="rect">
            <a:avLst/>
          </a:prstGeom>
          <a:blipFill rotWithShape="0">
            <a:blip r:embed="rId1"/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r>
              <a:rPr b="0" lang="ru-RU" sz="1800" strike="noStrike" u="none">
                <a:solidFill>
                  <a:srgbClr val="ffffff">
                    <a:alpha val="1000"/>
                  </a:srgbClr>
                </a:solidFill>
                <a:effectLst/>
                <a:uFillTx/>
                <a:latin typeface="Calibri"/>
              </a:rPr>
              <a:t> 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47" name="Рисунок 12" descr="Изображение выглядит как текст&#10;&#10;Автоматически созданное описание"/>
          <p:cNvPicPr/>
          <p:nvPr/>
        </p:nvPicPr>
        <p:blipFill>
          <a:blip r:embed="rId2"/>
          <a:stretch/>
        </p:blipFill>
        <p:spPr>
          <a:xfrm>
            <a:off x="7077960" y="389520"/>
            <a:ext cx="1607040" cy="45216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48" name="Рисунок 13" descr="Изображение выглядит как текст, красный, знак, оранжевый&#10;&#10;Автоматически созданное описание"/>
          <p:cNvPicPr/>
          <p:nvPr/>
        </p:nvPicPr>
        <p:blipFill>
          <a:blip r:embed="rId3"/>
          <a:stretch/>
        </p:blipFill>
        <p:spPr>
          <a:xfrm>
            <a:off x="9810000" y="476280"/>
            <a:ext cx="1667520" cy="32400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Скругленный прямоугольник 45"/>
          <p:cNvSpPr/>
          <p:nvPr/>
        </p:nvSpPr>
        <p:spPr>
          <a:xfrm>
            <a:off x="295560" y="225360"/>
            <a:ext cx="11599920" cy="766440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 w="19050">
            <a:solidFill>
              <a:srgbClr val="173c9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ru-RU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50" name="TextBox 10"/>
          <p:cNvSpPr/>
          <p:nvPr/>
        </p:nvSpPr>
        <p:spPr>
          <a:xfrm rot="16200000">
            <a:off x="11178360" y="5500080"/>
            <a:ext cx="110484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0" lang="ru-RU" sz="1400" strike="noStrike" u="none">
                <a:solidFill>
                  <a:srgbClr val="fa4012"/>
                </a:solidFill>
                <a:effectLst/>
                <a:uFillTx/>
                <a:latin typeface="Arial"/>
              </a:rPr>
              <a:t>06.2026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1" name="TextBox 11"/>
          <p:cNvSpPr/>
          <p:nvPr/>
        </p:nvSpPr>
        <p:spPr>
          <a:xfrm>
            <a:off x="11579400" y="6314400"/>
            <a:ext cx="307080" cy="307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914400">
              <a:lnSpc>
                <a:spcPct val="100000"/>
              </a:lnSpc>
            </a:pPr>
            <a:r>
              <a:rPr b="0" lang="ru-RU" sz="1400" strike="noStrike" u="none">
                <a:solidFill>
                  <a:srgbClr val="173c90"/>
                </a:solidFill>
                <a:effectLst/>
                <a:uFillTx/>
                <a:latin typeface="Arial"/>
              </a:rPr>
              <a:t>6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152" name="Прямая соединительная линия 15"/>
          <p:cNvCxnSpPr/>
          <p:nvPr/>
        </p:nvCxnSpPr>
        <p:spPr>
          <a:xfrm>
            <a:off x="11579040" y="6240600"/>
            <a:ext cx="288720" cy="720"/>
          </a:xfrm>
          <a:prstGeom prst="straightConnector1">
            <a:avLst/>
          </a:prstGeom>
          <a:ln w="19050">
            <a:solidFill>
              <a:srgbClr val="173c90"/>
            </a:solidFill>
            <a:round/>
          </a:ln>
        </p:spPr>
      </p:cxnSp>
      <p:sp>
        <p:nvSpPr>
          <p:cNvPr id="153" name="TextBox 38"/>
          <p:cNvSpPr/>
          <p:nvPr/>
        </p:nvSpPr>
        <p:spPr>
          <a:xfrm>
            <a:off x="375480" y="456480"/>
            <a:ext cx="1599120" cy="27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1" lang="en-US" sz="1200" strike="noStrike" u="none">
                <a:solidFill>
                  <a:srgbClr val="173c90"/>
                </a:solidFill>
                <a:effectLst/>
                <a:uFillTx/>
                <a:latin typeface="Arial"/>
              </a:rPr>
              <a:t>QR-</a:t>
            </a:r>
            <a:r>
              <a:rPr b="1" lang="ru-RU" sz="1200" strike="noStrike" u="none">
                <a:solidFill>
                  <a:srgbClr val="173c90"/>
                </a:solidFill>
                <a:effectLst/>
                <a:uFillTx/>
                <a:latin typeface="Arial"/>
              </a:rPr>
              <a:t>разложение</a:t>
            </a:r>
            <a:endParaRPr b="0" lang="ru-RU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4" name="TextBox 39"/>
          <p:cNvSpPr/>
          <p:nvPr/>
        </p:nvSpPr>
        <p:spPr>
          <a:xfrm>
            <a:off x="1762560" y="456480"/>
            <a:ext cx="2463480" cy="27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0" lang="ru-RU" sz="1200" strike="noStrike" u="none">
                <a:solidFill>
                  <a:srgbClr val="173c90"/>
                </a:solidFill>
                <a:effectLst/>
                <a:uFillTx/>
                <a:latin typeface="Arial"/>
              </a:rPr>
              <a:t>Описание первой реализации</a:t>
            </a:r>
            <a:endParaRPr b="0" lang="ru-RU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155" name="Прямая соединительная линия 41"/>
          <p:cNvCxnSpPr/>
          <p:nvPr/>
        </p:nvCxnSpPr>
        <p:spPr>
          <a:xfrm>
            <a:off x="4190760" y="607680"/>
            <a:ext cx="2184840" cy="720"/>
          </a:xfrm>
          <a:prstGeom prst="straightConnector1">
            <a:avLst/>
          </a:prstGeom>
          <a:ln w="19050">
            <a:solidFill>
              <a:srgbClr val="173c90"/>
            </a:solidFill>
            <a:round/>
          </a:ln>
        </p:spPr>
      </p:cxnSp>
      <p:cxnSp>
        <p:nvCxnSpPr>
          <p:cNvPr id="156" name="Прямая соединительная линия 42"/>
          <p:cNvCxnSpPr/>
          <p:nvPr/>
        </p:nvCxnSpPr>
        <p:spPr>
          <a:xfrm>
            <a:off x="6374880" y="466200"/>
            <a:ext cx="720" cy="288720"/>
          </a:xfrm>
          <a:prstGeom prst="straightConnector1">
            <a:avLst/>
          </a:prstGeom>
          <a:ln w="19050">
            <a:solidFill>
              <a:srgbClr val="173c90"/>
            </a:solidFill>
            <a:round/>
          </a:ln>
        </p:spPr>
      </p:cxnSp>
      <p:cxnSp>
        <p:nvCxnSpPr>
          <p:cNvPr id="157" name="Прямая соединительная линия 46"/>
          <p:cNvCxnSpPr/>
          <p:nvPr/>
        </p:nvCxnSpPr>
        <p:spPr>
          <a:xfrm>
            <a:off x="9295560" y="466200"/>
            <a:ext cx="720" cy="288720"/>
          </a:xfrm>
          <a:prstGeom prst="straightConnector1">
            <a:avLst/>
          </a:prstGeom>
          <a:ln w="19050">
            <a:solidFill>
              <a:srgbClr val="173c90"/>
            </a:solidFill>
            <a:round/>
          </a:ln>
        </p:spPr>
      </p:cxnSp>
      <p:sp>
        <p:nvSpPr>
          <p:cNvPr id="158" name="TextBox 8"/>
          <p:cNvSpPr/>
          <p:nvPr/>
        </p:nvSpPr>
        <p:spPr>
          <a:xfrm>
            <a:off x="375480" y="1045440"/>
            <a:ext cx="7601760" cy="36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1" lang="ru-RU" sz="180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Описание первой реализации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9" name="TextBox 9"/>
          <p:cNvSpPr/>
          <p:nvPr/>
        </p:nvSpPr>
        <p:spPr>
          <a:xfrm>
            <a:off x="801000" y="1374840"/>
            <a:ext cx="10589760" cy="5279400"/>
          </a:xfrm>
          <a:prstGeom prst="rect">
            <a:avLst/>
          </a:prstGeom>
          <a:blipFill rotWithShape="0">
            <a:blip r:embed="rId1"/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r>
              <a:rPr b="0" lang="ru-RU" sz="1800" strike="noStrike" u="none">
                <a:solidFill>
                  <a:srgbClr val="ffffff">
                    <a:alpha val="1000"/>
                  </a:srgbClr>
                </a:solidFill>
                <a:effectLst/>
                <a:uFillTx/>
                <a:latin typeface="Calibri"/>
              </a:rPr>
              <a:t> 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60" name="Рисунок 12" descr="Изображение выглядит как текст&#10;&#10;Автоматически созданное описание"/>
          <p:cNvPicPr/>
          <p:nvPr/>
        </p:nvPicPr>
        <p:blipFill>
          <a:blip r:embed="rId2"/>
          <a:stretch/>
        </p:blipFill>
        <p:spPr>
          <a:xfrm>
            <a:off x="7077960" y="389520"/>
            <a:ext cx="1607040" cy="45216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61" name="Рисунок 13" descr="Изображение выглядит как текст, красный, знак, оранжевый&#10;&#10;Автоматически созданное описание"/>
          <p:cNvPicPr/>
          <p:nvPr/>
        </p:nvPicPr>
        <p:blipFill>
          <a:blip r:embed="rId3"/>
          <a:stretch/>
        </p:blipFill>
        <p:spPr>
          <a:xfrm>
            <a:off x="9810000" y="476280"/>
            <a:ext cx="1667520" cy="32400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2" name="Скругленный прямоугольник 1"/>
          <p:cNvSpPr/>
          <p:nvPr/>
        </p:nvSpPr>
        <p:spPr>
          <a:xfrm>
            <a:off x="295560" y="225360"/>
            <a:ext cx="11599920" cy="766440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 w="19050">
            <a:solidFill>
              <a:srgbClr val="173c9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ru-RU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63" name="TextBox 2"/>
          <p:cNvSpPr/>
          <p:nvPr/>
        </p:nvSpPr>
        <p:spPr>
          <a:xfrm rot="16200000">
            <a:off x="11178360" y="5500080"/>
            <a:ext cx="110484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0" lang="ru-RU" sz="1400" strike="noStrike" u="none">
                <a:solidFill>
                  <a:srgbClr val="fa4012"/>
                </a:solidFill>
                <a:effectLst/>
                <a:uFillTx/>
                <a:latin typeface="Arial"/>
              </a:rPr>
              <a:t>06.2026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4" name="TextBox 3"/>
          <p:cNvSpPr/>
          <p:nvPr/>
        </p:nvSpPr>
        <p:spPr>
          <a:xfrm>
            <a:off x="11579400" y="6314400"/>
            <a:ext cx="30708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914400">
              <a:lnSpc>
                <a:spcPct val="100000"/>
              </a:lnSpc>
            </a:pPr>
            <a:r>
              <a:rPr b="0" lang="ru-RU" sz="1400" strike="noStrike" u="none">
                <a:solidFill>
                  <a:srgbClr val="173c90"/>
                </a:solidFill>
                <a:effectLst/>
                <a:uFillTx/>
                <a:latin typeface="Arial"/>
              </a:rPr>
              <a:t>6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165" name="Прямая соединительная линия 1"/>
          <p:cNvCxnSpPr/>
          <p:nvPr/>
        </p:nvCxnSpPr>
        <p:spPr>
          <a:xfrm>
            <a:off x="11579040" y="6240600"/>
            <a:ext cx="288720" cy="720"/>
          </a:xfrm>
          <a:prstGeom prst="straightConnector1">
            <a:avLst/>
          </a:prstGeom>
          <a:ln w="19050">
            <a:solidFill>
              <a:srgbClr val="173c90"/>
            </a:solidFill>
            <a:round/>
          </a:ln>
        </p:spPr>
      </p:cxnSp>
      <p:sp>
        <p:nvSpPr>
          <p:cNvPr id="166" name="TextBox 5"/>
          <p:cNvSpPr/>
          <p:nvPr/>
        </p:nvSpPr>
        <p:spPr>
          <a:xfrm>
            <a:off x="375480" y="456480"/>
            <a:ext cx="159912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1" lang="en-US" sz="1200" strike="noStrike" u="none">
                <a:solidFill>
                  <a:srgbClr val="173c90"/>
                </a:solidFill>
                <a:effectLst/>
                <a:uFillTx/>
                <a:latin typeface="Arial"/>
              </a:rPr>
              <a:t>QR-</a:t>
            </a:r>
            <a:r>
              <a:rPr b="1" lang="ru-RU" sz="1200" strike="noStrike" u="none">
                <a:solidFill>
                  <a:srgbClr val="173c90"/>
                </a:solidFill>
                <a:effectLst/>
                <a:uFillTx/>
                <a:latin typeface="Arial"/>
              </a:rPr>
              <a:t>разложение</a:t>
            </a:r>
            <a:endParaRPr b="0" lang="ru-RU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7" name="TextBox 6"/>
          <p:cNvSpPr/>
          <p:nvPr/>
        </p:nvSpPr>
        <p:spPr>
          <a:xfrm>
            <a:off x="1762560" y="456480"/>
            <a:ext cx="246348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0" lang="ru-RU" sz="1200" strike="noStrike" u="none">
                <a:solidFill>
                  <a:srgbClr val="173c90"/>
                </a:solidFill>
                <a:effectLst/>
                <a:uFillTx/>
                <a:latin typeface="Arial"/>
              </a:rPr>
              <a:t>Возможные оптимизации первой реализации</a:t>
            </a:r>
            <a:endParaRPr b="0" lang="ru-RU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168" name="Прямая соединительная линия 2"/>
          <p:cNvCxnSpPr/>
          <p:nvPr/>
        </p:nvCxnSpPr>
        <p:spPr>
          <a:xfrm>
            <a:off x="4190760" y="607680"/>
            <a:ext cx="2184840" cy="720"/>
          </a:xfrm>
          <a:prstGeom prst="straightConnector1">
            <a:avLst/>
          </a:prstGeom>
          <a:ln w="19050">
            <a:solidFill>
              <a:srgbClr val="173c90"/>
            </a:solidFill>
            <a:round/>
          </a:ln>
        </p:spPr>
      </p:cxnSp>
      <p:cxnSp>
        <p:nvCxnSpPr>
          <p:cNvPr id="169" name="Прямая соединительная линия 3"/>
          <p:cNvCxnSpPr/>
          <p:nvPr/>
        </p:nvCxnSpPr>
        <p:spPr>
          <a:xfrm>
            <a:off x="6374880" y="466200"/>
            <a:ext cx="720" cy="288720"/>
          </a:xfrm>
          <a:prstGeom prst="straightConnector1">
            <a:avLst/>
          </a:prstGeom>
          <a:ln w="19050">
            <a:solidFill>
              <a:srgbClr val="173c90"/>
            </a:solidFill>
            <a:round/>
          </a:ln>
        </p:spPr>
      </p:cxnSp>
      <p:cxnSp>
        <p:nvCxnSpPr>
          <p:cNvPr id="170" name="Прямая соединительная линия 4"/>
          <p:cNvCxnSpPr/>
          <p:nvPr/>
        </p:nvCxnSpPr>
        <p:spPr>
          <a:xfrm>
            <a:off x="9295560" y="466200"/>
            <a:ext cx="720" cy="288720"/>
          </a:xfrm>
          <a:prstGeom prst="straightConnector1">
            <a:avLst/>
          </a:prstGeom>
          <a:ln w="19050">
            <a:solidFill>
              <a:srgbClr val="173c90"/>
            </a:solidFill>
            <a:round/>
          </a:ln>
        </p:spPr>
      </p:cxnSp>
      <p:sp>
        <p:nvSpPr>
          <p:cNvPr id="171" name="TextBox 7"/>
          <p:cNvSpPr/>
          <p:nvPr/>
        </p:nvSpPr>
        <p:spPr>
          <a:xfrm>
            <a:off x="375480" y="1045440"/>
            <a:ext cx="760176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1" lang="ru-RU" sz="180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Возможные оптимизации первой реализации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72" name="Рисунок 1" descr="Изображение выглядит как текст&#10;&#10;Автоматически созданное описание"/>
          <p:cNvPicPr/>
          <p:nvPr/>
        </p:nvPicPr>
        <p:blipFill>
          <a:blip r:embed="rId1"/>
          <a:stretch/>
        </p:blipFill>
        <p:spPr>
          <a:xfrm>
            <a:off x="7077960" y="389520"/>
            <a:ext cx="1607040" cy="45216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73" name="Рисунок 2" descr="Изображение выглядит как текст, красный, знак, оранжевый&#10;&#10;Автоматически созданное описание"/>
          <p:cNvPicPr/>
          <p:nvPr/>
        </p:nvPicPr>
        <p:blipFill>
          <a:blip r:embed="rId2"/>
          <a:stretch/>
        </p:blipFill>
        <p:spPr>
          <a:xfrm>
            <a:off x="9810000" y="476280"/>
            <a:ext cx="1667520" cy="3240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74" name="TextBox 12"/>
          <p:cNvSpPr/>
          <p:nvPr/>
        </p:nvSpPr>
        <p:spPr>
          <a:xfrm>
            <a:off x="311400" y="1461600"/>
            <a:ext cx="11584440" cy="1553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50000"/>
              </a:lnSpc>
              <a:spcBef>
                <a:spcPts val="601"/>
              </a:spcBef>
              <a:spcAft>
                <a:spcPts val="601"/>
              </a:spcAft>
              <a:tabLst>
                <a:tab algn="l" pos="0"/>
              </a:tabLst>
            </a:pPr>
            <a:r>
              <a:rPr b="0" lang="ru-RU" sz="180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В связи с выявленными недостатками возможны следующие оптимизации: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defTabSz="914400">
              <a:lnSpc>
                <a:spcPct val="150000"/>
              </a:lnSpc>
              <a:spcBef>
                <a:spcPts val="601"/>
              </a:spcBef>
              <a:spcAft>
                <a:spcPts val="601"/>
              </a:spcAft>
              <a:buClr>
                <a:srgbClr val="000000"/>
              </a:buClr>
              <a:buFont typeface="Symbol" charset="2"/>
              <a:buChar char=""/>
              <a:tabLst>
                <a:tab algn="l" pos="0"/>
              </a:tabLst>
            </a:pPr>
            <a:r>
              <a:rPr b="0" lang="ru-RU" sz="1800" strike="noStrike" u="none">
                <a:solidFill>
                  <a:schemeClr val="dk1"/>
                </a:solidFill>
                <a:effectLst/>
                <a:uFillTx/>
                <a:latin typeface="Arial"/>
                <a:ea typeface="Microsoft YaHei"/>
              </a:rPr>
              <a:t>Избавление от матричных умножений: подсчёт H</a:t>
            </a:r>
            <a:r>
              <a:rPr b="0" lang="ru-RU" sz="1600" strike="noStrike" u="none" baseline="-8000">
                <a:solidFill>
                  <a:schemeClr val="dk1"/>
                </a:solidFill>
                <a:effectLst/>
                <a:uFillTx/>
                <a:latin typeface="Arial"/>
                <a:ea typeface="Microsoft YaHei"/>
              </a:rPr>
              <a:t>k</a:t>
            </a:r>
            <a:r>
              <a:rPr b="0" lang="ru-RU" sz="1800" strike="noStrike" u="none">
                <a:solidFill>
                  <a:schemeClr val="dk1"/>
                </a:solidFill>
                <a:effectLst/>
                <a:uFillTx/>
                <a:latin typeface="Arial"/>
                <a:ea typeface="Microsoft YaHei"/>
              </a:rPr>
              <a:t>A</a:t>
            </a:r>
            <a:r>
              <a:rPr b="0" lang="ru-RU" sz="1600" strike="noStrike" u="none" baseline="-8000">
                <a:solidFill>
                  <a:schemeClr val="dk1"/>
                </a:solidFill>
                <a:effectLst/>
                <a:uFillTx/>
                <a:latin typeface="Arial"/>
                <a:ea typeface="Microsoft YaHei"/>
              </a:rPr>
              <a:t>k</a:t>
            </a:r>
            <a:r>
              <a:rPr b="0" lang="ru-RU" sz="1600" strike="noStrike" u="none">
                <a:solidFill>
                  <a:schemeClr val="dk1"/>
                </a:solidFill>
                <a:effectLst/>
                <a:uFillTx/>
                <a:latin typeface="Arial"/>
                <a:ea typeface="Microsoft YaHei"/>
              </a:rPr>
              <a:t> и </a:t>
            </a:r>
            <a:r>
              <a:rPr b="0" lang="ru-RU" sz="1800" strike="noStrike" u="none">
                <a:solidFill>
                  <a:schemeClr val="dk1"/>
                </a:solidFill>
                <a:effectLst/>
                <a:uFillTx/>
                <a:latin typeface="Arial"/>
                <a:ea typeface="Microsoft YaHei"/>
              </a:rPr>
              <a:t>Q по-другому: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50000"/>
              </a:lnSpc>
              <a:spcBef>
                <a:spcPts val="601"/>
              </a:spcBef>
              <a:spcAft>
                <a:spcPts val="601"/>
              </a:spcAft>
              <a:tabLst>
                <a:tab algn="l" pos="0"/>
              </a:tabLst>
            </a:pP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75" name="" descr=""/>
          <p:cNvPicPr/>
          <p:nvPr/>
        </p:nvPicPr>
        <p:blipFill>
          <a:blip r:embed="rId3"/>
          <a:stretch/>
        </p:blipFill>
        <p:spPr>
          <a:xfrm>
            <a:off x="1012320" y="2926800"/>
            <a:ext cx="3922560" cy="32076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76" name="" descr=""/>
          <p:cNvPicPr/>
          <p:nvPr/>
        </p:nvPicPr>
        <p:blipFill>
          <a:blip r:embed="rId4"/>
          <a:stretch/>
        </p:blipFill>
        <p:spPr>
          <a:xfrm>
            <a:off x="8309160" y="2605680"/>
            <a:ext cx="673560" cy="25956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77" name="" descr=""/>
          <p:cNvPicPr/>
          <p:nvPr/>
        </p:nvPicPr>
        <p:blipFill>
          <a:blip r:embed="rId5"/>
          <a:stretch/>
        </p:blipFill>
        <p:spPr>
          <a:xfrm>
            <a:off x="6383160" y="2911320"/>
            <a:ext cx="4627800" cy="3319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78" name="" descr=""/>
          <p:cNvPicPr/>
          <p:nvPr/>
        </p:nvPicPr>
        <p:blipFill>
          <a:blip r:embed="rId6"/>
          <a:stretch/>
        </p:blipFill>
        <p:spPr>
          <a:xfrm>
            <a:off x="8384040" y="3287880"/>
            <a:ext cx="549360" cy="2221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79" name=""/>
          <p:cNvSpPr/>
          <p:nvPr/>
        </p:nvSpPr>
        <p:spPr>
          <a:xfrm>
            <a:off x="390960" y="3782160"/>
            <a:ext cx="10769400" cy="38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marL="216000" indent="-216000" defTabSz="914400">
              <a:lnSpc>
                <a:spcPct val="150000"/>
              </a:lnSpc>
              <a:spcBef>
                <a:spcPts val="601"/>
              </a:spcBef>
              <a:spcAft>
                <a:spcPts val="601"/>
              </a:spcAft>
              <a:buClr>
                <a:srgbClr val="000000"/>
              </a:buClr>
              <a:buFont typeface="Symbol" charset="2"/>
              <a:buChar char=""/>
              <a:tabLst>
                <a:tab algn="l" pos="0"/>
              </a:tabLst>
            </a:pPr>
            <a:r>
              <a:rPr b="0" lang="ru-RU" sz="180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Работать</a:t>
            </a: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 с нормированными векторами Хаусхолдера v</a:t>
            </a:r>
            <a:r>
              <a:rPr b="0" lang="ru-RU" sz="1800" strike="noStrike" u="none" baseline="-8000">
                <a:solidFill>
                  <a:srgbClr val="000000"/>
                </a:solidFill>
                <a:effectLst/>
                <a:uFillTx/>
                <a:latin typeface="Arial"/>
              </a:rPr>
              <a:t>k</a:t>
            </a: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, сохранять их в R под диагональю: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80" name="" descr=""/>
          <p:cNvPicPr/>
          <p:nvPr/>
        </p:nvPicPr>
        <p:blipFill>
          <a:blip r:embed="rId7"/>
          <a:stretch/>
        </p:blipFill>
        <p:spPr>
          <a:xfrm>
            <a:off x="1355760" y="4245480"/>
            <a:ext cx="1959120" cy="2628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81" name="" descr=""/>
          <p:cNvPicPr/>
          <p:nvPr/>
        </p:nvPicPr>
        <p:blipFill>
          <a:blip r:embed="rId8"/>
          <a:stretch/>
        </p:blipFill>
        <p:spPr>
          <a:xfrm>
            <a:off x="3663720" y="4241160"/>
            <a:ext cx="3809520" cy="42876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82" name="" descr=""/>
          <p:cNvPicPr/>
          <p:nvPr/>
        </p:nvPicPr>
        <p:blipFill>
          <a:blip r:embed="rId9"/>
          <a:stretch/>
        </p:blipFill>
        <p:spPr>
          <a:xfrm>
            <a:off x="8060040" y="4208760"/>
            <a:ext cx="2860560" cy="4672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83" name="" descr=""/>
          <p:cNvPicPr/>
          <p:nvPr/>
        </p:nvPicPr>
        <p:blipFill>
          <a:blip r:embed="rId10"/>
          <a:stretch/>
        </p:blipFill>
        <p:spPr>
          <a:xfrm>
            <a:off x="3695040" y="4818240"/>
            <a:ext cx="4858200" cy="193896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Скругленный прямоугольник 3"/>
          <p:cNvSpPr/>
          <p:nvPr/>
        </p:nvSpPr>
        <p:spPr>
          <a:xfrm>
            <a:off x="295560" y="225360"/>
            <a:ext cx="11599920" cy="766440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 w="19050">
            <a:solidFill>
              <a:srgbClr val="173c9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ru-RU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85" name="TextBox 13"/>
          <p:cNvSpPr/>
          <p:nvPr/>
        </p:nvSpPr>
        <p:spPr>
          <a:xfrm rot="16200000">
            <a:off x="11178360" y="5500080"/>
            <a:ext cx="110484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0" lang="ru-RU" sz="1400" strike="noStrike" u="none">
                <a:solidFill>
                  <a:srgbClr val="fa4012"/>
                </a:solidFill>
                <a:effectLst/>
                <a:uFillTx/>
                <a:latin typeface="Arial"/>
              </a:rPr>
              <a:t>06.2026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6" name="TextBox 14"/>
          <p:cNvSpPr/>
          <p:nvPr/>
        </p:nvSpPr>
        <p:spPr>
          <a:xfrm>
            <a:off x="11579400" y="6314400"/>
            <a:ext cx="30708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914400">
              <a:lnSpc>
                <a:spcPct val="100000"/>
              </a:lnSpc>
            </a:pPr>
            <a:r>
              <a:rPr b="0" lang="ru-RU" sz="1400" strike="noStrike" u="none">
                <a:solidFill>
                  <a:srgbClr val="173c90"/>
                </a:solidFill>
                <a:effectLst/>
                <a:uFillTx/>
                <a:latin typeface="Arial"/>
              </a:rPr>
              <a:t>4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187" name="Прямая соединительная линия 5"/>
          <p:cNvCxnSpPr/>
          <p:nvPr/>
        </p:nvCxnSpPr>
        <p:spPr>
          <a:xfrm>
            <a:off x="11579040" y="6240600"/>
            <a:ext cx="288720" cy="720"/>
          </a:xfrm>
          <a:prstGeom prst="straightConnector1">
            <a:avLst/>
          </a:prstGeom>
          <a:ln w="19050">
            <a:solidFill>
              <a:srgbClr val="173c90"/>
            </a:solidFill>
            <a:round/>
          </a:ln>
        </p:spPr>
      </p:cxnSp>
      <p:sp>
        <p:nvSpPr>
          <p:cNvPr id="188" name="TextBox 15"/>
          <p:cNvSpPr/>
          <p:nvPr/>
        </p:nvSpPr>
        <p:spPr>
          <a:xfrm>
            <a:off x="375480" y="456480"/>
            <a:ext cx="159912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1" lang="en-US" sz="1200" strike="noStrike" u="none">
                <a:solidFill>
                  <a:srgbClr val="173c90"/>
                </a:solidFill>
                <a:effectLst/>
                <a:uFillTx/>
                <a:latin typeface="Arial"/>
              </a:rPr>
              <a:t>QR-</a:t>
            </a:r>
            <a:r>
              <a:rPr b="1" lang="ru-RU" sz="1200" strike="noStrike" u="none">
                <a:solidFill>
                  <a:srgbClr val="173c90"/>
                </a:solidFill>
                <a:effectLst/>
                <a:uFillTx/>
                <a:latin typeface="Arial"/>
              </a:rPr>
              <a:t>разложение</a:t>
            </a:r>
            <a:endParaRPr b="0" lang="ru-RU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9" name="TextBox 16"/>
          <p:cNvSpPr/>
          <p:nvPr/>
        </p:nvSpPr>
        <p:spPr>
          <a:xfrm>
            <a:off x="1974960" y="456480"/>
            <a:ext cx="225108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0" lang="ru-RU" sz="1200" strike="noStrike" u="none">
                <a:solidFill>
                  <a:srgbClr val="173c90"/>
                </a:solidFill>
                <a:effectLst/>
                <a:uFillTx/>
                <a:latin typeface="Arial"/>
              </a:rPr>
              <a:t>Метод вращений Гивенса </a:t>
            </a:r>
            <a:endParaRPr b="0" lang="ru-RU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190" name="Прямая соединительная линия 6"/>
          <p:cNvCxnSpPr/>
          <p:nvPr/>
        </p:nvCxnSpPr>
        <p:spPr>
          <a:xfrm>
            <a:off x="4190760" y="607680"/>
            <a:ext cx="2184840" cy="720"/>
          </a:xfrm>
          <a:prstGeom prst="straightConnector1">
            <a:avLst/>
          </a:prstGeom>
          <a:ln w="19050">
            <a:solidFill>
              <a:srgbClr val="173c90"/>
            </a:solidFill>
            <a:round/>
          </a:ln>
        </p:spPr>
      </p:cxnSp>
      <p:cxnSp>
        <p:nvCxnSpPr>
          <p:cNvPr id="191" name="Прямая соединительная линия 7"/>
          <p:cNvCxnSpPr/>
          <p:nvPr/>
        </p:nvCxnSpPr>
        <p:spPr>
          <a:xfrm>
            <a:off x="6374880" y="466200"/>
            <a:ext cx="720" cy="288720"/>
          </a:xfrm>
          <a:prstGeom prst="straightConnector1">
            <a:avLst/>
          </a:prstGeom>
          <a:ln w="19050">
            <a:solidFill>
              <a:srgbClr val="173c90"/>
            </a:solidFill>
            <a:round/>
          </a:ln>
        </p:spPr>
      </p:cxnSp>
      <p:cxnSp>
        <p:nvCxnSpPr>
          <p:cNvPr id="192" name="Прямая соединительная линия 8"/>
          <p:cNvCxnSpPr/>
          <p:nvPr/>
        </p:nvCxnSpPr>
        <p:spPr>
          <a:xfrm>
            <a:off x="9295560" y="466200"/>
            <a:ext cx="720" cy="288720"/>
          </a:xfrm>
          <a:prstGeom prst="straightConnector1">
            <a:avLst/>
          </a:prstGeom>
          <a:ln w="19050">
            <a:solidFill>
              <a:srgbClr val="173c90"/>
            </a:solidFill>
            <a:round/>
          </a:ln>
        </p:spPr>
      </p:cxnSp>
      <p:sp>
        <p:nvSpPr>
          <p:cNvPr id="193" name="TextBox 18"/>
          <p:cNvSpPr/>
          <p:nvPr/>
        </p:nvSpPr>
        <p:spPr>
          <a:xfrm>
            <a:off x="375480" y="1045440"/>
            <a:ext cx="461952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1" lang="ru-RU" sz="180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Метод вращений Гивенса 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94" name="Рисунок 4" descr="Изображение выглядит как текст&#10;&#10;Автоматически созданное описание"/>
          <p:cNvPicPr/>
          <p:nvPr/>
        </p:nvPicPr>
        <p:blipFill>
          <a:blip r:embed="rId1"/>
          <a:stretch/>
        </p:blipFill>
        <p:spPr>
          <a:xfrm>
            <a:off x="7077960" y="389520"/>
            <a:ext cx="1607040" cy="45216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95" name="Рисунок 5" descr="Изображение выглядит как текст, красный, знак, оранжевый&#10;&#10;Автоматически созданное описание"/>
          <p:cNvPicPr/>
          <p:nvPr/>
        </p:nvPicPr>
        <p:blipFill>
          <a:blip r:embed="rId2"/>
          <a:stretch/>
        </p:blipFill>
        <p:spPr>
          <a:xfrm>
            <a:off x="9810000" y="476280"/>
            <a:ext cx="1667520" cy="3240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96" name="TextBox 19"/>
          <p:cNvSpPr/>
          <p:nvPr/>
        </p:nvSpPr>
        <p:spPr>
          <a:xfrm>
            <a:off x="311400" y="1440000"/>
            <a:ext cx="11584440" cy="91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50000"/>
              </a:lnSpc>
              <a:spcBef>
                <a:spcPts val="601"/>
              </a:spcBef>
              <a:spcAft>
                <a:spcPts val="601"/>
              </a:spcAft>
              <a:tabLst>
                <a:tab algn="l" pos="0"/>
              </a:tabLst>
            </a:pPr>
            <a:r>
              <a:rPr b="0" lang="ru-RU" sz="180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Каждая из матриц вращения (Гивенса) представлена позициями столбцов i и j и параметрами cos и sin вращения: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7" name="TextBox 20"/>
          <p:cNvSpPr/>
          <p:nvPr/>
        </p:nvSpPr>
        <p:spPr>
          <a:xfrm>
            <a:off x="368640" y="5389200"/>
            <a:ext cx="11584440" cy="91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50000"/>
              </a:lnSpc>
              <a:spcBef>
                <a:spcPts val="601"/>
              </a:spcBef>
              <a:spcAft>
                <a:spcPts val="601"/>
              </a:spcAft>
              <a:tabLst>
                <a:tab algn="l" pos="0"/>
              </a:tabLst>
            </a:pPr>
            <a:r>
              <a:rPr b="0" lang="ru-RU" sz="180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При этом параметр такого преобразования подбирается так, чтобы один из поддиагональных элементов преобразуемой матрицы стал нулевым.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98" name="" descr=""/>
          <p:cNvPicPr/>
          <p:nvPr/>
        </p:nvPicPr>
        <p:blipFill>
          <a:blip r:embed="rId3"/>
          <a:stretch/>
        </p:blipFill>
        <p:spPr>
          <a:xfrm>
            <a:off x="3680640" y="2220120"/>
            <a:ext cx="4581360" cy="316872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Скругленный прямоугольник 4"/>
          <p:cNvSpPr/>
          <p:nvPr/>
        </p:nvSpPr>
        <p:spPr>
          <a:xfrm>
            <a:off x="295560" y="225360"/>
            <a:ext cx="11599920" cy="766440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 w="19050">
            <a:solidFill>
              <a:srgbClr val="173c9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ru-RU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00" name="TextBox 21"/>
          <p:cNvSpPr/>
          <p:nvPr/>
        </p:nvSpPr>
        <p:spPr>
          <a:xfrm rot="16200000">
            <a:off x="11178360" y="5500080"/>
            <a:ext cx="110484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0" lang="ru-RU" sz="1400" strike="noStrike" u="none">
                <a:solidFill>
                  <a:srgbClr val="fa4012"/>
                </a:solidFill>
                <a:effectLst/>
                <a:uFillTx/>
                <a:latin typeface="Arial"/>
              </a:rPr>
              <a:t>06.2026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1" name="TextBox 22"/>
          <p:cNvSpPr/>
          <p:nvPr/>
        </p:nvSpPr>
        <p:spPr>
          <a:xfrm>
            <a:off x="11579400" y="6314400"/>
            <a:ext cx="30708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914400">
              <a:lnSpc>
                <a:spcPct val="100000"/>
              </a:lnSpc>
            </a:pPr>
            <a:r>
              <a:rPr b="0" lang="ru-RU" sz="1400" strike="noStrike" u="none">
                <a:solidFill>
                  <a:srgbClr val="173c90"/>
                </a:solidFill>
                <a:effectLst/>
                <a:uFillTx/>
                <a:latin typeface="Arial"/>
              </a:rPr>
              <a:t>5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202" name="Прямая соединительная линия 9"/>
          <p:cNvCxnSpPr/>
          <p:nvPr/>
        </p:nvCxnSpPr>
        <p:spPr>
          <a:xfrm>
            <a:off x="11579040" y="6240600"/>
            <a:ext cx="288720" cy="720"/>
          </a:xfrm>
          <a:prstGeom prst="straightConnector1">
            <a:avLst/>
          </a:prstGeom>
          <a:ln w="19050">
            <a:solidFill>
              <a:srgbClr val="173c90"/>
            </a:solidFill>
            <a:round/>
          </a:ln>
        </p:spPr>
      </p:cxnSp>
      <p:sp>
        <p:nvSpPr>
          <p:cNvPr id="203" name="TextBox 23"/>
          <p:cNvSpPr/>
          <p:nvPr/>
        </p:nvSpPr>
        <p:spPr>
          <a:xfrm>
            <a:off x="375480" y="456480"/>
            <a:ext cx="159912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1" lang="en-US" sz="1200" strike="noStrike" u="none">
                <a:solidFill>
                  <a:srgbClr val="173c90"/>
                </a:solidFill>
                <a:effectLst/>
                <a:uFillTx/>
                <a:latin typeface="Arial"/>
              </a:rPr>
              <a:t>QR-</a:t>
            </a:r>
            <a:r>
              <a:rPr b="1" lang="ru-RU" sz="1200" strike="noStrike" u="none">
                <a:solidFill>
                  <a:srgbClr val="173c90"/>
                </a:solidFill>
                <a:effectLst/>
                <a:uFillTx/>
                <a:latin typeface="Arial"/>
              </a:rPr>
              <a:t>разложение</a:t>
            </a:r>
            <a:endParaRPr b="0" lang="ru-RU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4" name="TextBox 24"/>
          <p:cNvSpPr/>
          <p:nvPr/>
        </p:nvSpPr>
        <p:spPr>
          <a:xfrm>
            <a:off x="1974960" y="308520"/>
            <a:ext cx="225108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0" lang="ru-RU" sz="1200" strike="noStrike" u="none">
                <a:solidFill>
                  <a:srgbClr val="173c90"/>
                </a:solidFill>
                <a:effectLst/>
                <a:uFillTx/>
                <a:latin typeface="Arial"/>
              </a:rPr>
              <a:t>Применение вращений Гивенса для QR-разложения</a:t>
            </a:r>
            <a:endParaRPr b="0" lang="ru-RU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205" name="Прямая соединительная линия 10"/>
          <p:cNvCxnSpPr/>
          <p:nvPr/>
        </p:nvCxnSpPr>
        <p:spPr>
          <a:xfrm>
            <a:off x="4190760" y="607680"/>
            <a:ext cx="2184840" cy="720"/>
          </a:xfrm>
          <a:prstGeom prst="straightConnector1">
            <a:avLst/>
          </a:prstGeom>
          <a:ln w="19050">
            <a:solidFill>
              <a:srgbClr val="173c90"/>
            </a:solidFill>
            <a:round/>
          </a:ln>
        </p:spPr>
      </p:cxnSp>
      <p:cxnSp>
        <p:nvCxnSpPr>
          <p:cNvPr id="206" name="Прямая соединительная линия 11"/>
          <p:cNvCxnSpPr/>
          <p:nvPr/>
        </p:nvCxnSpPr>
        <p:spPr>
          <a:xfrm>
            <a:off x="6374880" y="466200"/>
            <a:ext cx="720" cy="288720"/>
          </a:xfrm>
          <a:prstGeom prst="straightConnector1">
            <a:avLst/>
          </a:prstGeom>
          <a:ln w="19050">
            <a:solidFill>
              <a:srgbClr val="173c90"/>
            </a:solidFill>
            <a:round/>
          </a:ln>
        </p:spPr>
      </p:cxnSp>
      <p:cxnSp>
        <p:nvCxnSpPr>
          <p:cNvPr id="207" name="Прямая соединительная линия 12"/>
          <p:cNvCxnSpPr/>
          <p:nvPr/>
        </p:nvCxnSpPr>
        <p:spPr>
          <a:xfrm>
            <a:off x="9295560" y="466200"/>
            <a:ext cx="720" cy="288720"/>
          </a:xfrm>
          <a:prstGeom prst="straightConnector1">
            <a:avLst/>
          </a:prstGeom>
          <a:ln w="19050">
            <a:solidFill>
              <a:srgbClr val="173c90"/>
            </a:solidFill>
            <a:round/>
          </a:ln>
        </p:spPr>
      </p:cxnSp>
      <p:sp>
        <p:nvSpPr>
          <p:cNvPr id="208" name="TextBox 25"/>
          <p:cNvSpPr/>
          <p:nvPr/>
        </p:nvSpPr>
        <p:spPr>
          <a:xfrm>
            <a:off x="375480" y="1045440"/>
            <a:ext cx="760176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1" lang="ru-RU" sz="180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Применение вращений Гивенса для </a:t>
            </a:r>
            <a:r>
              <a:rPr b="1" lang="en-US" sz="180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QR-</a:t>
            </a:r>
            <a:r>
              <a:rPr b="1" lang="ru-RU" sz="180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разложения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09" name="Рисунок 6" descr="Изображение выглядит как текст&#10;&#10;Автоматически созданное описание"/>
          <p:cNvPicPr/>
          <p:nvPr/>
        </p:nvPicPr>
        <p:blipFill>
          <a:blip r:embed="rId1"/>
          <a:stretch/>
        </p:blipFill>
        <p:spPr>
          <a:xfrm>
            <a:off x="7077960" y="389520"/>
            <a:ext cx="1607040" cy="45216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210" name="Рисунок 7" descr="Изображение выглядит как текст, красный, знак, оранжевый&#10;&#10;Автоматически созданное описание"/>
          <p:cNvPicPr/>
          <p:nvPr/>
        </p:nvPicPr>
        <p:blipFill>
          <a:blip r:embed="rId2"/>
          <a:stretch/>
        </p:blipFill>
        <p:spPr>
          <a:xfrm>
            <a:off x="9810000" y="476280"/>
            <a:ext cx="1667520" cy="3240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11" name="TextBox 26"/>
          <p:cNvSpPr/>
          <p:nvPr/>
        </p:nvSpPr>
        <p:spPr>
          <a:xfrm>
            <a:off x="311400" y="1440000"/>
            <a:ext cx="11584440" cy="271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50000"/>
              </a:lnSpc>
              <a:spcBef>
                <a:spcPts val="601"/>
              </a:spcBef>
              <a:spcAft>
                <a:spcPts val="601"/>
              </a:spcAft>
              <a:tabLst>
                <a:tab algn="l" pos="0"/>
              </a:tabLst>
            </a:pPr>
            <a:r>
              <a:rPr b="0" lang="ru-RU" sz="180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Суть алгоритма QR-разложения, реализованного с помощью вращений Гивенса – в последовательном занулении одного поддиагонального элемента, с целью получения верхнетреугольной матрицы R как побочного продукта и Q с помощью явных перемножений в простейшем случае.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50000"/>
              </a:lnSpc>
              <a:spcBef>
                <a:spcPts val="601"/>
              </a:spcBef>
              <a:spcAft>
                <a:spcPts val="601"/>
              </a:spcAft>
              <a:tabLst>
                <a:tab algn="l" pos="0"/>
              </a:tabLst>
            </a:pPr>
            <a:r>
              <a:rPr b="0" lang="ru-RU" sz="180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На каждом шаге алгоритма для зануления элемента с индексами (i,j) получаем  вращение G</a:t>
            </a:r>
            <a:r>
              <a:rPr b="0" lang="ru-RU" sz="1800" strike="noStrike" u="none" baseline="-8000">
                <a:solidFill>
                  <a:schemeClr val="dk1"/>
                </a:solidFill>
                <a:effectLst/>
                <a:uFillTx/>
                <a:latin typeface="Arial"/>
              </a:rPr>
              <a:t>ji</a:t>
            </a:r>
            <a:r>
              <a:rPr b="0" lang="ru-RU" sz="180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, домножая на него матрицу A слева получаем , в которой элементы под главной диагональю, левее (i,j), занулены: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12" name="" descr=""/>
          <p:cNvPicPr/>
          <p:nvPr/>
        </p:nvPicPr>
        <p:blipFill>
          <a:blip r:embed="rId3"/>
          <a:stretch/>
        </p:blipFill>
        <p:spPr>
          <a:xfrm>
            <a:off x="1863360" y="4139280"/>
            <a:ext cx="1916280" cy="12988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213" name="" descr=""/>
          <p:cNvPicPr/>
          <p:nvPr/>
        </p:nvPicPr>
        <p:blipFill>
          <a:blip r:embed="rId4"/>
          <a:stretch/>
        </p:blipFill>
        <p:spPr>
          <a:xfrm>
            <a:off x="4635720" y="4148280"/>
            <a:ext cx="2234880" cy="12924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214" name="" descr=""/>
          <p:cNvPicPr/>
          <p:nvPr/>
        </p:nvPicPr>
        <p:blipFill>
          <a:blip r:embed="rId5"/>
          <a:stretch/>
        </p:blipFill>
        <p:spPr>
          <a:xfrm>
            <a:off x="7568640" y="4101840"/>
            <a:ext cx="2547000" cy="130536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215" name="" descr=""/>
          <p:cNvPicPr/>
          <p:nvPr/>
        </p:nvPicPr>
        <p:blipFill>
          <a:blip r:embed="rId6"/>
          <a:stretch/>
        </p:blipFill>
        <p:spPr>
          <a:xfrm>
            <a:off x="3847320" y="5790240"/>
            <a:ext cx="4638600" cy="2754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216" name="" descr=""/>
          <p:cNvPicPr/>
          <p:nvPr/>
        </p:nvPicPr>
        <p:blipFill>
          <a:blip r:embed="rId7"/>
          <a:stretch/>
        </p:blipFill>
        <p:spPr>
          <a:xfrm>
            <a:off x="1799280" y="6193440"/>
            <a:ext cx="9224640" cy="32292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Скругленный прямоугольник 5"/>
          <p:cNvSpPr/>
          <p:nvPr/>
        </p:nvSpPr>
        <p:spPr>
          <a:xfrm>
            <a:off x="295560" y="225360"/>
            <a:ext cx="11599920" cy="766440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 w="19050">
            <a:solidFill>
              <a:srgbClr val="173c9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ru-RU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18" name="TextBox 27"/>
          <p:cNvSpPr/>
          <p:nvPr/>
        </p:nvSpPr>
        <p:spPr>
          <a:xfrm rot="16200000">
            <a:off x="11178360" y="5500080"/>
            <a:ext cx="110484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0" lang="ru-RU" sz="1400" strike="noStrike" u="none">
                <a:solidFill>
                  <a:srgbClr val="fa4012"/>
                </a:solidFill>
                <a:effectLst/>
                <a:uFillTx/>
                <a:latin typeface="Arial"/>
              </a:rPr>
              <a:t>06.2026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9" name="TextBox 28"/>
          <p:cNvSpPr/>
          <p:nvPr/>
        </p:nvSpPr>
        <p:spPr>
          <a:xfrm>
            <a:off x="11579400" y="6314400"/>
            <a:ext cx="30708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914400">
              <a:lnSpc>
                <a:spcPct val="100000"/>
              </a:lnSpc>
            </a:pPr>
            <a:r>
              <a:rPr b="0" lang="ru-RU" sz="1400" strike="noStrike" u="none">
                <a:solidFill>
                  <a:srgbClr val="173c90"/>
                </a:solidFill>
                <a:effectLst/>
                <a:uFillTx/>
                <a:latin typeface="Arial"/>
              </a:rPr>
              <a:t>6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220" name="Прямая соединительная линия 13"/>
          <p:cNvCxnSpPr/>
          <p:nvPr/>
        </p:nvCxnSpPr>
        <p:spPr>
          <a:xfrm>
            <a:off x="11579040" y="6240600"/>
            <a:ext cx="288720" cy="720"/>
          </a:xfrm>
          <a:prstGeom prst="straightConnector1">
            <a:avLst/>
          </a:prstGeom>
          <a:ln w="19050">
            <a:solidFill>
              <a:srgbClr val="173c90"/>
            </a:solidFill>
            <a:round/>
          </a:ln>
        </p:spPr>
      </p:cxnSp>
      <p:sp>
        <p:nvSpPr>
          <p:cNvPr id="221" name="TextBox 29"/>
          <p:cNvSpPr/>
          <p:nvPr/>
        </p:nvSpPr>
        <p:spPr>
          <a:xfrm>
            <a:off x="375480" y="456480"/>
            <a:ext cx="159912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1" lang="en-US" sz="1200" strike="noStrike" u="none">
                <a:solidFill>
                  <a:srgbClr val="173c90"/>
                </a:solidFill>
                <a:effectLst/>
                <a:uFillTx/>
                <a:latin typeface="Arial"/>
              </a:rPr>
              <a:t>QR-</a:t>
            </a:r>
            <a:r>
              <a:rPr b="1" lang="ru-RU" sz="1200" strike="noStrike" u="none">
                <a:solidFill>
                  <a:srgbClr val="173c90"/>
                </a:solidFill>
                <a:effectLst/>
                <a:uFillTx/>
                <a:latin typeface="Arial"/>
              </a:rPr>
              <a:t>разложение</a:t>
            </a:r>
            <a:endParaRPr b="0" lang="ru-RU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2" name="TextBox 30"/>
          <p:cNvSpPr/>
          <p:nvPr/>
        </p:nvSpPr>
        <p:spPr>
          <a:xfrm>
            <a:off x="1762560" y="456480"/>
            <a:ext cx="246348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0" lang="ru-RU" sz="1200" strike="noStrike" u="none">
                <a:solidFill>
                  <a:srgbClr val="173c90"/>
                </a:solidFill>
                <a:effectLst/>
                <a:uFillTx/>
                <a:latin typeface="Arial"/>
              </a:rPr>
              <a:t>Возможные оптимизации первой реализации</a:t>
            </a:r>
            <a:endParaRPr b="0" lang="ru-RU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223" name="Прямая соединительная линия 14"/>
          <p:cNvCxnSpPr/>
          <p:nvPr/>
        </p:nvCxnSpPr>
        <p:spPr>
          <a:xfrm>
            <a:off x="4190760" y="607680"/>
            <a:ext cx="2184840" cy="720"/>
          </a:xfrm>
          <a:prstGeom prst="straightConnector1">
            <a:avLst/>
          </a:prstGeom>
          <a:ln w="19050">
            <a:solidFill>
              <a:srgbClr val="173c90"/>
            </a:solidFill>
            <a:round/>
          </a:ln>
        </p:spPr>
      </p:cxnSp>
      <p:cxnSp>
        <p:nvCxnSpPr>
          <p:cNvPr id="224" name="Прямая соединительная линия 16"/>
          <p:cNvCxnSpPr/>
          <p:nvPr/>
        </p:nvCxnSpPr>
        <p:spPr>
          <a:xfrm>
            <a:off x="6374880" y="466200"/>
            <a:ext cx="720" cy="288720"/>
          </a:xfrm>
          <a:prstGeom prst="straightConnector1">
            <a:avLst/>
          </a:prstGeom>
          <a:ln w="19050">
            <a:solidFill>
              <a:srgbClr val="173c90"/>
            </a:solidFill>
            <a:round/>
          </a:ln>
        </p:spPr>
      </p:cxnSp>
      <p:cxnSp>
        <p:nvCxnSpPr>
          <p:cNvPr id="225" name="Прямая соединительная линия 18"/>
          <p:cNvCxnSpPr/>
          <p:nvPr/>
        </p:nvCxnSpPr>
        <p:spPr>
          <a:xfrm>
            <a:off x="9295560" y="466200"/>
            <a:ext cx="720" cy="288720"/>
          </a:xfrm>
          <a:prstGeom prst="straightConnector1">
            <a:avLst/>
          </a:prstGeom>
          <a:ln w="19050">
            <a:solidFill>
              <a:srgbClr val="173c90"/>
            </a:solidFill>
            <a:round/>
          </a:ln>
        </p:spPr>
      </p:cxnSp>
      <p:sp>
        <p:nvSpPr>
          <p:cNvPr id="226" name="TextBox 31"/>
          <p:cNvSpPr/>
          <p:nvPr/>
        </p:nvSpPr>
        <p:spPr>
          <a:xfrm>
            <a:off x="375480" y="1045440"/>
            <a:ext cx="760176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1" lang="ru-RU" sz="180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Возможные оптимизации первой реализации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27" name="Рисунок 8" descr="Изображение выглядит как текст&#10;&#10;Автоматически созданное описание"/>
          <p:cNvPicPr/>
          <p:nvPr/>
        </p:nvPicPr>
        <p:blipFill>
          <a:blip r:embed="rId1"/>
          <a:stretch/>
        </p:blipFill>
        <p:spPr>
          <a:xfrm>
            <a:off x="7077960" y="389520"/>
            <a:ext cx="1607040" cy="45216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228" name="Рисунок 10" descr="Изображение выглядит как текст, красный, знак, оранжевый&#10;&#10;Автоматически созданное описание"/>
          <p:cNvPicPr/>
          <p:nvPr/>
        </p:nvPicPr>
        <p:blipFill>
          <a:blip r:embed="rId2"/>
          <a:stretch/>
        </p:blipFill>
        <p:spPr>
          <a:xfrm>
            <a:off x="9810000" y="476280"/>
            <a:ext cx="1667520" cy="3240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29" name="TextBox 32"/>
          <p:cNvSpPr/>
          <p:nvPr/>
        </p:nvSpPr>
        <p:spPr>
          <a:xfrm>
            <a:off x="311400" y="1461600"/>
            <a:ext cx="11584440" cy="4479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216000" indent="-216000" defTabSz="914400">
              <a:lnSpc>
                <a:spcPct val="150000"/>
              </a:lnSpc>
              <a:spcBef>
                <a:spcPts val="601"/>
              </a:spcBef>
              <a:spcAft>
                <a:spcPts val="601"/>
              </a:spcAft>
              <a:buClr>
                <a:srgbClr val="000000"/>
              </a:buClr>
              <a:buFont typeface="Symbol" charset="2"/>
              <a:buChar char=""/>
              <a:tabLst>
                <a:tab algn="l" pos="0"/>
              </a:tabLst>
            </a:pPr>
            <a:r>
              <a:rPr b="0" lang="ru-RU" sz="180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Для эффективной работы с памятью матрицу Q нужно хранить транспонированной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defTabSz="914400">
              <a:lnSpc>
                <a:spcPct val="150000"/>
              </a:lnSpc>
              <a:spcBef>
                <a:spcPts val="601"/>
              </a:spcBef>
              <a:spcAft>
                <a:spcPts val="601"/>
              </a:spcAft>
              <a:buClr>
                <a:srgbClr val="000000"/>
              </a:buClr>
              <a:buFont typeface="Symbol" charset="2"/>
              <a:buChar char=""/>
              <a:tabLst>
                <a:tab algn="l" pos="0"/>
              </a:tabLst>
            </a:pPr>
            <a:r>
              <a:rPr b="0" lang="ru-RU" sz="180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Сравнить два подхода вычисления Q и R: в рамках одного цикла и раздельно, сохраняя параметры вращения в отдельной структуре либо в матрице R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defTabSz="914400">
              <a:lnSpc>
                <a:spcPct val="150000"/>
              </a:lnSpc>
              <a:spcBef>
                <a:spcPts val="601"/>
              </a:spcBef>
              <a:spcAft>
                <a:spcPts val="601"/>
              </a:spcAft>
              <a:buClr>
                <a:srgbClr val="000000"/>
              </a:buClr>
              <a:buFont typeface="Symbol" charset="2"/>
              <a:buChar char=""/>
              <a:tabLst>
                <a:tab algn="l" pos="0"/>
              </a:tabLst>
            </a:pPr>
            <a:r>
              <a:rPr b="0" lang="ru-RU" sz="180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Попробовать хранить Q и R в одной структуре для улучшения локальности кэша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defTabSz="914400">
              <a:lnSpc>
                <a:spcPct val="150000"/>
              </a:lnSpc>
              <a:spcBef>
                <a:spcPts val="601"/>
              </a:spcBef>
              <a:spcAft>
                <a:spcPts val="601"/>
              </a:spcAft>
              <a:buClr>
                <a:srgbClr val="000000"/>
              </a:buClr>
              <a:buFont typeface="Symbol" charset="2"/>
              <a:buChar char=""/>
              <a:tabLst>
                <a:tab algn="l" pos="0"/>
              </a:tabLst>
            </a:pPr>
            <a:r>
              <a:rPr b="0" lang="ru-RU" sz="180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Можно не выполнять вращение строки при вычислении матрицы R целиком, поскольку слева от текущего столбца элементы вращаемых строк равны 0.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defTabSz="914400">
              <a:lnSpc>
                <a:spcPct val="150000"/>
              </a:lnSpc>
              <a:spcBef>
                <a:spcPts val="601"/>
              </a:spcBef>
              <a:spcAft>
                <a:spcPts val="601"/>
              </a:spcAft>
              <a:buClr>
                <a:srgbClr val="000000"/>
              </a:buClr>
              <a:buFont typeface="Symbol" charset="2"/>
              <a:buChar char=""/>
              <a:tabLst>
                <a:tab algn="l" pos="0"/>
              </a:tabLst>
            </a:pPr>
            <a:r>
              <a:rPr b="0" lang="ru-RU" sz="180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Можно ещё эффективнее обращаться к памяти, выполняя вычисления сразу над несколькими последовательно лежащими элементами, применив векторизацию.вычислений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50000"/>
              </a:lnSpc>
              <a:spcBef>
                <a:spcPts val="601"/>
              </a:spcBef>
              <a:spcAft>
                <a:spcPts val="601"/>
              </a:spcAft>
              <a:tabLst>
                <a:tab algn="l" pos="0"/>
              </a:tabLst>
            </a:pP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0" name="Скругленный прямоугольник 45"/>
          <p:cNvSpPr/>
          <p:nvPr/>
        </p:nvSpPr>
        <p:spPr>
          <a:xfrm>
            <a:off x="295560" y="225360"/>
            <a:ext cx="11599920" cy="766440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 w="19050">
            <a:solidFill>
              <a:srgbClr val="173c9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ru-RU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31" name="TextBox 10"/>
          <p:cNvSpPr/>
          <p:nvPr/>
        </p:nvSpPr>
        <p:spPr>
          <a:xfrm rot="16200000">
            <a:off x="11178360" y="5500080"/>
            <a:ext cx="110484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0" lang="ru-RU" sz="1400" strike="noStrike" u="none">
                <a:solidFill>
                  <a:srgbClr val="fa4012"/>
                </a:solidFill>
                <a:effectLst/>
                <a:uFillTx/>
                <a:latin typeface="Arial"/>
              </a:rPr>
              <a:t>06.2025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232" name="Прямая соединительная линия 15"/>
          <p:cNvCxnSpPr/>
          <p:nvPr/>
        </p:nvCxnSpPr>
        <p:spPr>
          <a:xfrm>
            <a:off x="11579040" y="6240600"/>
            <a:ext cx="288720" cy="720"/>
          </a:xfrm>
          <a:prstGeom prst="straightConnector1">
            <a:avLst/>
          </a:prstGeom>
          <a:ln w="19050">
            <a:solidFill>
              <a:srgbClr val="173c90"/>
            </a:solidFill>
            <a:round/>
          </a:ln>
        </p:spPr>
      </p:cxnSp>
      <p:sp>
        <p:nvSpPr>
          <p:cNvPr id="233" name="TextBox 38"/>
          <p:cNvSpPr/>
          <p:nvPr/>
        </p:nvSpPr>
        <p:spPr>
          <a:xfrm>
            <a:off x="375480" y="456480"/>
            <a:ext cx="159912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1" lang="en-US" sz="1200" strike="noStrike" u="none">
                <a:solidFill>
                  <a:srgbClr val="173c90"/>
                </a:solidFill>
                <a:effectLst/>
                <a:uFillTx/>
                <a:latin typeface="Arial"/>
              </a:rPr>
              <a:t>QR-</a:t>
            </a:r>
            <a:r>
              <a:rPr b="1" lang="ru-RU" sz="1200" strike="noStrike" u="none">
                <a:solidFill>
                  <a:srgbClr val="173c90"/>
                </a:solidFill>
                <a:effectLst/>
                <a:uFillTx/>
                <a:latin typeface="Arial"/>
              </a:rPr>
              <a:t>разложение</a:t>
            </a:r>
            <a:endParaRPr b="0" lang="ru-RU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4" name="TextBox 39"/>
          <p:cNvSpPr/>
          <p:nvPr/>
        </p:nvSpPr>
        <p:spPr>
          <a:xfrm>
            <a:off x="1762560" y="456480"/>
            <a:ext cx="246348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0" lang="ru-RU" sz="1200" strike="noStrike" u="none">
                <a:solidFill>
                  <a:srgbClr val="173c90"/>
                </a:solidFill>
                <a:effectLst/>
                <a:uFillTx/>
                <a:latin typeface="Arial"/>
              </a:rPr>
              <a:t>Описание второй реализации</a:t>
            </a:r>
            <a:endParaRPr b="0" lang="ru-RU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235" name="Прямая соединительная линия 41"/>
          <p:cNvCxnSpPr/>
          <p:nvPr/>
        </p:nvCxnSpPr>
        <p:spPr>
          <a:xfrm>
            <a:off x="4190760" y="607680"/>
            <a:ext cx="2184840" cy="720"/>
          </a:xfrm>
          <a:prstGeom prst="straightConnector1">
            <a:avLst/>
          </a:prstGeom>
          <a:ln w="19050">
            <a:solidFill>
              <a:srgbClr val="173c90"/>
            </a:solidFill>
            <a:round/>
          </a:ln>
        </p:spPr>
      </p:cxnSp>
      <p:cxnSp>
        <p:nvCxnSpPr>
          <p:cNvPr id="236" name="Прямая соединительная линия 42"/>
          <p:cNvCxnSpPr/>
          <p:nvPr/>
        </p:nvCxnSpPr>
        <p:spPr>
          <a:xfrm>
            <a:off x="6374880" y="466200"/>
            <a:ext cx="720" cy="288720"/>
          </a:xfrm>
          <a:prstGeom prst="straightConnector1">
            <a:avLst/>
          </a:prstGeom>
          <a:ln w="19050">
            <a:solidFill>
              <a:srgbClr val="173c90"/>
            </a:solidFill>
            <a:round/>
          </a:ln>
        </p:spPr>
      </p:cxnSp>
      <p:cxnSp>
        <p:nvCxnSpPr>
          <p:cNvPr id="237" name="Прямая соединительная линия 46"/>
          <p:cNvCxnSpPr/>
          <p:nvPr/>
        </p:nvCxnSpPr>
        <p:spPr>
          <a:xfrm>
            <a:off x="9295560" y="466200"/>
            <a:ext cx="720" cy="288720"/>
          </a:xfrm>
          <a:prstGeom prst="straightConnector1">
            <a:avLst/>
          </a:prstGeom>
          <a:ln w="19050">
            <a:solidFill>
              <a:srgbClr val="173c90"/>
            </a:solidFill>
            <a:round/>
          </a:ln>
        </p:spPr>
      </p:cxnSp>
      <p:sp>
        <p:nvSpPr>
          <p:cNvPr id="238" name="TextBox 8"/>
          <p:cNvSpPr/>
          <p:nvPr/>
        </p:nvSpPr>
        <p:spPr>
          <a:xfrm>
            <a:off x="375480" y="1045440"/>
            <a:ext cx="760176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1" lang="ru-RU" sz="180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Замеры времени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39" name="Рисунок 12" descr="Изображение выглядит как текст&#10;&#10;Автоматически созданное описание"/>
          <p:cNvPicPr/>
          <p:nvPr/>
        </p:nvPicPr>
        <p:blipFill>
          <a:blip r:embed="rId1"/>
          <a:stretch/>
        </p:blipFill>
        <p:spPr>
          <a:xfrm>
            <a:off x="7077960" y="389520"/>
            <a:ext cx="1607040" cy="45216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240" name="Рисунок 13" descr="Изображение выглядит как текст, красный, знак, оранжевый&#10;&#10;Автоматически созданное описание"/>
          <p:cNvPicPr/>
          <p:nvPr/>
        </p:nvPicPr>
        <p:blipFill>
          <a:blip r:embed="rId2"/>
          <a:stretch/>
        </p:blipFill>
        <p:spPr>
          <a:xfrm>
            <a:off x="9810000" y="476280"/>
            <a:ext cx="1667520" cy="3240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41" name="TextBox 17"/>
          <p:cNvSpPr/>
          <p:nvPr/>
        </p:nvSpPr>
        <p:spPr>
          <a:xfrm>
            <a:off x="11506320" y="6276960"/>
            <a:ext cx="45288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914400">
              <a:lnSpc>
                <a:spcPct val="100000"/>
              </a:lnSpc>
            </a:pPr>
            <a:r>
              <a:rPr b="0" lang="ru-RU" sz="1400" strike="noStrike" u="none">
                <a:solidFill>
                  <a:srgbClr val="173c90"/>
                </a:solidFill>
                <a:effectLst/>
                <a:uFillTx/>
                <a:latin typeface="Arial"/>
              </a:rPr>
              <a:t>1</a:t>
            </a:r>
            <a:r>
              <a:rPr b="0" lang="en-US" sz="1400" strike="noStrike" u="none">
                <a:solidFill>
                  <a:srgbClr val="173c90"/>
                </a:solidFill>
                <a:effectLst/>
                <a:uFillTx/>
                <a:latin typeface="Arial"/>
              </a:rPr>
              <a:t>1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242" name="Диаграмма 6"/>
          <p:cNvGraphicFramePr/>
          <p:nvPr/>
        </p:nvGraphicFramePr>
        <p:xfrm>
          <a:off x="2031840" y="1414440"/>
          <a:ext cx="8127360" cy="5418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Скругленный прямоугольник 7"/>
          <p:cNvSpPr/>
          <p:nvPr/>
        </p:nvSpPr>
        <p:spPr>
          <a:xfrm>
            <a:off x="295560" y="225360"/>
            <a:ext cx="11599920" cy="766440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 w="19050">
            <a:solidFill>
              <a:srgbClr val="173c9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ru-RU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44" name="TextBox 40"/>
          <p:cNvSpPr/>
          <p:nvPr/>
        </p:nvSpPr>
        <p:spPr>
          <a:xfrm rot="16200000">
            <a:off x="11178360" y="5500080"/>
            <a:ext cx="110484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0" lang="ru-RU" sz="1400" strike="noStrike" u="none">
                <a:solidFill>
                  <a:srgbClr val="fa4012"/>
                </a:solidFill>
                <a:effectLst/>
                <a:uFillTx/>
                <a:latin typeface="Arial"/>
              </a:rPr>
              <a:t>06.2026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5" name="TextBox 41"/>
          <p:cNvSpPr/>
          <p:nvPr/>
        </p:nvSpPr>
        <p:spPr>
          <a:xfrm>
            <a:off x="11579400" y="6314400"/>
            <a:ext cx="30708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914400">
              <a:lnSpc>
                <a:spcPct val="100000"/>
              </a:lnSpc>
            </a:pPr>
            <a:r>
              <a:rPr b="0" lang="ru-RU" sz="1400" strike="noStrike" u="none">
                <a:solidFill>
                  <a:srgbClr val="173c90"/>
                </a:solidFill>
                <a:effectLst/>
                <a:uFillTx/>
                <a:latin typeface="Arial"/>
              </a:rPr>
              <a:t>5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246" name="Прямая соединительная линия 23"/>
          <p:cNvCxnSpPr/>
          <p:nvPr/>
        </p:nvCxnSpPr>
        <p:spPr>
          <a:xfrm>
            <a:off x="11579040" y="6240600"/>
            <a:ext cx="288720" cy="720"/>
          </a:xfrm>
          <a:prstGeom prst="straightConnector1">
            <a:avLst/>
          </a:prstGeom>
          <a:ln w="19050">
            <a:solidFill>
              <a:srgbClr val="173c90"/>
            </a:solidFill>
            <a:round/>
          </a:ln>
        </p:spPr>
      </p:cxnSp>
      <p:sp>
        <p:nvSpPr>
          <p:cNvPr id="247" name="TextBox 42"/>
          <p:cNvSpPr/>
          <p:nvPr/>
        </p:nvSpPr>
        <p:spPr>
          <a:xfrm>
            <a:off x="375480" y="456480"/>
            <a:ext cx="159912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1" lang="en-US" sz="1200" strike="noStrike" u="none">
                <a:solidFill>
                  <a:srgbClr val="173c90"/>
                </a:solidFill>
                <a:effectLst/>
                <a:uFillTx/>
                <a:latin typeface="Arial"/>
              </a:rPr>
              <a:t>QR-</a:t>
            </a:r>
            <a:r>
              <a:rPr b="1" lang="ru-RU" sz="1200" strike="noStrike" u="none">
                <a:solidFill>
                  <a:srgbClr val="173c90"/>
                </a:solidFill>
                <a:effectLst/>
                <a:uFillTx/>
                <a:latin typeface="Arial"/>
              </a:rPr>
              <a:t>разложение</a:t>
            </a:r>
            <a:endParaRPr b="0" lang="ru-RU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8" name="TextBox 43"/>
          <p:cNvSpPr/>
          <p:nvPr/>
        </p:nvSpPr>
        <p:spPr>
          <a:xfrm>
            <a:off x="1974960" y="441000"/>
            <a:ext cx="2251080" cy="31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0" lang="ru-RU" sz="1500" strike="noStrike" u="none">
                <a:solidFill>
                  <a:srgbClr val="173c90"/>
                </a:solidFill>
                <a:effectLst/>
                <a:uFillTx/>
                <a:latin typeface="Arial"/>
              </a:rPr>
              <a:t>Матрица Хессенберга</a:t>
            </a:r>
            <a:endParaRPr b="0" lang="ru-RU" sz="1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249" name="Прямая соединительная линия 24"/>
          <p:cNvCxnSpPr/>
          <p:nvPr/>
        </p:nvCxnSpPr>
        <p:spPr>
          <a:xfrm>
            <a:off x="4190760" y="607680"/>
            <a:ext cx="2184840" cy="720"/>
          </a:xfrm>
          <a:prstGeom prst="straightConnector1">
            <a:avLst/>
          </a:prstGeom>
          <a:ln w="19050">
            <a:solidFill>
              <a:srgbClr val="173c90"/>
            </a:solidFill>
            <a:round/>
          </a:ln>
        </p:spPr>
      </p:cxnSp>
      <p:cxnSp>
        <p:nvCxnSpPr>
          <p:cNvPr id="250" name="Прямая соединительная линия 25"/>
          <p:cNvCxnSpPr/>
          <p:nvPr/>
        </p:nvCxnSpPr>
        <p:spPr>
          <a:xfrm>
            <a:off x="6374880" y="466200"/>
            <a:ext cx="720" cy="288720"/>
          </a:xfrm>
          <a:prstGeom prst="straightConnector1">
            <a:avLst/>
          </a:prstGeom>
          <a:ln w="19050">
            <a:solidFill>
              <a:srgbClr val="173c90"/>
            </a:solidFill>
            <a:round/>
          </a:ln>
        </p:spPr>
      </p:cxnSp>
      <p:cxnSp>
        <p:nvCxnSpPr>
          <p:cNvPr id="251" name="Прямая соединительная линия 26"/>
          <p:cNvCxnSpPr/>
          <p:nvPr/>
        </p:nvCxnSpPr>
        <p:spPr>
          <a:xfrm>
            <a:off x="9295560" y="466200"/>
            <a:ext cx="720" cy="288720"/>
          </a:xfrm>
          <a:prstGeom prst="straightConnector1">
            <a:avLst/>
          </a:prstGeom>
          <a:ln w="19050">
            <a:solidFill>
              <a:srgbClr val="173c90"/>
            </a:solidFill>
            <a:round/>
          </a:ln>
        </p:spPr>
      </p:cxnSp>
      <p:sp>
        <p:nvSpPr>
          <p:cNvPr id="252" name="TextBox 44"/>
          <p:cNvSpPr/>
          <p:nvPr/>
        </p:nvSpPr>
        <p:spPr>
          <a:xfrm>
            <a:off x="375480" y="1045440"/>
            <a:ext cx="760176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1" lang="ru-RU" sz="180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Матрица Хессенберга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53" name="Рисунок 15" descr="Изображение выглядит как текст&#10;&#10;Автоматически созданное описание"/>
          <p:cNvPicPr/>
          <p:nvPr/>
        </p:nvPicPr>
        <p:blipFill>
          <a:blip r:embed="rId1"/>
          <a:stretch/>
        </p:blipFill>
        <p:spPr>
          <a:xfrm>
            <a:off x="7077960" y="389520"/>
            <a:ext cx="1607040" cy="45216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254" name="Рисунок 16" descr="Изображение выглядит как текст, красный, знак, оранжевый&#10;&#10;Автоматически созданное описание"/>
          <p:cNvPicPr/>
          <p:nvPr/>
        </p:nvPicPr>
        <p:blipFill>
          <a:blip r:embed="rId2"/>
          <a:stretch/>
        </p:blipFill>
        <p:spPr>
          <a:xfrm>
            <a:off x="9810000" y="476280"/>
            <a:ext cx="1667520" cy="3240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55" name="TextBox 45"/>
          <p:cNvSpPr/>
          <p:nvPr/>
        </p:nvSpPr>
        <p:spPr>
          <a:xfrm>
            <a:off x="311400" y="1440000"/>
            <a:ext cx="11584440" cy="1888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50000"/>
              </a:lnSpc>
              <a:spcBef>
                <a:spcPts val="601"/>
              </a:spcBef>
              <a:spcAft>
                <a:spcPts val="601"/>
              </a:spcAft>
              <a:tabLst>
                <a:tab algn="l" pos="0"/>
              </a:tabLst>
            </a:pPr>
            <a:r>
              <a:rPr b="0" lang="ru-RU" sz="180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Матрица Хессенберга — вид квадратной матрицы, обобщающий треугольные матрицы. Названа так в честь немецкого математика, Карла Хессенберга.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50000"/>
              </a:lnSpc>
              <a:spcBef>
                <a:spcPts val="601"/>
              </a:spcBef>
              <a:spcAft>
                <a:spcPts val="601"/>
              </a:spcAft>
              <a:tabLst>
                <a:tab algn="l" pos="0"/>
              </a:tabLst>
            </a:pPr>
            <a:r>
              <a:rPr b="0" lang="ru-RU" sz="180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Верхняя матрица Хессенберга — это квадратная матрица, все элементы ниже побочной диагонали которой равны нулю: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6" name="TextBox 46"/>
          <p:cNvSpPr/>
          <p:nvPr/>
        </p:nvSpPr>
        <p:spPr>
          <a:xfrm>
            <a:off x="302040" y="5545080"/>
            <a:ext cx="11584440" cy="91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50000"/>
              </a:lnSpc>
              <a:spcBef>
                <a:spcPts val="601"/>
              </a:spcBef>
              <a:spcAft>
                <a:spcPts val="601"/>
              </a:spcAft>
              <a:tabLst>
                <a:tab algn="l" pos="0"/>
              </a:tabLst>
            </a:pPr>
            <a:r>
              <a:rPr b="0" lang="ru-RU" sz="180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Аналогично определяется нижняя матрица Хессенберга, при транспонировании которой получается верхняя матрица Хессенберга.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57" name="" descr=""/>
          <p:cNvPicPr/>
          <p:nvPr/>
        </p:nvPicPr>
        <p:blipFill>
          <a:blip r:embed="rId3"/>
          <a:stretch/>
        </p:blipFill>
        <p:spPr>
          <a:xfrm>
            <a:off x="1388880" y="3311280"/>
            <a:ext cx="3924000" cy="191376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258" name="" descr=""/>
          <p:cNvPicPr/>
          <p:nvPr/>
        </p:nvPicPr>
        <p:blipFill>
          <a:blip r:embed="rId4"/>
          <a:stretch/>
        </p:blipFill>
        <p:spPr>
          <a:xfrm>
            <a:off x="6382080" y="3367800"/>
            <a:ext cx="3781080" cy="194256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9" name="Скругленный прямоугольник 8"/>
          <p:cNvSpPr/>
          <p:nvPr/>
        </p:nvSpPr>
        <p:spPr>
          <a:xfrm>
            <a:off x="295560" y="225360"/>
            <a:ext cx="11599920" cy="766440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 w="19050">
            <a:solidFill>
              <a:srgbClr val="173c9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ru-RU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60" name="TextBox 47"/>
          <p:cNvSpPr/>
          <p:nvPr/>
        </p:nvSpPr>
        <p:spPr>
          <a:xfrm rot="16200000">
            <a:off x="11178360" y="5500080"/>
            <a:ext cx="110484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0" lang="ru-RU" sz="1400" strike="noStrike" u="none">
                <a:solidFill>
                  <a:srgbClr val="fa4012"/>
                </a:solidFill>
                <a:effectLst/>
                <a:uFillTx/>
                <a:latin typeface="Arial"/>
              </a:rPr>
              <a:t>06.2026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1" name="TextBox 48"/>
          <p:cNvSpPr/>
          <p:nvPr/>
        </p:nvSpPr>
        <p:spPr>
          <a:xfrm>
            <a:off x="11579400" y="6314400"/>
            <a:ext cx="30708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914400">
              <a:lnSpc>
                <a:spcPct val="100000"/>
              </a:lnSpc>
            </a:pPr>
            <a:r>
              <a:rPr b="0" lang="ru-RU" sz="1400" strike="noStrike" u="none">
                <a:solidFill>
                  <a:srgbClr val="173c90"/>
                </a:solidFill>
                <a:effectLst/>
                <a:uFillTx/>
                <a:latin typeface="Arial"/>
              </a:rPr>
              <a:t>5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262" name="Прямая соединительная линия 27"/>
          <p:cNvCxnSpPr/>
          <p:nvPr/>
        </p:nvCxnSpPr>
        <p:spPr>
          <a:xfrm>
            <a:off x="11579040" y="6240600"/>
            <a:ext cx="288720" cy="720"/>
          </a:xfrm>
          <a:prstGeom prst="straightConnector1">
            <a:avLst/>
          </a:prstGeom>
          <a:ln w="19050">
            <a:solidFill>
              <a:srgbClr val="173c90"/>
            </a:solidFill>
            <a:round/>
          </a:ln>
        </p:spPr>
      </p:cxnSp>
      <p:sp>
        <p:nvSpPr>
          <p:cNvPr id="263" name="TextBox 49"/>
          <p:cNvSpPr/>
          <p:nvPr/>
        </p:nvSpPr>
        <p:spPr>
          <a:xfrm>
            <a:off x="375480" y="456480"/>
            <a:ext cx="159912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1" lang="en-US" sz="1200" strike="noStrike" u="none">
                <a:solidFill>
                  <a:srgbClr val="173c90"/>
                </a:solidFill>
                <a:effectLst/>
                <a:uFillTx/>
                <a:latin typeface="Arial"/>
              </a:rPr>
              <a:t>QR-</a:t>
            </a:r>
            <a:r>
              <a:rPr b="1" lang="ru-RU" sz="1200" strike="noStrike" u="none">
                <a:solidFill>
                  <a:srgbClr val="173c90"/>
                </a:solidFill>
                <a:effectLst/>
                <a:uFillTx/>
                <a:latin typeface="Arial"/>
              </a:rPr>
              <a:t>разложение</a:t>
            </a:r>
            <a:endParaRPr b="0" lang="ru-RU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4" name="TextBox 50"/>
          <p:cNvSpPr/>
          <p:nvPr/>
        </p:nvSpPr>
        <p:spPr>
          <a:xfrm>
            <a:off x="1728720" y="441000"/>
            <a:ext cx="2497320" cy="54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0" lang="ru-RU" sz="1500" strike="noStrike" u="none">
                <a:solidFill>
                  <a:srgbClr val="173c90"/>
                </a:solidFill>
                <a:effectLst/>
                <a:uFillTx/>
                <a:latin typeface="Arial"/>
              </a:rPr>
              <a:t>QR-разложение верхней матрицы Хессенберга</a:t>
            </a:r>
            <a:endParaRPr b="0" lang="ru-RU" sz="1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265" name="Прямая соединительная линия 28"/>
          <p:cNvCxnSpPr/>
          <p:nvPr/>
        </p:nvCxnSpPr>
        <p:spPr>
          <a:xfrm>
            <a:off x="4190760" y="607680"/>
            <a:ext cx="2184840" cy="720"/>
          </a:xfrm>
          <a:prstGeom prst="straightConnector1">
            <a:avLst/>
          </a:prstGeom>
          <a:ln w="19050">
            <a:solidFill>
              <a:srgbClr val="173c90"/>
            </a:solidFill>
            <a:round/>
          </a:ln>
        </p:spPr>
      </p:cxnSp>
      <p:cxnSp>
        <p:nvCxnSpPr>
          <p:cNvPr id="266" name="Прямая соединительная линия 29"/>
          <p:cNvCxnSpPr/>
          <p:nvPr/>
        </p:nvCxnSpPr>
        <p:spPr>
          <a:xfrm>
            <a:off x="6374880" y="466200"/>
            <a:ext cx="720" cy="288720"/>
          </a:xfrm>
          <a:prstGeom prst="straightConnector1">
            <a:avLst/>
          </a:prstGeom>
          <a:ln w="19050">
            <a:solidFill>
              <a:srgbClr val="173c90"/>
            </a:solidFill>
            <a:round/>
          </a:ln>
        </p:spPr>
      </p:cxnSp>
      <p:cxnSp>
        <p:nvCxnSpPr>
          <p:cNvPr id="267" name="Прямая соединительная линия 30"/>
          <p:cNvCxnSpPr/>
          <p:nvPr/>
        </p:nvCxnSpPr>
        <p:spPr>
          <a:xfrm>
            <a:off x="9295560" y="466200"/>
            <a:ext cx="720" cy="288720"/>
          </a:xfrm>
          <a:prstGeom prst="straightConnector1">
            <a:avLst/>
          </a:prstGeom>
          <a:ln w="19050">
            <a:solidFill>
              <a:srgbClr val="173c90"/>
            </a:solidFill>
            <a:round/>
          </a:ln>
        </p:spPr>
      </p:cxnSp>
      <p:sp>
        <p:nvSpPr>
          <p:cNvPr id="268" name="TextBox 51"/>
          <p:cNvSpPr/>
          <p:nvPr/>
        </p:nvSpPr>
        <p:spPr>
          <a:xfrm>
            <a:off x="375480" y="1045440"/>
            <a:ext cx="760176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1" lang="ru-RU" sz="180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QR-разложение верхней матрицы Хессенберга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69" name="Рисунок 17" descr="Изображение выглядит как текст&#10;&#10;Автоматически созданное описание"/>
          <p:cNvPicPr/>
          <p:nvPr/>
        </p:nvPicPr>
        <p:blipFill>
          <a:blip r:embed="rId1"/>
          <a:stretch/>
        </p:blipFill>
        <p:spPr>
          <a:xfrm>
            <a:off x="7077960" y="389520"/>
            <a:ext cx="1607040" cy="45216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270" name="Рисунок 19" descr="Изображение выглядит как текст, красный, знак, оранжевый&#10;&#10;Автоматически созданное описание"/>
          <p:cNvPicPr/>
          <p:nvPr/>
        </p:nvPicPr>
        <p:blipFill>
          <a:blip r:embed="rId2"/>
          <a:stretch/>
        </p:blipFill>
        <p:spPr>
          <a:xfrm>
            <a:off x="9810000" y="476280"/>
            <a:ext cx="1667520" cy="3240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71" name="TextBox 52"/>
          <p:cNvSpPr/>
          <p:nvPr/>
        </p:nvSpPr>
        <p:spPr>
          <a:xfrm>
            <a:off x="311400" y="1440000"/>
            <a:ext cx="11584440" cy="1324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50000"/>
              </a:lnSpc>
              <a:spcBef>
                <a:spcPts val="601"/>
              </a:spcBef>
              <a:spcAft>
                <a:spcPts val="601"/>
              </a:spcAft>
              <a:tabLst>
                <a:tab algn="l" pos="0"/>
              </a:tabLst>
            </a:pPr>
            <a:r>
              <a:rPr b="0" lang="ru-RU" sz="180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Пусть верхняя хессенбергова матрица A имет размер 6x6. С помощью алгоритма QR-разложения на основе вращений Гивенса решение задачи разложения верхней Хессенберговой матрицы выглядит следующим образом: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2" name=""/>
          <p:cNvSpPr/>
          <p:nvPr/>
        </p:nvSpPr>
        <p:spPr>
          <a:xfrm>
            <a:off x="124200" y="5343120"/>
            <a:ext cx="11455200" cy="91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50000"/>
              </a:lnSpc>
              <a:spcBef>
                <a:spcPts val="601"/>
              </a:spcBef>
              <a:spcAft>
                <a:spcPts val="601"/>
              </a:spcAft>
              <a:tabLst>
                <a:tab algn="l" pos="0"/>
              </a:tabLst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необходимо с помощью вращений Гивенса последовательно занулить (N-1) элементов, лежащих на побочной диагонали под главной (выделены красным)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73" name="" descr=""/>
          <p:cNvPicPr/>
          <p:nvPr/>
        </p:nvPicPr>
        <p:blipFill>
          <a:blip r:embed="rId3"/>
          <a:stretch/>
        </p:blipFill>
        <p:spPr>
          <a:xfrm>
            <a:off x="359280" y="3047040"/>
            <a:ext cx="3062880" cy="18244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274" name="" descr=""/>
          <p:cNvPicPr/>
          <p:nvPr/>
        </p:nvPicPr>
        <p:blipFill>
          <a:blip r:embed="rId4"/>
          <a:stretch/>
        </p:blipFill>
        <p:spPr>
          <a:xfrm>
            <a:off x="3921120" y="3163680"/>
            <a:ext cx="3222720" cy="16934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275" name="" descr=""/>
          <p:cNvPicPr/>
          <p:nvPr/>
        </p:nvPicPr>
        <p:blipFill>
          <a:blip r:embed="rId5"/>
          <a:stretch/>
        </p:blipFill>
        <p:spPr>
          <a:xfrm>
            <a:off x="7889040" y="3040920"/>
            <a:ext cx="3717000" cy="168516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Скругленный прямоугольник 9"/>
          <p:cNvSpPr/>
          <p:nvPr/>
        </p:nvSpPr>
        <p:spPr>
          <a:xfrm>
            <a:off x="295560" y="225360"/>
            <a:ext cx="11599920" cy="766440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 w="19050">
            <a:solidFill>
              <a:srgbClr val="173c9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ru-RU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77" name="TextBox 53"/>
          <p:cNvSpPr/>
          <p:nvPr/>
        </p:nvSpPr>
        <p:spPr>
          <a:xfrm rot="16200000">
            <a:off x="11178360" y="5500080"/>
            <a:ext cx="110484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0" lang="ru-RU" sz="1400" strike="noStrike" u="none">
                <a:solidFill>
                  <a:srgbClr val="fa4012"/>
                </a:solidFill>
                <a:effectLst/>
                <a:uFillTx/>
                <a:latin typeface="Arial"/>
              </a:rPr>
              <a:t>06.2026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8" name="TextBox 54"/>
          <p:cNvSpPr/>
          <p:nvPr/>
        </p:nvSpPr>
        <p:spPr>
          <a:xfrm>
            <a:off x="11579400" y="6314400"/>
            <a:ext cx="30708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914400">
              <a:lnSpc>
                <a:spcPct val="100000"/>
              </a:lnSpc>
            </a:pPr>
            <a:r>
              <a:rPr b="0" lang="ru-RU" sz="1400" strike="noStrike" u="none">
                <a:solidFill>
                  <a:srgbClr val="173c90"/>
                </a:solidFill>
                <a:effectLst/>
                <a:uFillTx/>
                <a:latin typeface="Arial"/>
              </a:rPr>
              <a:t>5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279" name="Прямая соединительная линия 31"/>
          <p:cNvCxnSpPr/>
          <p:nvPr/>
        </p:nvCxnSpPr>
        <p:spPr>
          <a:xfrm>
            <a:off x="11579040" y="6240600"/>
            <a:ext cx="288720" cy="720"/>
          </a:xfrm>
          <a:prstGeom prst="straightConnector1">
            <a:avLst/>
          </a:prstGeom>
          <a:ln w="19050">
            <a:solidFill>
              <a:srgbClr val="173c90"/>
            </a:solidFill>
            <a:round/>
          </a:ln>
        </p:spPr>
      </p:cxnSp>
      <p:sp>
        <p:nvSpPr>
          <p:cNvPr id="280" name="TextBox 55"/>
          <p:cNvSpPr/>
          <p:nvPr/>
        </p:nvSpPr>
        <p:spPr>
          <a:xfrm>
            <a:off x="375480" y="456480"/>
            <a:ext cx="159912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1" lang="en-US" sz="1200" strike="noStrike" u="none">
                <a:solidFill>
                  <a:srgbClr val="173c90"/>
                </a:solidFill>
                <a:effectLst/>
                <a:uFillTx/>
                <a:latin typeface="Arial"/>
              </a:rPr>
              <a:t>QR-</a:t>
            </a:r>
            <a:r>
              <a:rPr b="1" lang="ru-RU" sz="1200" strike="noStrike" u="none">
                <a:solidFill>
                  <a:srgbClr val="173c90"/>
                </a:solidFill>
                <a:effectLst/>
                <a:uFillTx/>
                <a:latin typeface="Arial"/>
              </a:rPr>
              <a:t>разложение</a:t>
            </a:r>
            <a:endParaRPr b="0" lang="ru-RU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1" name="TextBox 56"/>
          <p:cNvSpPr/>
          <p:nvPr/>
        </p:nvSpPr>
        <p:spPr>
          <a:xfrm>
            <a:off x="1728720" y="441000"/>
            <a:ext cx="2497320" cy="54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0" lang="ru-RU" sz="1500" strike="noStrike" u="none">
                <a:solidFill>
                  <a:srgbClr val="173c90"/>
                </a:solidFill>
                <a:effectLst/>
                <a:uFillTx/>
                <a:latin typeface="Arial"/>
              </a:rPr>
              <a:t>QR-разложение нижней матрицы Хессенберга</a:t>
            </a:r>
            <a:endParaRPr b="0" lang="ru-RU" sz="1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282" name="Прямая соединительная линия 32"/>
          <p:cNvCxnSpPr/>
          <p:nvPr/>
        </p:nvCxnSpPr>
        <p:spPr>
          <a:xfrm>
            <a:off x="4190760" y="607680"/>
            <a:ext cx="2184840" cy="720"/>
          </a:xfrm>
          <a:prstGeom prst="straightConnector1">
            <a:avLst/>
          </a:prstGeom>
          <a:ln w="19050">
            <a:solidFill>
              <a:srgbClr val="173c90"/>
            </a:solidFill>
            <a:round/>
          </a:ln>
        </p:spPr>
      </p:cxnSp>
      <p:cxnSp>
        <p:nvCxnSpPr>
          <p:cNvPr id="283" name="Прямая соединительная линия 33"/>
          <p:cNvCxnSpPr/>
          <p:nvPr/>
        </p:nvCxnSpPr>
        <p:spPr>
          <a:xfrm>
            <a:off x="6374880" y="466200"/>
            <a:ext cx="720" cy="288720"/>
          </a:xfrm>
          <a:prstGeom prst="straightConnector1">
            <a:avLst/>
          </a:prstGeom>
          <a:ln w="19050">
            <a:solidFill>
              <a:srgbClr val="173c90"/>
            </a:solidFill>
            <a:round/>
          </a:ln>
        </p:spPr>
      </p:cxnSp>
      <p:cxnSp>
        <p:nvCxnSpPr>
          <p:cNvPr id="284" name="Прямая соединительная линия 34"/>
          <p:cNvCxnSpPr/>
          <p:nvPr/>
        </p:nvCxnSpPr>
        <p:spPr>
          <a:xfrm>
            <a:off x="9295560" y="466200"/>
            <a:ext cx="720" cy="288720"/>
          </a:xfrm>
          <a:prstGeom prst="straightConnector1">
            <a:avLst/>
          </a:prstGeom>
          <a:ln w="19050">
            <a:solidFill>
              <a:srgbClr val="173c90"/>
            </a:solidFill>
            <a:round/>
          </a:ln>
        </p:spPr>
      </p:cxnSp>
      <p:sp>
        <p:nvSpPr>
          <p:cNvPr id="285" name="TextBox 57"/>
          <p:cNvSpPr/>
          <p:nvPr/>
        </p:nvSpPr>
        <p:spPr>
          <a:xfrm>
            <a:off x="375480" y="1045440"/>
            <a:ext cx="760176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1" lang="ru-RU" sz="180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QR-разложение нижней матрицы Хессенберга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86" name="Рисунок 20" descr="Изображение выглядит как текст&#10;&#10;Автоматически созданное описание"/>
          <p:cNvPicPr/>
          <p:nvPr/>
        </p:nvPicPr>
        <p:blipFill>
          <a:blip r:embed="rId1"/>
          <a:stretch/>
        </p:blipFill>
        <p:spPr>
          <a:xfrm>
            <a:off x="7077960" y="389520"/>
            <a:ext cx="1607040" cy="45216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287" name="Рисунок 21" descr="Изображение выглядит как текст, красный, знак, оранжевый&#10;&#10;Автоматически созданное описание"/>
          <p:cNvPicPr/>
          <p:nvPr/>
        </p:nvPicPr>
        <p:blipFill>
          <a:blip r:embed="rId2"/>
          <a:stretch/>
        </p:blipFill>
        <p:spPr>
          <a:xfrm>
            <a:off x="9810000" y="476280"/>
            <a:ext cx="1667520" cy="3240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88" name="TextBox 58"/>
          <p:cNvSpPr/>
          <p:nvPr/>
        </p:nvSpPr>
        <p:spPr>
          <a:xfrm>
            <a:off x="311400" y="1440000"/>
            <a:ext cx="11584440" cy="1324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50000"/>
              </a:lnSpc>
              <a:spcBef>
                <a:spcPts val="601"/>
              </a:spcBef>
              <a:spcAft>
                <a:spcPts val="601"/>
              </a:spcAft>
              <a:tabLst>
                <a:tab algn="l" pos="0"/>
              </a:tabLst>
            </a:pPr>
            <a:r>
              <a:rPr b="0" lang="ru-RU" sz="180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Пусть нижняя хессенбергова матрица A имет размер 6x6. С помощью алгоритма QR-разложения на основе отражений Хасхолдера решение задачи разложения нижней Хессенберговой матрицы выглядит следующим образом: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9" name=""/>
          <p:cNvSpPr/>
          <p:nvPr/>
        </p:nvSpPr>
        <p:spPr>
          <a:xfrm>
            <a:off x="124200" y="5343120"/>
            <a:ext cx="11957760" cy="913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50000"/>
              </a:lnSpc>
              <a:spcBef>
                <a:spcPts val="601"/>
              </a:spcBef>
              <a:spcAft>
                <a:spcPts val="601"/>
              </a:spcAft>
              <a:tabLst>
                <a:tab algn="l" pos="0"/>
              </a:tabLst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необходимо с помощью </a:t>
            </a:r>
            <a:r>
              <a:rPr b="0" lang="ru-RU" sz="180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отражений Хаусхолдера</a:t>
            </a: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а </a:t>
            </a: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Calibri"/>
              </a:rPr>
              <a:t>занулить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Calibri"/>
              </a:rPr>
              <a:t>  </a:t>
            </a: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Calibri"/>
              </a:rPr>
              <a:t>          </a:t>
            </a: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Calibri"/>
              </a:rPr>
              <a:t>элементов, лежащих ниже главной диагонали (выделены красным)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mc:AlternateContent>
        <mc:Choice xmlns:a14="http://schemas.microsoft.com/office/drawing/2010/main" Requires="a14">
          <p:sp>
            <p:nvSpPr>
              <p:cNvPr id="290" name=""/>
              <p:cNvSpPr txBox="1"/>
              <p:nvPr/>
            </p:nvSpPr>
            <p:spPr>
              <a:xfrm>
                <a:off x="6569640" y="5484240"/>
                <a:ext cx="618840" cy="421920"/>
              </a:xfrm>
              <a:prstGeom prst="rect">
                <a:avLst/>
              </a:prstGeom>
            </p:spPr>
            <p:txBody>
              <a:bodyPr/>
              <a:p>
                <a14:m>
                  <m:oMath xmlns:m="http://schemas.openxmlformats.org/officeDocument/2006/math">
                    <m:d>
                      <m:dPr>
                        <m:begChr m:val="("/>
                        <m:endChr m:val=")"/>
                      </m:dPr>
                      <m:e>
                        <m:f>
                          <m:num>
                            <m:sSup>
                              <m:e>
                                <m:r>
                                  <m:t xml:space="preserve">N</m:t>
                                </m:r>
                              </m:e>
                              <m:sup>
                                <m:r>
                                  <m:t xml:space="preserve">2</m:t>
                                </m:r>
                              </m:sup>
                            </m:sSup>
                            <m:r>
                              <m:t xml:space="preserve">−</m:t>
                            </m:r>
                            <m:r>
                              <m:t xml:space="preserve">N</m:t>
                            </m:r>
                          </m:num>
                          <m:den>
                            <m:r>
                              <m:t xml:space="preserve">2</m:t>
                            </m:r>
                          </m:den>
                        </m:f>
                      </m:e>
                    </m:d>
                  </m:oMath>
                </a14:m>
              </a:p>
            </p:txBody>
          </p:sp>
        </mc:Choice>
        <mc:Fallback>
          <p:sp>
            <p:nvSpPr>
              <p:cNvPr id="290" name=""/>
              <p:cNvSpPr txBox="1"/>
              <p:nvPr/>
            </p:nvSpPr>
            <p:spPr>
              <a:xfrm>
                <a:off x="6569640" y="5484240"/>
                <a:ext cx="618840" cy="421920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</p:sp>
        </mc:Fallback>
      </mc:AlternateContent>
      <p:pic>
        <p:nvPicPr>
          <p:cNvPr id="291" name="" descr=""/>
          <p:cNvPicPr/>
          <p:nvPr/>
        </p:nvPicPr>
        <p:blipFill>
          <a:blip r:embed="rId4"/>
          <a:stretch/>
        </p:blipFill>
        <p:spPr>
          <a:xfrm>
            <a:off x="953640" y="3095280"/>
            <a:ext cx="3102120" cy="17910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292" name="" descr=""/>
          <p:cNvPicPr/>
          <p:nvPr/>
        </p:nvPicPr>
        <p:blipFill>
          <a:blip r:embed="rId5"/>
          <a:stretch/>
        </p:blipFill>
        <p:spPr>
          <a:xfrm>
            <a:off x="4391280" y="3148200"/>
            <a:ext cx="3394080" cy="18532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293" name="" descr=""/>
          <p:cNvPicPr/>
          <p:nvPr/>
        </p:nvPicPr>
        <p:blipFill>
          <a:blip r:embed="rId6"/>
          <a:stretch/>
        </p:blipFill>
        <p:spPr>
          <a:xfrm>
            <a:off x="7947000" y="3132360"/>
            <a:ext cx="3588840" cy="170748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Скругленный прямоугольник 10"/>
          <p:cNvSpPr/>
          <p:nvPr/>
        </p:nvSpPr>
        <p:spPr>
          <a:xfrm>
            <a:off x="295560" y="225360"/>
            <a:ext cx="11599920" cy="766440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 w="19050">
            <a:solidFill>
              <a:srgbClr val="173c9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ru-RU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95" name="TextBox 59"/>
          <p:cNvSpPr/>
          <p:nvPr/>
        </p:nvSpPr>
        <p:spPr>
          <a:xfrm rot="16200000">
            <a:off x="11178360" y="5500080"/>
            <a:ext cx="110484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0" lang="ru-RU" sz="1400" strike="noStrike" u="none">
                <a:solidFill>
                  <a:srgbClr val="fa4012"/>
                </a:solidFill>
                <a:effectLst/>
                <a:uFillTx/>
                <a:latin typeface="Arial"/>
              </a:rPr>
              <a:t>06.2026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6" name="TextBox 60"/>
          <p:cNvSpPr/>
          <p:nvPr/>
        </p:nvSpPr>
        <p:spPr>
          <a:xfrm>
            <a:off x="11579400" y="6314400"/>
            <a:ext cx="30708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914400">
              <a:lnSpc>
                <a:spcPct val="100000"/>
              </a:lnSpc>
            </a:pPr>
            <a:r>
              <a:rPr b="0" lang="ru-RU" sz="1400" strike="noStrike" u="none">
                <a:solidFill>
                  <a:srgbClr val="173c90"/>
                </a:solidFill>
                <a:effectLst/>
                <a:uFillTx/>
                <a:latin typeface="Arial"/>
              </a:rPr>
              <a:t>5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297" name="Прямая соединительная линия 35"/>
          <p:cNvCxnSpPr/>
          <p:nvPr/>
        </p:nvCxnSpPr>
        <p:spPr>
          <a:xfrm>
            <a:off x="11579040" y="6240600"/>
            <a:ext cx="288720" cy="720"/>
          </a:xfrm>
          <a:prstGeom prst="straightConnector1">
            <a:avLst/>
          </a:prstGeom>
          <a:ln w="19050">
            <a:solidFill>
              <a:srgbClr val="173c90"/>
            </a:solidFill>
            <a:round/>
          </a:ln>
        </p:spPr>
      </p:cxnSp>
      <p:sp>
        <p:nvSpPr>
          <p:cNvPr id="298" name="TextBox 61"/>
          <p:cNvSpPr/>
          <p:nvPr/>
        </p:nvSpPr>
        <p:spPr>
          <a:xfrm>
            <a:off x="375480" y="456480"/>
            <a:ext cx="159912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1" lang="en-US" sz="1200" strike="noStrike" u="none">
                <a:solidFill>
                  <a:srgbClr val="173c90"/>
                </a:solidFill>
                <a:effectLst/>
                <a:uFillTx/>
                <a:latin typeface="Arial"/>
              </a:rPr>
              <a:t>QR-</a:t>
            </a:r>
            <a:r>
              <a:rPr b="1" lang="ru-RU" sz="1200" strike="noStrike" u="none">
                <a:solidFill>
                  <a:srgbClr val="173c90"/>
                </a:solidFill>
                <a:effectLst/>
                <a:uFillTx/>
                <a:latin typeface="Arial"/>
              </a:rPr>
              <a:t>разложение</a:t>
            </a:r>
            <a:endParaRPr b="0" lang="ru-RU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9" name="TextBox 62"/>
          <p:cNvSpPr/>
          <p:nvPr/>
        </p:nvSpPr>
        <p:spPr>
          <a:xfrm>
            <a:off x="1728720" y="441000"/>
            <a:ext cx="2497320" cy="54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0" lang="ru-RU" sz="1500" strike="noStrike" u="none">
                <a:solidFill>
                  <a:srgbClr val="173c90"/>
                </a:solidFill>
                <a:effectLst/>
                <a:uFillTx/>
                <a:latin typeface="Arial"/>
              </a:rPr>
              <a:t>QR-разложение нижней матрицы Хессенберга</a:t>
            </a:r>
            <a:endParaRPr b="0" lang="ru-RU" sz="1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300" name="Прямая соединительная линия 36"/>
          <p:cNvCxnSpPr/>
          <p:nvPr/>
        </p:nvCxnSpPr>
        <p:spPr>
          <a:xfrm>
            <a:off x="4190760" y="607680"/>
            <a:ext cx="2184840" cy="720"/>
          </a:xfrm>
          <a:prstGeom prst="straightConnector1">
            <a:avLst/>
          </a:prstGeom>
          <a:ln w="19050">
            <a:solidFill>
              <a:srgbClr val="173c90"/>
            </a:solidFill>
            <a:round/>
          </a:ln>
        </p:spPr>
      </p:cxnSp>
      <p:cxnSp>
        <p:nvCxnSpPr>
          <p:cNvPr id="301" name="Прямая соединительная линия 37"/>
          <p:cNvCxnSpPr/>
          <p:nvPr/>
        </p:nvCxnSpPr>
        <p:spPr>
          <a:xfrm>
            <a:off x="6374880" y="466200"/>
            <a:ext cx="720" cy="288720"/>
          </a:xfrm>
          <a:prstGeom prst="straightConnector1">
            <a:avLst/>
          </a:prstGeom>
          <a:ln w="19050">
            <a:solidFill>
              <a:srgbClr val="173c90"/>
            </a:solidFill>
            <a:round/>
          </a:ln>
        </p:spPr>
      </p:cxnSp>
      <p:cxnSp>
        <p:nvCxnSpPr>
          <p:cNvPr id="302" name="Прямая соединительная линия 38"/>
          <p:cNvCxnSpPr/>
          <p:nvPr/>
        </p:nvCxnSpPr>
        <p:spPr>
          <a:xfrm>
            <a:off x="9295560" y="466200"/>
            <a:ext cx="720" cy="288720"/>
          </a:xfrm>
          <a:prstGeom prst="straightConnector1">
            <a:avLst/>
          </a:prstGeom>
          <a:ln w="19050">
            <a:solidFill>
              <a:srgbClr val="173c90"/>
            </a:solidFill>
            <a:round/>
          </a:ln>
        </p:spPr>
      </p:cxnSp>
      <p:sp>
        <p:nvSpPr>
          <p:cNvPr id="303" name="TextBox 63"/>
          <p:cNvSpPr/>
          <p:nvPr/>
        </p:nvSpPr>
        <p:spPr>
          <a:xfrm>
            <a:off x="375480" y="1045440"/>
            <a:ext cx="760176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1" lang="ru-RU" sz="180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QR-разложение нижней матрицы Хессенберга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304" name="Рисунок 22" descr="Изображение выглядит как текст&#10;&#10;Автоматически созданное описание"/>
          <p:cNvPicPr/>
          <p:nvPr/>
        </p:nvPicPr>
        <p:blipFill>
          <a:blip r:embed="rId1"/>
          <a:stretch/>
        </p:blipFill>
        <p:spPr>
          <a:xfrm>
            <a:off x="7077960" y="389520"/>
            <a:ext cx="1607040" cy="45216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305" name="Рисунок 23" descr="Изображение выглядит как текст, красный, знак, оранжевый&#10;&#10;Автоматически созданное описание"/>
          <p:cNvPicPr/>
          <p:nvPr/>
        </p:nvPicPr>
        <p:blipFill>
          <a:blip r:embed="rId2"/>
          <a:stretch/>
        </p:blipFill>
        <p:spPr>
          <a:xfrm>
            <a:off x="9810000" y="476280"/>
            <a:ext cx="1667520" cy="3240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06" name="TextBox 64"/>
          <p:cNvSpPr/>
          <p:nvPr/>
        </p:nvSpPr>
        <p:spPr>
          <a:xfrm>
            <a:off x="311400" y="1440000"/>
            <a:ext cx="11584440" cy="1324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50000"/>
              </a:lnSpc>
              <a:spcBef>
                <a:spcPts val="601"/>
              </a:spcBef>
              <a:spcAft>
                <a:spcPts val="601"/>
              </a:spcAft>
              <a:tabLst>
                <a:tab algn="l" pos="0"/>
              </a:tabLst>
            </a:pPr>
            <a:r>
              <a:rPr b="0" lang="ru-RU" sz="180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Пусть нижняя хессенбергова матрица A имет размер 6x6. С помощью алгоритма QR-разложения на основе отражений Хасхолдера решение задачи разложения нижней Хессенберговой матрицы выглядит следующим образом: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7" name=""/>
          <p:cNvSpPr/>
          <p:nvPr/>
        </p:nvSpPr>
        <p:spPr>
          <a:xfrm>
            <a:off x="124200" y="5343120"/>
            <a:ext cx="11957760" cy="913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50000"/>
              </a:lnSpc>
              <a:spcBef>
                <a:spcPts val="601"/>
              </a:spcBef>
              <a:spcAft>
                <a:spcPts val="601"/>
              </a:spcAft>
              <a:tabLst>
                <a:tab algn="l" pos="0"/>
              </a:tabLst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необходимо с помощью </a:t>
            </a:r>
            <a:r>
              <a:rPr b="0" lang="ru-RU" sz="180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отражений Хаусхолдера</a:t>
            </a: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а </a:t>
            </a: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Calibri"/>
              </a:rPr>
              <a:t>занулить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Calibri"/>
              </a:rPr>
              <a:t>  </a:t>
            </a: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Calibri"/>
              </a:rPr>
              <a:t>          </a:t>
            </a: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Calibri"/>
              </a:rPr>
              <a:t>элементов, лежащих ниже главной диагонали (выделены красным)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mc:AlternateContent>
        <mc:Choice xmlns:a14="http://schemas.microsoft.com/office/drawing/2010/main" Requires="a14">
          <p:sp>
            <p:nvSpPr>
              <p:cNvPr id="308" name=""/>
              <p:cNvSpPr txBox="1"/>
              <p:nvPr/>
            </p:nvSpPr>
            <p:spPr>
              <a:xfrm>
                <a:off x="6569640" y="5484240"/>
                <a:ext cx="618840" cy="421920"/>
              </a:xfrm>
              <a:prstGeom prst="rect">
                <a:avLst/>
              </a:prstGeom>
            </p:spPr>
            <p:txBody>
              <a:bodyPr/>
              <a:p>
                <a14:m>
                  <m:oMath xmlns:m="http://schemas.openxmlformats.org/officeDocument/2006/math">
                    <m:d>
                      <m:dPr>
                        <m:begChr m:val="("/>
                        <m:endChr m:val=")"/>
                      </m:dPr>
                      <m:e>
                        <m:f>
                          <m:num>
                            <m:sSup>
                              <m:e>
                                <m:r>
                                  <m:t xml:space="preserve">N</m:t>
                                </m:r>
                              </m:e>
                              <m:sup>
                                <m:r>
                                  <m:t xml:space="preserve">2</m:t>
                                </m:r>
                              </m:sup>
                            </m:sSup>
                            <m:r>
                              <m:t xml:space="preserve">−</m:t>
                            </m:r>
                            <m:r>
                              <m:t xml:space="preserve">N</m:t>
                            </m:r>
                          </m:num>
                          <m:den>
                            <m:r>
                              <m:t xml:space="preserve">2</m:t>
                            </m:r>
                          </m:den>
                        </m:f>
                      </m:e>
                    </m:d>
                  </m:oMath>
                </a14:m>
              </a:p>
            </p:txBody>
          </p:sp>
        </mc:Choice>
        <mc:Fallback>
          <p:sp>
            <p:nvSpPr>
              <p:cNvPr id="308" name=""/>
              <p:cNvSpPr txBox="1"/>
              <p:nvPr/>
            </p:nvSpPr>
            <p:spPr>
              <a:xfrm>
                <a:off x="6569640" y="5484240"/>
                <a:ext cx="618840" cy="421920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</p:sp>
        </mc:Fallback>
      </mc:AlternateContent>
      <p:pic>
        <p:nvPicPr>
          <p:cNvPr id="309" name="" descr=""/>
          <p:cNvPicPr/>
          <p:nvPr/>
        </p:nvPicPr>
        <p:blipFill>
          <a:blip r:embed="rId4"/>
          <a:stretch/>
        </p:blipFill>
        <p:spPr>
          <a:xfrm>
            <a:off x="953640" y="3095280"/>
            <a:ext cx="3102120" cy="17910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310" name="" descr=""/>
          <p:cNvPicPr/>
          <p:nvPr/>
        </p:nvPicPr>
        <p:blipFill>
          <a:blip r:embed="rId5"/>
          <a:stretch/>
        </p:blipFill>
        <p:spPr>
          <a:xfrm>
            <a:off x="4391280" y="3148200"/>
            <a:ext cx="3394080" cy="18532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311" name="" descr=""/>
          <p:cNvPicPr/>
          <p:nvPr/>
        </p:nvPicPr>
        <p:blipFill>
          <a:blip r:embed="rId6"/>
          <a:stretch/>
        </p:blipFill>
        <p:spPr>
          <a:xfrm>
            <a:off x="7947000" y="3132360"/>
            <a:ext cx="3588840" cy="170748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2" name="Скругленный прямоугольник 11"/>
          <p:cNvSpPr/>
          <p:nvPr/>
        </p:nvSpPr>
        <p:spPr>
          <a:xfrm>
            <a:off x="295560" y="225360"/>
            <a:ext cx="11599920" cy="766440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 w="19050">
            <a:solidFill>
              <a:srgbClr val="173c9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ru-RU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13" name="TextBox 65"/>
          <p:cNvSpPr/>
          <p:nvPr/>
        </p:nvSpPr>
        <p:spPr>
          <a:xfrm rot="16200000">
            <a:off x="11178360" y="5500080"/>
            <a:ext cx="110484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0" lang="ru-RU" sz="1400" strike="noStrike" u="none">
                <a:solidFill>
                  <a:srgbClr val="fa4012"/>
                </a:solidFill>
                <a:effectLst/>
                <a:uFillTx/>
                <a:latin typeface="Arial"/>
              </a:rPr>
              <a:t>06.2026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4" name="TextBox 66"/>
          <p:cNvSpPr/>
          <p:nvPr/>
        </p:nvSpPr>
        <p:spPr>
          <a:xfrm>
            <a:off x="11579400" y="6314400"/>
            <a:ext cx="30708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914400">
              <a:lnSpc>
                <a:spcPct val="100000"/>
              </a:lnSpc>
            </a:pPr>
            <a:r>
              <a:rPr b="0" lang="ru-RU" sz="1400" strike="noStrike" u="none">
                <a:solidFill>
                  <a:srgbClr val="173c90"/>
                </a:solidFill>
                <a:effectLst/>
                <a:uFillTx/>
                <a:latin typeface="Arial"/>
              </a:rPr>
              <a:t>5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315" name="Прямая соединительная линия 39"/>
          <p:cNvCxnSpPr/>
          <p:nvPr/>
        </p:nvCxnSpPr>
        <p:spPr>
          <a:xfrm>
            <a:off x="11579040" y="6240600"/>
            <a:ext cx="288720" cy="720"/>
          </a:xfrm>
          <a:prstGeom prst="straightConnector1">
            <a:avLst/>
          </a:prstGeom>
          <a:ln w="19050">
            <a:solidFill>
              <a:srgbClr val="173c90"/>
            </a:solidFill>
            <a:round/>
          </a:ln>
        </p:spPr>
      </p:cxnSp>
      <p:sp>
        <p:nvSpPr>
          <p:cNvPr id="316" name="TextBox 67"/>
          <p:cNvSpPr/>
          <p:nvPr/>
        </p:nvSpPr>
        <p:spPr>
          <a:xfrm>
            <a:off x="375480" y="456480"/>
            <a:ext cx="159912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1" lang="en-US" sz="1200" strike="noStrike" u="none">
                <a:solidFill>
                  <a:srgbClr val="173c90"/>
                </a:solidFill>
                <a:effectLst/>
                <a:uFillTx/>
                <a:latin typeface="Arial"/>
              </a:rPr>
              <a:t>QR-</a:t>
            </a:r>
            <a:r>
              <a:rPr b="1" lang="ru-RU" sz="1200" strike="noStrike" u="none">
                <a:solidFill>
                  <a:srgbClr val="173c90"/>
                </a:solidFill>
                <a:effectLst/>
                <a:uFillTx/>
                <a:latin typeface="Arial"/>
              </a:rPr>
              <a:t>разложение</a:t>
            </a:r>
            <a:endParaRPr b="0" lang="ru-RU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7" name="TextBox 68"/>
          <p:cNvSpPr/>
          <p:nvPr/>
        </p:nvSpPr>
        <p:spPr>
          <a:xfrm>
            <a:off x="1728720" y="279000"/>
            <a:ext cx="2497320" cy="684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0" lang="ru-RU" sz="1300" strike="noStrike" u="none">
                <a:solidFill>
                  <a:srgbClr val="173c90"/>
                </a:solidFill>
                <a:effectLst/>
                <a:uFillTx/>
                <a:latin typeface="Arial"/>
              </a:rPr>
              <a:t>Результаты решения задачи QR-разложения хессенберговой матрицы</a:t>
            </a:r>
            <a:endParaRPr b="0" lang="ru-RU" sz="1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318" name="Прямая соединительная линия 40"/>
          <p:cNvCxnSpPr/>
          <p:nvPr/>
        </p:nvCxnSpPr>
        <p:spPr>
          <a:xfrm>
            <a:off x="4190760" y="607680"/>
            <a:ext cx="2184840" cy="720"/>
          </a:xfrm>
          <a:prstGeom prst="straightConnector1">
            <a:avLst/>
          </a:prstGeom>
          <a:ln w="19050">
            <a:solidFill>
              <a:srgbClr val="173c90"/>
            </a:solidFill>
            <a:round/>
          </a:ln>
        </p:spPr>
      </p:cxnSp>
      <p:cxnSp>
        <p:nvCxnSpPr>
          <p:cNvPr id="319" name="Прямая соединительная линия 43"/>
          <p:cNvCxnSpPr/>
          <p:nvPr/>
        </p:nvCxnSpPr>
        <p:spPr>
          <a:xfrm>
            <a:off x="6374880" y="466200"/>
            <a:ext cx="720" cy="288720"/>
          </a:xfrm>
          <a:prstGeom prst="straightConnector1">
            <a:avLst/>
          </a:prstGeom>
          <a:ln w="19050">
            <a:solidFill>
              <a:srgbClr val="173c90"/>
            </a:solidFill>
            <a:round/>
          </a:ln>
        </p:spPr>
      </p:cxnSp>
      <p:cxnSp>
        <p:nvCxnSpPr>
          <p:cNvPr id="320" name="Прямая соединительная линия 44"/>
          <p:cNvCxnSpPr/>
          <p:nvPr/>
        </p:nvCxnSpPr>
        <p:spPr>
          <a:xfrm>
            <a:off x="9295560" y="466200"/>
            <a:ext cx="720" cy="288720"/>
          </a:xfrm>
          <a:prstGeom prst="straightConnector1">
            <a:avLst/>
          </a:prstGeom>
          <a:ln w="19050">
            <a:solidFill>
              <a:srgbClr val="173c90"/>
            </a:solidFill>
            <a:round/>
          </a:ln>
        </p:spPr>
      </p:cxnSp>
      <p:sp>
        <p:nvSpPr>
          <p:cNvPr id="321" name="TextBox 69"/>
          <p:cNvSpPr/>
          <p:nvPr/>
        </p:nvSpPr>
        <p:spPr>
          <a:xfrm>
            <a:off x="375480" y="1045440"/>
            <a:ext cx="8935920" cy="36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1" lang="ru-RU" sz="180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Результаты решения задачи QR-разложения хессенберговой матрицы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322" name="Рисунок 24" descr="Изображение выглядит как текст&#10;&#10;Автоматически созданное описание"/>
          <p:cNvPicPr/>
          <p:nvPr/>
        </p:nvPicPr>
        <p:blipFill>
          <a:blip r:embed="rId1"/>
          <a:stretch/>
        </p:blipFill>
        <p:spPr>
          <a:xfrm>
            <a:off x="7077960" y="389520"/>
            <a:ext cx="1607040" cy="45216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323" name="Рисунок 25" descr="Изображение выглядит как текст, красный, знак, оранжевый&#10;&#10;Автоматически созданное описание"/>
          <p:cNvPicPr/>
          <p:nvPr/>
        </p:nvPicPr>
        <p:blipFill>
          <a:blip r:embed="rId2"/>
          <a:stretch/>
        </p:blipFill>
        <p:spPr>
          <a:xfrm>
            <a:off x="9810000" y="476280"/>
            <a:ext cx="1667520" cy="3240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24" name="TextBox 70"/>
          <p:cNvSpPr/>
          <p:nvPr/>
        </p:nvSpPr>
        <p:spPr>
          <a:xfrm>
            <a:off x="1345320" y="1518120"/>
            <a:ext cx="3962520" cy="547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spAutoFit/>
          </a:bodyPr>
          <a:p>
            <a:pPr algn="ctr"/>
            <a:r>
              <a:rPr b="0" lang="ru-RU" sz="1500" strike="noStrike" u="none">
                <a:solidFill>
                  <a:srgbClr val="000000"/>
                </a:solidFill>
                <a:effectLst/>
                <a:uFillTx/>
                <a:latin typeface="Times New Roman;serif"/>
                <a:ea typeface="Times New Roman;serif"/>
              </a:rPr>
              <a:t>Сравнение скорости решения QR-разложения верхней хессенберговой матрицы</a:t>
            </a:r>
            <a:endParaRPr b="0" lang="ru-RU" sz="1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325" name=""/>
          <p:cNvGraphicFramePr/>
          <p:nvPr/>
        </p:nvGraphicFramePr>
        <p:xfrm>
          <a:off x="950760" y="2182680"/>
          <a:ext cx="5448240" cy="46062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326" name=""/>
          <p:cNvGraphicFramePr/>
          <p:nvPr/>
        </p:nvGraphicFramePr>
        <p:xfrm>
          <a:off x="6457320" y="2164680"/>
          <a:ext cx="5429160" cy="469332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327" name="TextBox 71"/>
          <p:cNvSpPr/>
          <p:nvPr/>
        </p:nvSpPr>
        <p:spPr>
          <a:xfrm>
            <a:off x="6703200" y="1553760"/>
            <a:ext cx="3962520" cy="547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spAutoFit/>
          </a:bodyPr>
          <a:p>
            <a:pPr algn="ctr"/>
            <a:r>
              <a:rPr b="0" lang="ru-RU" sz="1500" strike="noStrike" u="none">
                <a:solidFill>
                  <a:srgbClr val="000000"/>
                </a:solidFill>
                <a:effectLst/>
                <a:uFillTx/>
                <a:latin typeface="Times New Roman;serif"/>
                <a:ea typeface="Times New Roman;serif"/>
              </a:rPr>
              <a:t>Сравнение скорости решения QR-разложения нижней хессенберговой матрицы</a:t>
            </a:r>
            <a:endParaRPr b="0" lang="ru-RU" sz="1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Скругленный прямоугольник 2"/>
          <p:cNvSpPr/>
          <p:nvPr/>
        </p:nvSpPr>
        <p:spPr>
          <a:xfrm>
            <a:off x="663120" y="1015920"/>
            <a:ext cx="10865160" cy="4990320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 w="28575">
            <a:solidFill>
              <a:srgbClr val="44546a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ru-RU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pic>
        <p:nvPicPr>
          <p:cNvPr id="329" name="Рисунок 3" descr="Изображение выглядит как текст&#10;&#10;Автоматически созданное описание"/>
          <p:cNvPicPr/>
          <p:nvPr/>
        </p:nvPicPr>
        <p:blipFill>
          <a:blip r:embed="rId1"/>
          <a:stretch/>
        </p:blipFill>
        <p:spPr>
          <a:xfrm>
            <a:off x="5292360" y="1396800"/>
            <a:ext cx="1607040" cy="4521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30" name="TextBox 4"/>
          <p:cNvSpPr/>
          <p:nvPr/>
        </p:nvSpPr>
        <p:spPr>
          <a:xfrm>
            <a:off x="2894760" y="3136680"/>
            <a:ext cx="6401880" cy="583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914400">
              <a:lnSpc>
                <a:spcPct val="100000"/>
              </a:lnSpc>
            </a:pPr>
            <a:r>
              <a:rPr b="1" lang="ru-RU" sz="3200" strike="noStrike" u="none">
                <a:solidFill>
                  <a:srgbClr val="173c90"/>
                </a:solidFill>
                <a:effectLst/>
                <a:uFillTx/>
                <a:latin typeface="Arial"/>
              </a:rPr>
              <a:t>СПАСИБО ЗА ВНИМАНИЕ!</a:t>
            </a:r>
            <a:endParaRPr b="0" lang="ru-RU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Тема Office">
  <a:themeElements>
    <a:clrScheme name="Стандартная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 pitchFamily="0" charset="1"/>
        <a:ea typeface=""/>
        <a:cs typeface=""/>
      </a:majorFont>
      <a:minorFont>
        <a:latin typeface="Calibri" panose="020F0502020204030204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12.xml><?xml version="1.0" encoding="utf-8"?>
<a:theme xmlns:a="http://schemas.openxmlformats.org/drawingml/2006/main" xmlns:r="http://schemas.openxmlformats.org/officeDocument/2006/relationships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344</TotalTime>
  <Application>LibreOffice/25.2.7.2$Windows_X86_64 LibreOffice_project/5cbfd1ab6520636bb5f7b99185aa69bd7456825d</Application>
  <AppVersion>15.0000</AppVersion>
  <Words>953</Words>
  <Paragraphs>238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2025-06-04T17:20:17Z</dcterms:created>
  <dc:creator>Кандрин Алексей Дмитриевич</dc:creator>
  <dc:description/>
  <dc:language>ru-RU</dc:language>
  <cp:lastModifiedBy/>
  <dcterms:modified xsi:type="dcterms:W3CDTF">2026-05-26T17:26:07Z</dcterms:modified>
  <cp:revision>110</cp:revision>
  <dc:subject/>
  <dc:title>QR разложение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Notes">
    <vt:i4>8</vt:i4>
  </property>
  <property fmtid="{D5CDD505-2E9C-101B-9397-08002B2CF9AE}" pid="3" name="PresentationFormat">
    <vt:lpwstr>Широкоэкранный</vt:lpwstr>
  </property>
  <property fmtid="{D5CDD505-2E9C-101B-9397-08002B2CF9AE}" pid="4" name="Slides">
    <vt:i4>16</vt:i4>
  </property>
</Properties>
</file>
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25.xml" ContentType="application/vnd.openxmlformats-officedocument.presentationml.slide+xml"/>
  <Override PartName="/ppt/slides/slide9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7.xml.rels" ContentType="application/vnd.openxmlformats-package.relationships+xml"/>
  <Override PartName="/ppt/media/image28.png" ContentType="image/png"/>
  <Override PartName="/ppt/media/image1.jpeg" ContentType="image/jpeg"/>
  <Override PartName="/ppt/media/image14.wmf" ContentType="image/x-wmf"/>
  <Override PartName="/ppt/media/image3.png" ContentType="image/png"/>
  <Override PartName="/ppt/media/image2.png" ContentType="image/png"/>
  <Override PartName="/ppt/media/image15.wmf" ContentType="image/x-wmf"/>
  <Override PartName="/ppt/media/image4.png" ContentType="image/png"/>
  <Override PartName="/ppt/media/image5.png" ContentType="image/png"/>
  <Override PartName="/ppt/media/image16.wmf" ContentType="image/x-wmf"/>
  <Override PartName="/ppt/media/image6.png" ContentType="image/png"/>
  <Override PartName="/ppt/media/image7.png" ContentType="image/png"/>
  <Override PartName="/ppt/media/image8.png" ContentType="image/png"/>
  <Override PartName="/ppt/media/image9.wmf" ContentType="image/x-wmf"/>
  <Override PartName="/ppt/media/image10.wmf" ContentType="image/x-wmf"/>
  <Override PartName="/ppt/media/image11.wmf" ContentType="image/x-wmf"/>
  <Override PartName="/ppt/media/image12.wmf" ContentType="image/x-wmf"/>
  <Override PartName="/ppt/media/image13.png" ContentType="image/png"/>
  <Override PartName="/ppt/media/image25.wmf" ContentType="image/x-wmf"/>
  <Override PartName="/ppt/media/image17.png" ContentType="image/png"/>
  <Override PartName="/ppt/media/image18.png" ContentType="image/png"/>
  <Override PartName="/ppt/media/image19.png" ContentType="image/png"/>
  <Override PartName="/ppt/media/image20.png" ContentType="image/png"/>
  <Override PartName="/ppt/media/image21.png" ContentType="image/png"/>
  <Override PartName="/ppt/media/image33.wmf" ContentType="image/x-wmf"/>
  <Override PartName="/ppt/media/image22.png" ContentType="image/png"/>
  <Override PartName="/ppt/media/image23.wmf" ContentType="image/x-wmf"/>
  <Override PartName="/ppt/media/image24.wmf" ContentType="image/x-wmf"/>
  <Override PartName="/ppt/media/image26.wmf" ContentType="image/x-wmf"/>
  <Override PartName="/ppt/media/image27.wmf" ContentType="image/x-wmf"/>
  <Override PartName="/ppt/media/image29.png" ContentType="image/png"/>
  <Override PartName="/ppt/media/image30.png" ContentType="image/png"/>
  <Override PartName="/ppt/media/image31.png" ContentType="image/png"/>
  <Override PartName="/ppt/media/image32.png" ContentType="image/png"/>
  <Override PartName="/ppt/media/image34.png" ContentType="image/png"/>
  <Override PartName="/ppt/media/image35.png" ContentType="image/png"/>
  <Override PartName="/ppt/media/image36.png" ContentType="image/png"/>
  <Override PartName="/ppt/notesSlides/notesSlide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_rels/notesSlide14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25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0870442790462975"/>
          <c:y val="0.0197476158366246"/>
          <c:w val="0.652453639460073"/>
          <c:h val="0.847991522974665"/>
        </c:manualLayout>
      </c:layout>
      <c:lineChart>
        <c:grouping val="standar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Базовая реализация</c:v>
                </c:pt>
              </c:strCache>
            </c:strRef>
          </c:tx>
          <c:spPr>
            <a:solidFill>
              <a:srgbClr val="ff420e"/>
            </a:solidFill>
            <a:ln w="28800">
              <a:solidFill>
                <a:srgbClr val="ff420e"/>
              </a:solidFill>
              <a:round/>
            </a:ln>
          </c:spPr>
          <c:marker>
            <c:symbol val="diamond"/>
            <c:size val="8"/>
            <c:spPr>
              <a:solidFill>
                <a:srgbClr val="ff420e"/>
              </a:solidFill>
            </c:spPr>
          </c:marker>
          <c:dLbls>
            <c:numFmt formatCode="General" sourceLinked="0"/>
            <c:txPr>
              <a:bodyPr wrap="none"/>
              <a:lstStyle/>
              <a:p>
                <a:pPr>
                  <a:defRPr b="0" sz="500" strike="noStrike" u="none">
                    <a:solidFill>
                      <a:srgbClr val="000000"/>
                    </a:solidFill>
                    <a:uFillTx/>
                    <a:latin typeface="Arial"/>
                    <a:ea typeface="DejaVu San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eparator> </c:separator>
            <c:showLeaderLines val="1"/>
            <c:leaderLines>
              <c:spPr>
                <a:ln w="2880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10"/>
                <c:pt idx="0">
                  <c:v>100</c:v>
                </c:pt>
                <c:pt idx="1">
                  <c:v>200</c:v>
                </c:pt>
                <c:pt idx="2">
                  <c:v>300</c:v>
                </c:pt>
                <c:pt idx="3">
                  <c:v>400</c:v>
                </c:pt>
                <c:pt idx="4">
                  <c:v>500</c:v>
                </c:pt>
                <c:pt idx="5">
                  <c:v>600</c:v>
                </c:pt>
                <c:pt idx="6">
                  <c:v>700</c:v>
                </c:pt>
                <c:pt idx="7">
                  <c:v>800</c:v>
                </c:pt>
                <c:pt idx="8">
                  <c:v>900</c:v>
                </c:pt>
                <c:pt idx="9">
                  <c:v>1000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10"/>
                <c:pt idx="0">
                  <c:v>0.0489507</c:v>
                </c:pt>
                <c:pt idx="1">
                  <c:v>0.590008</c:v>
                </c:pt>
                <c:pt idx="2">
                  <c:v>2.97088</c:v>
                </c:pt>
                <c:pt idx="3">
                  <c:v>9.34946</c:v>
                </c:pt>
                <c:pt idx="4">
                  <c:v>24.0397</c:v>
                </c:pt>
                <c:pt idx="5">
                  <c:v>54.1162</c:v>
                </c:pt>
                <c:pt idx="6">
                  <c:v>97.9165</c:v>
                </c:pt>
                <c:pt idx="7">
                  <c:v>175.203</c:v>
                </c:pt>
                <c:pt idx="8">
                  <c:v>327</c:v>
                </c:pt>
                <c:pt idx="9">
                  <c:v>545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Избавление от матричных умножений</c:v>
                </c:pt>
              </c:strCache>
            </c:strRef>
          </c:tx>
          <c:spPr>
            <a:solidFill>
              <a:srgbClr val="ffd320"/>
            </a:solidFill>
            <a:ln w="28800">
              <a:solidFill>
                <a:srgbClr val="ffd320"/>
              </a:solidFill>
              <a:round/>
            </a:ln>
          </c:spPr>
          <c:marker>
            <c:symbol val="triangle"/>
            <c:size val="8"/>
            <c:spPr>
              <a:solidFill>
                <a:srgbClr val="ffd320"/>
              </a:solidFill>
            </c:spPr>
          </c:marker>
          <c:dLbls>
            <c:numFmt formatCode="General" sourceLinked="0"/>
            <c:txPr>
              <a:bodyPr wrap="none"/>
              <a:lstStyle/>
              <a:p>
                <a:pPr>
                  <a:defRPr b="0" sz="500" strike="noStrike" u="none">
                    <a:solidFill>
                      <a:srgbClr val="000000"/>
                    </a:solidFill>
                    <a:uFillTx/>
                    <a:latin typeface="Arial"/>
                    <a:ea typeface="DejaVu San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eparator> </c:separator>
            <c:showLeaderLines val="1"/>
            <c:leaderLines>
              <c:spPr>
                <a:ln w="2880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10"/>
                <c:pt idx="0">
                  <c:v>100</c:v>
                </c:pt>
                <c:pt idx="1">
                  <c:v>200</c:v>
                </c:pt>
                <c:pt idx="2">
                  <c:v>300</c:v>
                </c:pt>
                <c:pt idx="3">
                  <c:v>400</c:v>
                </c:pt>
                <c:pt idx="4">
                  <c:v>500</c:v>
                </c:pt>
                <c:pt idx="5">
                  <c:v>600</c:v>
                </c:pt>
                <c:pt idx="6">
                  <c:v>700</c:v>
                </c:pt>
                <c:pt idx="7">
                  <c:v>800</c:v>
                </c:pt>
                <c:pt idx="8">
                  <c:v>900</c:v>
                </c:pt>
                <c:pt idx="9">
                  <c:v>1000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10"/>
                <c:pt idx="0">
                  <c:v>0.0037046</c:v>
                </c:pt>
                <c:pt idx="1">
                  <c:v>0.0087853</c:v>
                </c:pt>
                <c:pt idx="2">
                  <c:v>0.0192567</c:v>
                </c:pt>
                <c:pt idx="3">
                  <c:v>0.0449681</c:v>
                </c:pt>
                <c:pt idx="4">
                  <c:v>0.0484657</c:v>
                </c:pt>
                <c:pt idx="5">
                  <c:v>0.091016</c:v>
                </c:pt>
                <c:pt idx="6">
                  <c:v>0.136375</c:v>
                </c:pt>
                <c:pt idx="7">
                  <c:v>0.22583</c:v>
                </c:pt>
                <c:pt idx="8">
                  <c:v>0.303426</c:v>
                </c:pt>
                <c:pt idx="9">
                  <c:v>0.493081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in-place хранение нормированных векторов</c:v>
                </c:pt>
              </c:strCache>
            </c:strRef>
          </c:tx>
          <c:spPr>
            <a:solidFill>
              <a:srgbClr val="579d1c"/>
            </a:solidFill>
            <a:ln w="28800">
              <a:solidFill>
                <a:srgbClr val="579d1c"/>
              </a:solidFill>
              <a:round/>
            </a:ln>
          </c:spPr>
          <c:marker>
            <c:symbol val="triangle"/>
            <c:size val="8"/>
            <c:spPr>
              <a:solidFill>
                <a:srgbClr val="579d1c"/>
              </a:solidFill>
            </c:spPr>
          </c:marker>
          <c:dLbls>
            <c:numFmt formatCode="General" sourceLinked="0"/>
            <c:txPr>
              <a:bodyPr wrap="none"/>
              <a:lstStyle/>
              <a:p>
                <a:pPr>
                  <a:defRPr b="0" sz="500" strike="noStrike" u="none">
                    <a:solidFill>
                      <a:srgbClr val="000000"/>
                    </a:solidFill>
                    <a:uFillTx/>
                    <a:latin typeface="Arial"/>
                    <a:ea typeface="DejaVu Sans"/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eparator> </c:separator>
            <c:showLeaderLines val="1"/>
            <c:leaderLines>
              <c:spPr>
                <a:ln w="2880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10"/>
                <c:pt idx="0">
                  <c:v>100</c:v>
                </c:pt>
                <c:pt idx="1">
                  <c:v>200</c:v>
                </c:pt>
                <c:pt idx="2">
                  <c:v>300</c:v>
                </c:pt>
                <c:pt idx="3">
                  <c:v>400</c:v>
                </c:pt>
                <c:pt idx="4">
                  <c:v>500</c:v>
                </c:pt>
                <c:pt idx="5">
                  <c:v>600</c:v>
                </c:pt>
                <c:pt idx="6">
                  <c:v>700</c:v>
                </c:pt>
                <c:pt idx="7">
                  <c:v>800</c:v>
                </c:pt>
                <c:pt idx="8">
                  <c:v>900</c:v>
                </c:pt>
                <c:pt idx="9">
                  <c:v>1000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10"/>
                <c:pt idx="0">
                  <c:v>0.0038215</c:v>
                </c:pt>
                <c:pt idx="1">
                  <c:v>0.0076733</c:v>
                </c:pt>
                <c:pt idx="2">
                  <c:v>0.011263</c:v>
                </c:pt>
                <c:pt idx="3">
                  <c:v>0.0242997</c:v>
                </c:pt>
                <c:pt idx="4">
                  <c:v>0.029481</c:v>
                </c:pt>
                <c:pt idx="5">
                  <c:v>0.0369054</c:v>
                </c:pt>
                <c:pt idx="6">
                  <c:v>0.0369054</c:v>
                </c:pt>
                <c:pt idx="7">
                  <c:v>0.0778759</c:v>
                </c:pt>
                <c:pt idx="8">
                  <c:v>0.114006</c:v>
                </c:pt>
                <c:pt idx="9">
                  <c:v>0.164251</c:v>
                </c:pt>
              </c:numCache>
            </c:numRef>
          </c:val>
          <c:smooth val="0"/>
        </c:ser>
        <c:hiLowLines>
          <c:spPr>
            <a:ln w="0">
              <a:noFill/>
            </a:ln>
          </c:spPr>
        </c:hiLowLines>
        <c:marker val="1"/>
        <c:axId val="73870110"/>
        <c:axId val="89892234"/>
      </c:lineChart>
      <c:catAx>
        <c:axId val="73870110"/>
        <c:scaling>
          <c:orientation val="minMax"/>
        </c:scaling>
        <c:delete val="0"/>
        <c:axPos val="b"/>
        <c:title>
          <c:tx>
            <c:rich>
              <a:bodyPr rot="0"/>
              <a:lstStyle/>
              <a:p>
                <a:pPr>
                  <a:defRPr b="0" sz="13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  <a:r>
                  <a:rPr b="0" sz="900" strike="noStrike" u="none">
                    <a:solidFill>
                      <a:srgbClr val="000000"/>
                    </a:solidFill>
                    <a:uFillTx/>
                    <a:latin typeface="Arial"/>
                    <a:ea typeface="DejaVu Sans"/>
                  </a:rPr>
                  <a:t>Размер данных, NxN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[$-419]dd/mm/yyyy" sourceLinked="0"/>
        <c:majorTickMark val="out"/>
        <c:minorTickMark val="none"/>
        <c:tickLblPos val="nextTo"/>
        <c:spPr>
          <a:ln w="0">
            <a:solidFill>
              <a:srgbClr val="b3b3b3"/>
            </a:solidFill>
          </a:ln>
        </c:spPr>
        <c:txPr>
          <a:bodyPr/>
          <a:lstStyle/>
          <a:p>
            <a:pPr>
              <a:defRPr b="0" sz="1000" strike="noStrike" u="none">
                <a:solidFill>
                  <a:srgbClr val="000000"/>
                </a:solidFill>
                <a:uFillTx/>
                <a:latin typeface="Arial"/>
                <a:ea typeface="DejaVu Sans"/>
              </a:defRPr>
            </a:pPr>
          </a:p>
        </c:txPr>
        <c:crossAx val="89892234"/>
        <c:crosses val="autoZero"/>
        <c:auto val="1"/>
        <c:lblAlgn val="ctr"/>
        <c:lblOffset val="100"/>
        <c:noMultiLvlLbl val="0"/>
      </c:catAx>
      <c:valAx>
        <c:axId val="89892234"/>
        <c:scaling>
          <c:logBase val="10"/>
          <c:orientation val="minMax"/>
        </c:scaling>
        <c:delete val="0"/>
        <c:axPos val="l"/>
        <c:majorGridlines>
          <c:spPr>
            <a:ln w="0">
              <a:solidFill>
                <a:srgbClr val="b3b3b3"/>
              </a:solidFill>
            </a:ln>
          </c:spPr>
        </c:majorGridlines>
        <c:title>
          <c:tx>
            <c:rich>
              <a:bodyPr rot="-5400000"/>
              <a:lstStyle/>
              <a:p>
                <a:pPr>
                  <a:defRPr b="0" sz="13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  <a:r>
                  <a:rPr b="0" sz="900" strike="noStrike" u="none">
                    <a:solidFill>
                      <a:srgbClr val="000000"/>
                    </a:solidFill>
                    <a:uFillTx/>
                    <a:latin typeface="Arial"/>
                    <a:ea typeface="DejaVu Sans"/>
                  </a:rPr>
                  <a:t>Время работы, с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General" sourceLinked="0"/>
        <c:majorTickMark val="out"/>
        <c:minorTickMark val="none"/>
        <c:tickLblPos val="nextTo"/>
        <c:spPr>
          <a:ln w="0">
            <a:solidFill>
              <a:srgbClr val="b3b3b3"/>
            </a:solidFill>
          </a:ln>
        </c:spPr>
        <c:txPr>
          <a:bodyPr/>
          <a:lstStyle/>
          <a:p>
            <a:pPr>
              <a:defRPr b="0" sz="1000" strike="noStrike" u="none">
                <a:solidFill>
                  <a:srgbClr val="000000"/>
                </a:solidFill>
                <a:uFillTx/>
                <a:latin typeface="Arial"/>
                <a:ea typeface="DejaVu Sans"/>
              </a:defRPr>
            </a:pPr>
          </a:p>
        </c:txPr>
        <c:crossAx val="73870110"/>
        <c:crossesAt val="1"/>
        <c:crossBetween val="midCat"/>
      </c:valAx>
      <c:spPr>
        <a:noFill/>
        <a:ln w="0">
          <a:solidFill>
            <a:srgbClr val="b3b3b3"/>
          </a:solidFill>
        </a:ln>
      </c:spPr>
    </c:plotArea>
    <c:legend>
      <c:legendPos val="r"/>
      <c:layout>
        <c:manualLayout>
          <c:xMode val="edge"/>
          <c:yMode val="edge"/>
          <c:x val="0.751072149344097"/>
          <c:y val="0.498218241356063"/>
          <c:w val="0.237197275479314"/>
          <c:h val="0.42328806703265"/>
        </c:manualLayout>
      </c:layout>
      <c:overlay val="0"/>
      <c:spPr>
        <a:noFill/>
        <a:ln w="0">
          <a:noFill/>
        </a:ln>
      </c:spPr>
      <c:txPr>
        <a:bodyPr/>
        <a:lstStyle/>
        <a:p>
          <a:pPr>
            <a:defRPr b="0" sz="1000" strike="noStrike" u="none">
              <a:solidFill>
                <a:srgbClr val="000000"/>
              </a:solidFill>
              <a:uFillTx/>
              <a:latin typeface="Arial"/>
              <a:ea typeface="DejaVu Sans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0870442790462975"/>
          <c:y val="0.0197476158366246"/>
          <c:w val="0.652453639460073"/>
          <c:h val="0.847895193141316"/>
        </c:manualLayout>
      </c:layout>
      <c:lineChart>
        <c:grouping val="standar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Базовая реализация</c:v>
                </c:pt>
              </c:strCache>
            </c:strRef>
          </c:tx>
          <c:spPr>
            <a:solidFill>
              <a:srgbClr val="ff420e"/>
            </a:solidFill>
            <a:ln w="28800">
              <a:solidFill>
                <a:srgbClr val="ff420e"/>
              </a:solidFill>
              <a:round/>
            </a:ln>
          </c:spPr>
          <c:marker>
            <c:symbol val="diamond"/>
            <c:size val="8"/>
            <c:spPr>
              <a:solidFill>
                <a:srgbClr val="ff420e"/>
              </a:solidFill>
            </c:spPr>
          </c:marker>
          <c:dLbls>
            <c:numFmt formatCode="General" sourceLinked="0"/>
            <c:txPr>
              <a:bodyPr wrap="none"/>
              <a:lstStyle/>
              <a:p>
                <a:pPr>
                  <a:defRPr b="0" sz="500" strike="noStrike" u="none">
                    <a:solidFill>
                      <a:srgbClr val="000000"/>
                    </a:solidFill>
                    <a:uFillTx/>
                    <a:latin typeface="Arial"/>
                    <a:ea typeface="DejaVu San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eparator> </c:separator>
            <c:showLeaderLines val="1"/>
            <c:leaderLines>
              <c:spPr>
                <a:ln w="2880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10"/>
                <c:pt idx="0">
                  <c:v>100</c:v>
                </c:pt>
                <c:pt idx="1">
                  <c:v>200</c:v>
                </c:pt>
                <c:pt idx="2">
                  <c:v>300</c:v>
                </c:pt>
                <c:pt idx="3">
                  <c:v>400</c:v>
                </c:pt>
                <c:pt idx="4">
                  <c:v>500</c:v>
                </c:pt>
                <c:pt idx="5">
                  <c:v>600</c:v>
                </c:pt>
                <c:pt idx="6">
                  <c:v>700</c:v>
                </c:pt>
                <c:pt idx="7">
                  <c:v>800</c:v>
                </c:pt>
                <c:pt idx="8">
                  <c:v>900</c:v>
                </c:pt>
                <c:pt idx="9">
                  <c:v>1000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10"/>
                <c:pt idx="0">
                  <c:v>0.154983</c:v>
                </c:pt>
                <c:pt idx="1">
                  <c:v>2.53974</c:v>
                </c:pt>
                <c:pt idx="2">
                  <c:v>11.855</c:v>
                </c:pt>
                <c:pt idx="3">
                  <c:v>36.759</c:v>
                </c:pt>
                <c:pt idx="4">
                  <c:v>100.427</c:v>
                </c:pt>
                <c:pt idx="5">
                  <c:v>210.789</c:v>
                </c:pt>
                <c:pt idx="6">
                  <c:v>410</c:v>
                </c:pt>
                <c:pt idx="7">
                  <c:v>720</c:v>
                </c:pt>
                <c:pt idx="8">
                  <c:v>1190</c:v>
                </c:pt>
                <c:pt idx="9">
                  <c:v>1850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Избавление от матричных умножений</c:v>
                </c:pt>
              </c:strCache>
            </c:strRef>
          </c:tx>
          <c:spPr>
            <a:solidFill>
              <a:srgbClr val="ffd320"/>
            </a:solidFill>
            <a:ln w="28800">
              <a:solidFill>
                <a:srgbClr val="ffd320"/>
              </a:solidFill>
              <a:round/>
            </a:ln>
          </c:spPr>
          <c:marker>
            <c:symbol val="triangle"/>
            <c:size val="8"/>
            <c:spPr>
              <a:solidFill>
                <a:srgbClr val="ffd320"/>
              </a:solidFill>
            </c:spPr>
          </c:marker>
          <c:dLbls>
            <c:numFmt formatCode="General" sourceLinked="0"/>
            <c:txPr>
              <a:bodyPr wrap="none"/>
              <a:lstStyle/>
              <a:p>
                <a:pPr>
                  <a:defRPr b="0" sz="500" strike="noStrike" u="none">
                    <a:solidFill>
                      <a:srgbClr val="000000"/>
                    </a:solidFill>
                    <a:uFillTx/>
                    <a:latin typeface="Arial"/>
                    <a:ea typeface="DejaVu San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eparator> </c:separator>
            <c:showLeaderLines val="1"/>
            <c:leaderLines>
              <c:spPr>
                <a:ln w="2880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10"/>
                <c:pt idx="0">
                  <c:v>100</c:v>
                </c:pt>
                <c:pt idx="1">
                  <c:v>200</c:v>
                </c:pt>
                <c:pt idx="2">
                  <c:v>300</c:v>
                </c:pt>
                <c:pt idx="3">
                  <c:v>400</c:v>
                </c:pt>
                <c:pt idx="4">
                  <c:v>500</c:v>
                </c:pt>
                <c:pt idx="5">
                  <c:v>600</c:v>
                </c:pt>
                <c:pt idx="6">
                  <c:v>700</c:v>
                </c:pt>
                <c:pt idx="7">
                  <c:v>800</c:v>
                </c:pt>
                <c:pt idx="8">
                  <c:v>900</c:v>
                </c:pt>
                <c:pt idx="9">
                  <c:v>1000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10"/>
                <c:pt idx="0">
                  <c:v>0.0014857</c:v>
                </c:pt>
                <c:pt idx="1">
                  <c:v>0.0066652</c:v>
                </c:pt>
                <c:pt idx="2">
                  <c:v>0.022568</c:v>
                </c:pt>
                <c:pt idx="3">
                  <c:v>0.0631678</c:v>
                </c:pt>
                <c:pt idx="4">
                  <c:v>0.106889</c:v>
                </c:pt>
                <c:pt idx="5">
                  <c:v>0.202664</c:v>
                </c:pt>
                <c:pt idx="6">
                  <c:v>0.340168</c:v>
                </c:pt>
                <c:pt idx="7">
                  <c:v>0.718987</c:v>
                </c:pt>
                <c:pt idx="8">
                  <c:v>0.873042</c:v>
                </c:pt>
                <c:pt idx="9">
                  <c:v>1.1182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in-place хранение нормированных векторов</c:v>
                </c:pt>
              </c:strCache>
            </c:strRef>
          </c:tx>
          <c:spPr>
            <a:solidFill>
              <a:srgbClr val="579d1c"/>
            </a:solidFill>
            <a:ln w="28800">
              <a:solidFill>
                <a:srgbClr val="579d1c"/>
              </a:solidFill>
              <a:round/>
            </a:ln>
          </c:spPr>
          <c:marker>
            <c:symbol val="triangle"/>
            <c:size val="8"/>
            <c:spPr>
              <a:solidFill>
                <a:srgbClr val="579d1c"/>
              </a:solidFill>
            </c:spPr>
          </c:marker>
          <c:dLbls>
            <c:numFmt formatCode="General" sourceLinked="0"/>
            <c:txPr>
              <a:bodyPr wrap="none"/>
              <a:lstStyle/>
              <a:p>
                <a:pPr>
                  <a:defRPr b="0" sz="500" strike="noStrike" u="none">
                    <a:solidFill>
                      <a:srgbClr val="000000"/>
                    </a:solidFill>
                    <a:uFillTx/>
                    <a:latin typeface="Arial"/>
                    <a:ea typeface="DejaVu Sans"/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eparator> </c:separator>
            <c:showLeaderLines val="1"/>
            <c:leaderLines>
              <c:spPr>
                <a:ln w="2880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10"/>
                <c:pt idx="0">
                  <c:v>100</c:v>
                </c:pt>
                <c:pt idx="1">
                  <c:v>200</c:v>
                </c:pt>
                <c:pt idx="2">
                  <c:v>300</c:v>
                </c:pt>
                <c:pt idx="3">
                  <c:v>400</c:v>
                </c:pt>
                <c:pt idx="4">
                  <c:v>500</c:v>
                </c:pt>
                <c:pt idx="5">
                  <c:v>600</c:v>
                </c:pt>
                <c:pt idx="6">
                  <c:v>700</c:v>
                </c:pt>
                <c:pt idx="7">
                  <c:v>800</c:v>
                </c:pt>
                <c:pt idx="8">
                  <c:v>900</c:v>
                </c:pt>
                <c:pt idx="9">
                  <c:v>1000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10"/>
                <c:pt idx="0">
                  <c:v>0.0009985</c:v>
                </c:pt>
                <c:pt idx="1">
                  <c:v>0.0052362</c:v>
                </c:pt>
                <c:pt idx="2">
                  <c:v>0.0154869</c:v>
                </c:pt>
                <c:pt idx="3">
                  <c:v>0.0404785</c:v>
                </c:pt>
                <c:pt idx="4">
                  <c:v>0.0771692</c:v>
                </c:pt>
                <c:pt idx="5">
                  <c:v>0.144747</c:v>
                </c:pt>
                <c:pt idx="6">
                  <c:v>0.217609</c:v>
                </c:pt>
                <c:pt idx="7">
                  <c:v>0.339549</c:v>
                </c:pt>
                <c:pt idx="8">
                  <c:v>0.468352</c:v>
                </c:pt>
                <c:pt idx="9">
                  <c:v>0.638065</c:v>
                </c:pt>
              </c:numCache>
            </c:numRef>
          </c:val>
          <c:smooth val="0"/>
        </c:ser>
        <c:hiLowLines>
          <c:spPr>
            <a:ln w="0">
              <a:noFill/>
            </a:ln>
          </c:spPr>
        </c:hiLowLines>
        <c:marker val="1"/>
        <c:axId val="48461960"/>
        <c:axId val="95158608"/>
      </c:lineChart>
      <c:catAx>
        <c:axId val="48461960"/>
        <c:scaling>
          <c:orientation val="minMax"/>
        </c:scaling>
        <c:delete val="0"/>
        <c:axPos val="b"/>
        <c:title>
          <c:tx>
            <c:rich>
              <a:bodyPr rot="0"/>
              <a:lstStyle/>
              <a:p>
                <a:pPr>
                  <a:defRPr b="0" sz="13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  <a:r>
                  <a:rPr b="0" sz="900" strike="noStrike" u="none">
                    <a:solidFill>
                      <a:srgbClr val="000000"/>
                    </a:solidFill>
                    <a:uFillTx/>
                    <a:latin typeface="Arial"/>
                    <a:ea typeface="DejaVu Sans"/>
                  </a:rPr>
                  <a:t>Размер данных, NxN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[$-419]dd/mm/yyyy" sourceLinked="0"/>
        <c:majorTickMark val="out"/>
        <c:minorTickMark val="none"/>
        <c:tickLblPos val="nextTo"/>
        <c:spPr>
          <a:ln w="0">
            <a:solidFill>
              <a:srgbClr val="b3b3b3"/>
            </a:solidFill>
          </a:ln>
        </c:spPr>
        <c:txPr>
          <a:bodyPr/>
          <a:lstStyle/>
          <a:p>
            <a:pPr>
              <a:defRPr b="0" sz="1000" strike="noStrike" u="none">
                <a:solidFill>
                  <a:srgbClr val="000000"/>
                </a:solidFill>
                <a:uFillTx/>
                <a:latin typeface="Arial"/>
                <a:ea typeface="DejaVu Sans"/>
              </a:defRPr>
            </a:pPr>
          </a:p>
        </c:txPr>
        <c:crossAx val="95158608"/>
        <c:crosses val="autoZero"/>
        <c:auto val="1"/>
        <c:lblAlgn val="ctr"/>
        <c:lblOffset val="100"/>
        <c:noMultiLvlLbl val="0"/>
      </c:catAx>
      <c:valAx>
        <c:axId val="95158608"/>
        <c:scaling>
          <c:logBase val="10"/>
          <c:orientation val="minMax"/>
        </c:scaling>
        <c:delete val="0"/>
        <c:axPos val="l"/>
        <c:majorGridlines>
          <c:spPr>
            <a:ln w="0">
              <a:solidFill>
                <a:srgbClr val="b3b3b3"/>
              </a:solidFill>
            </a:ln>
          </c:spPr>
        </c:majorGridlines>
        <c:title>
          <c:tx>
            <c:rich>
              <a:bodyPr rot="-5400000"/>
              <a:lstStyle/>
              <a:p>
                <a:pPr>
                  <a:defRPr b="0" sz="13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  <a:r>
                  <a:rPr b="0" sz="900" strike="noStrike" u="none">
                    <a:solidFill>
                      <a:srgbClr val="000000"/>
                    </a:solidFill>
                    <a:uFillTx/>
                    <a:latin typeface="Arial"/>
                    <a:ea typeface="DejaVu Sans"/>
                  </a:rPr>
                  <a:t>Время работы, с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General" sourceLinked="0"/>
        <c:majorTickMark val="out"/>
        <c:minorTickMark val="none"/>
        <c:tickLblPos val="nextTo"/>
        <c:spPr>
          <a:ln w="0">
            <a:solidFill>
              <a:srgbClr val="b3b3b3"/>
            </a:solidFill>
          </a:ln>
        </c:spPr>
        <c:txPr>
          <a:bodyPr/>
          <a:lstStyle/>
          <a:p>
            <a:pPr>
              <a:defRPr b="0" sz="1000" strike="noStrike" u="none">
                <a:solidFill>
                  <a:srgbClr val="000000"/>
                </a:solidFill>
                <a:uFillTx/>
                <a:latin typeface="Arial"/>
                <a:ea typeface="DejaVu Sans"/>
              </a:defRPr>
            </a:pPr>
          </a:p>
        </c:txPr>
        <c:crossAx val="48461960"/>
        <c:crossesAt val="1"/>
        <c:crossBetween val="midCat"/>
      </c:valAx>
      <c:spPr>
        <a:noFill/>
        <a:ln w="0">
          <a:solidFill>
            <a:srgbClr val="b3b3b3"/>
          </a:solidFill>
        </a:ln>
      </c:spPr>
    </c:plotArea>
    <c:legend>
      <c:legendPos val="r"/>
      <c:layout>
        <c:manualLayout>
          <c:xMode val="edge"/>
          <c:yMode val="edge"/>
          <c:x val="0.751024784007063"/>
          <c:y val="0.498170261941448"/>
          <c:w val="0.237197275479314"/>
          <c:h val="0.42328806703265"/>
        </c:manualLayout>
      </c:layout>
      <c:overlay val="0"/>
      <c:spPr>
        <a:noFill/>
        <a:ln w="0">
          <a:noFill/>
        </a:ln>
      </c:spPr>
      <c:txPr>
        <a:bodyPr/>
        <a:lstStyle/>
        <a:p>
          <a:pPr>
            <a:defRPr b="0" sz="1000" strike="noStrike" u="none">
              <a:solidFill>
                <a:srgbClr val="000000"/>
              </a:solidFill>
              <a:uFillTx/>
              <a:latin typeface="Arial"/>
              <a:ea typeface="DejaVu Sans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0870442790462975"/>
          <c:y val="0.0197476158366246"/>
          <c:w val="0.652453639460073"/>
          <c:h val="0.847895193141316"/>
        </c:manualLayout>
      </c:layout>
      <c:lineChart>
        <c:grouping val="standar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Избавление от матричных умножений</c:v>
                </c:pt>
              </c:strCache>
            </c:strRef>
          </c:tx>
          <c:spPr>
            <a:solidFill>
              <a:srgbClr val="ffd320"/>
            </a:solidFill>
            <a:ln w="28800">
              <a:solidFill>
                <a:srgbClr val="ffd320"/>
              </a:solidFill>
              <a:round/>
            </a:ln>
          </c:spPr>
          <c:marker>
            <c:symbol val="triangle"/>
            <c:size val="8"/>
            <c:spPr>
              <a:solidFill>
                <a:srgbClr val="ffd320"/>
              </a:solidFill>
            </c:spPr>
          </c:marker>
          <c:dLbls>
            <c:numFmt formatCode="General" sourceLinked="0"/>
            <c:txPr>
              <a:bodyPr wrap="none"/>
              <a:lstStyle/>
              <a:p>
                <a:pPr>
                  <a:defRPr b="0" sz="500" strike="noStrike" u="none">
                    <a:solidFill>
                      <a:srgbClr val="000000"/>
                    </a:solidFill>
                    <a:uFillTx/>
                    <a:latin typeface="Arial"/>
                    <a:ea typeface="DejaVu San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eparator> </c:separator>
            <c:showLeaderLines val="1"/>
            <c:leaderLines>
              <c:spPr>
                <a:ln w="2880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7"/>
                <c:pt idx="0">
                  <c:v>1000</c:v>
                </c:pt>
                <c:pt idx="1">
                  <c:v>1500</c:v>
                </c:pt>
                <c:pt idx="2">
                  <c:v>2000</c:v>
                </c:pt>
                <c:pt idx="3">
                  <c:v>2500</c:v>
                </c:pt>
                <c:pt idx="4">
                  <c:v>3000</c:v>
                </c:pt>
                <c:pt idx="5">
                  <c:v>3500</c:v>
                </c:pt>
                <c:pt idx="6">
                  <c:v>4000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7"/>
                <c:pt idx="0">
                  <c:v>1.1182</c:v>
                </c:pt>
                <c:pt idx="1">
                  <c:v>4.92117</c:v>
                </c:pt>
                <c:pt idx="2">
                  <c:v>21.0609</c:v>
                </c:pt>
                <c:pt idx="3">
                  <c:v>40.5992</c:v>
                </c:pt>
                <c:pt idx="4">
                  <c:v>99.9885</c:v>
                </c:pt>
                <c:pt idx="5">
                  <c:v>196.143</c:v>
                </c:pt>
                <c:pt idx="6">
                  <c:v>400.319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in-place хранение нормированных векторов</c:v>
                </c:pt>
              </c:strCache>
            </c:strRef>
          </c:tx>
          <c:spPr>
            <a:solidFill>
              <a:srgbClr val="579d1c"/>
            </a:solidFill>
            <a:ln w="28800">
              <a:solidFill>
                <a:srgbClr val="579d1c"/>
              </a:solidFill>
              <a:round/>
            </a:ln>
          </c:spPr>
          <c:marker>
            <c:symbol val="triangle"/>
            <c:size val="8"/>
            <c:spPr>
              <a:solidFill>
                <a:srgbClr val="579d1c"/>
              </a:solidFill>
            </c:spPr>
          </c:marker>
          <c:dLbls>
            <c:numFmt formatCode="General" sourceLinked="0"/>
            <c:txPr>
              <a:bodyPr wrap="none"/>
              <a:lstStyle/>
              <a:p>
                <a:pPr>
                  <a:defRPr b="0" sz="500" strike="noStrike" u="none">
                    <a:solidFill>
                      <a:srgbClr val="000000"/>
                    </a:solidFill>
                    <a:uFillTx/>
                    <a:latin typeface="Arial"/>
                    <a:ea typeface="DejaVu San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eparator> </c:separator>
            <c:showLeaderLines val="1"/>
            <c:leaderLines>
              <c:spPr>
                <a:ln w="2880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7"/>
                <c:pt idx="0">
                  <c:v>1000</c:v>
                </c:pt>
                <c:pt idx="1">
                  <c:v>1500</c:v>
                </c:pt>
                <c:pt idx="2">
                  <c:v>2000</c:v>
                </c:pt>
                <c:pt idx="3">
                  <c:v>2500</c:v>
                </c:pt>
                <c:pt idx="4">
                  <c:v>3000</c:v>
                </c:pt>
                <c:pt idx="5">
                  <c:v>3500</c:v>
                </c:pt>
                <c:pt idx="6">
                  <c:v>4000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7"/>
                <c:pt idx="0">
                  <c:v>0.638065</c:v>
                </c:pt>
                <c:pt idx="1">
                  <c:v>2.3033</c:v>
                </c:pt>
                <c:pt idx="2">
                  <c:v>5.85005</c:v>
                </c:pt>
                <c:pt idx="3">
                  <c:v>11.9563</c:v>
                </c:pt>
                <c:pt idx="4">
                  <c:v>20.7962</c:v>
                </c:pt>
                <c:pt idx="5">
                  <c:v>33.538</c:v>
                </c:pt>
                <c:pt idx="6">
                  <c:v>50.5261</c:v>
                </c:pt>
              </c:numCache>
            </c:numRef>
          </c:val>
          <c:smooth val="0"/>
        </c:ser>
        <c:hiLowLines>
          <c:spPr>
            <a:ln w="0">
              <a:noFill/>
            </a:ln>
          </c:spPr>
        </c:hiLowLines>
        <c:marker val="1"/>
        <c:axId val="67523120"/>
        <c:axId val="76629001"/>
      </c:lineChart>
      <c:catAx>
        <c:axId val="67523120"/>
        <c:scaling>
          <c:orientation val="minMax"/>
        </c:scaling>
        <c:delete val="0"/>
        <c:axPos val="b"/>
        <c:title>
          <c:tx>
            <c:rich>
              <a:bodyPr rot="0"/>
              <a:lstStyle/>
              <a:p>
                <a:pPr>
                  <a:defRPr b="0" sz="13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  <a:r>
                  <a:rPr b="0" sz="900" strike="noStrike" u="none">
                    <a:solidFill>
                      <a:srgbClr val="000000"/>
                    </a:solidFill>
                    <a:uFillTx/>
                    <a:latin typeface="Arial"/>
                    <a:ea typeface="DejaVu Sans"/>
                  </a:rPr>
                  <a:t>Размер данных, NxN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[$-419]dd/mm/yyyy" sourceLinked="0"/>
        <c:majorTickMark val="out"/>
        <c:minorTickMark val="none"/>
        <c:tickLblPos val="nextTo"/>
        <c:spPr>
          <a:ln w="0">
            <a:solidFill>
              <a:srgbClr val="b3b3b3"/>
            </a:solidFill>
          </a:ln>
        </c:spPr>
        <c:txPr>
          <a:bodyPr/>
          <a:lstStyle/>
          <a:p>
            <a:pPr>
              <a:defRPr b="0" sz="1000" strike="noStrike" u="none">
                <a:solidFill>
                  <a:srgbClr val="000000"/>
                </a:solidFill>
                <a:uFillTx/>
                <a:latin typeface="Arial"/>
                <a:ea typeface="DejaVu Sans"/>
              </a:defRPr>
            </a:pPr>
          </a:p>
        </c:txPr>
        <c:crossAx val="76629001"/>
        <c:crosses val="autoZero"/>
        <c:auto val="1"/>
        <c:lblAlgn val="ctr"/>
        <c:lblOffset val="100"/>
        <c:noMultiLvlLbl val="0"/>
      </c:catAx>
      <c:valAx>
        <c:axId val="76629001"/>
        <c:scaling>
          <c:logBase val="10"/>
          <c:orientation val="minMax"/>
        </c:scaling>
        <c:delete val="0"/>
        <c:axPos val="l"/>
        <c:majorGridlines>
          <c:spPr>
            <a:ln w="0">
              <a:solidFill>
                <a:srgbClr val="b3b3b3"/>
              </a:solidFill>
            </a:ln>
          </c:spPr>
        </c:majorGridlines>
        <c:title>
          <c:tx>
            <c:rich>
              <a:bodyPr rot="-5400000"/>
              <a:lstStyle/>
              <a:p>
                <a:pPr>
                  <a:defRPr b="0" sz="13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  <a:r>
                  <a:rPr b="0" sz="900" strike="noStrike" u="none">
                    <a:solidFill>
                      <a:srgbClr val="000000"/>
                    </a:solidFill>
                    <a:uFillTx/>
                    <a:latin typeface="Arial"/>
                    <a:ea typeface="DejaVu Sans"/>
                  </a:rPr>
                  <a:t>Время работы, с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General" sourceLinked="0"/>
        <c:majorTickMark val="out"/>
        <c:minorTickMark val="none"/>
        <c:tickLblPos val="nextTo"/>
        <c:spPr>
          <a:ln w="0">
            <a:solidFill>
              <a:srgbClr val="b3b3b3"/>
            </a:solidFill>
          </a:ln>
        </c:spPr>
        <c:txPr>
          <a:bodyPr/>
          <a:lstStyle/>
          <a:p>
            <a:pPr>
              <a:defRPr b="0" sz="1000" strike="noStrike" u="none">
                <a:solidFill>
                  <a:srgbClr val="000000"/>
                </a:solidFill>
                <a:uFillTx/>
                <a:latin typeface="Arial"/>
                <a:ea typeface="DejaVu Sans"/>
              </a:defRPr>
            </a:pPr>
          </a:p>
        </c:txPr>
        <c:crossAx val="67523120"/>
        <c:crossesAt val="1"/>
        <c:crossBetween val="midCat"/>
      </c:valAx>
      <c:spPr>
        <a:noFill/>
        <a:ln w="0">
          <a:solidFill>
            <a:srgbClr val="b3b3b3"/>
          </a:solidFill>
        </a:ln>
      </c:spPr>
    </c:plotArea>
    <c:legend>
      <c:legendPos val="r"/>
      <c:layout>
        <c:manualLayout>
          <c:xMode val="edge"/>
          <c:yMode val="edge"/>
          <c:x val="0.751024784007063"/>
          <c:y val="0.498170261941448"/>
          <c:w val="0.237197275479314"/>
          <c:h val="0.42328806703265"/>
        </c:manualLayout>
      </c:layout>
      <c:overlay val="0"/>
      <c:spPr>
        <a:noFill/>
        <a:ln w="0">
          <a:noFill/>
        </a:ln>
      </c:spPr>
      <c:txPr>
        <a:bodyPr/>
        <a:lstStyle/>
        <a:p>
          <a:pPr>
            <a:defRPr b="0" sz="1000" strike="noStrike" u="none">
              <a:solidFill>
                <a:srgbClr val="000000"/>
              </a:solidFill>
              <a:uFillTx/>
              <a:latin typeface="Arial"/>
              <a:ea typeface="DejaVu Sans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0870442790462975"/>
          <c:y val="0.0197476158366246"/>
          <c:w val="0.652453639460073"/>
          <c:h val="0.847895193141316"/>
        </c:manualLayout>
      </c:layout>
      <c:lineChart>
        <c:grouping val="standar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Избавление от матричных умножений</c:v>
                </c:pt>
              </c:strCache>
            </c:strRef>
          </c:tx>
          <c:spPr>
            <a:solidFill>
              <a:srgbClr val="ffd320"/>
            </a:solidFill>
            <a:ln w="28800">
              <a:solidFill>
                <a:srgbClr val="ffd320"/>
              </a:solidFill>
              <a:round/>
            </a:ln>
          </c:spPr>
          <c:marker>
            <c:symbol val="triangle"/>
            <c:size val="8"/>
            <c:spPr>
              <a:solidFill>
                <a:srgbClr val="ffd320"/>
              </a:solidFill>
            </c:spPr>
          </c:marker>
          <c:dLbls>
            <c:numFmt formatCode="General" sourceLinked="0"/>
            <c:txPr>
              <a:bodyPr wrap="none"/>
              <a:lstStyle/>
              <a:p>
                <a:pPr>
                  <a:defRPr b="0" sz="500" strike="noStrike" u="none">
                    <a:solidFill>
                      <a:srgbClr val="000000"/>
                    </a:solidFill>
                    <a:uFillTx/>
                    <a:latin typeface="Arial"/>
                    <a:ea typeface="DejaVu San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eparator> </c:separator>
            <c:showLeaderLines val="1"/>
            <c:leaderLines>
              <c:spPr>
                <a:ln w="2880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7"/>
                <c:pt idx="0">
                  <c:v>1000</c:v>
                </c:pt>
                <c:pt idx="1">
                  <c:v>1500</c:v>
                </c:pt>
                <c:pt idx="2">
                  <c:v>2000</c:v>
                </c:pt>
                <c:pt idx="3">
                  <c:v>2500</c:v>
                </c:pt>
                <c:pt idx="4">
                  <c:v>3000</c:v>
                </c:pt>
                <c:pt idx="5">
                  <c:v>3500</c:v>
                </c:pt>
                <c:pt idx="6">
                  <c:v>4000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7"/>
                <c:pt idx="0">
                  <c:v>0.493081</c:v>
                </c:pt>
                <c:pt idx="1">
                  <c:v>2.74045</c:v>
                </c:pt>
                <c:pt idx="2">
                  <c:v>9.7409</c:v>
                </c:pt>
                <c:pt idx="3">
                  <c:v>19.7588</c:v>
                </c:pt>
                <c:pt idx="4">
                  <c:v>39.3139</c:v>
                </c:pt>
                <c:pt idx="5">
                  <c:v>63.9547</c:v>
                </c:pt>
                <c:pt idx="6">
                  <c:v>117.753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in-place хранение нормированных векторов</c:v>
                </c:pt>
              </c:strCache>
            </c:strRef>
          </c:tx>
          <c:spPr>
            <a:solidFill>
              <a:srgbClr val="579d1c"/>
            </a:solidFill>
            <a:ln w="28800">
              <a:solidFill>
                <a:srgbClr val="579d1c"/>
              </a:solidFill>
              <a:round/>
            </a:ln>
          </c:spPr>
          <c:marker>
            <c:symbol val="triangle"/>
            <c:size val="8"/>
            <c:spPr>
              <a:solidFill>
                <a:srgbClr val="579d1c"/>
              </a:solidFill>
            </c:spPr>
          </c:marker>
          <c:dLbls>
            <c:numFmt formatCode="General" sourceLinked="0"/>
            <c:txPr>
              <a:bodyPr wrap="none"/>
              <a:lstStyle/>
              <a:p>
                <a:pPr>
                  <a:defRPr b="0" sz="500" strike="noStrike" u="none">
                    <a:solidFill>
                      <a:srgbClr val="000000"/>
                    </a:solidFill>
                    <a:uFillTx/>
                    <a:latin typeface="Arial"/>
                    <a:ea typeface="DejaVu San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eparator> </c:separator>
            <c:showLeaderLines val="1"/>
            <c:leaderLines>
              <c:spPr>
                <a:ln w="2880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7"/>
                <c:pt idx="0">
                  <c:v>1000</c:v>
                </c:pt>
                <c:pt idx="1">
                  <c:v>1500</c:v>
                </c:pt>
                <c:pt idx="2">
                  <c:v>2000</c:v>
                </c:pt>
                <c:pt idx="3">
                  <c:v>2500</c:v>
                </c:pt>
                <c:pt idx="4">
                  <c:v>3000</c:v>
                </c:pt>
                <c:pt idx="5">
                  <c:v>3500</c:v>
                </c:pt>
                <c:pt idx="6">
                  <c:v>4000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7"/>
                <c:pt idx="0">
                  <c:v>0.164251</c:v>
                </c:pt>
                <c:pt idx="1">
                  <c:v>0.662782</c:v>
                </c:pt>
                <c:pt idx="2">
                  <c:v>2.47128</c:v>
                </c:pt>
                <c:pt idx="3">
                  <c:v>5.2263</c:v>
                </c:pt>
                <c:pt idx="4">
                  <c:v>9.71765</c:v>
                </c:pt>
                <c:pt idx="5">
                  <c:v>15.6171</c:v>
                </c:pt>
                <c:pt idx="6">
                  <c:v>23.7826</c:v>
                </c:pt>
              </c:numCache>
            </c:numRef>
          </c:val>
          <c:smooth val="0"/>
        </c:ser>
        <c:hiLowLines>
          <c:spPr>
            <a:ln w="0">
              <a:noFill/>
            </a:ln>
          </c:spPr>
        </c:hiLowLines>
        <c:marker val="1"/>
        <c:axId val="13818975"/>
        <c:axId val="23416163"/>
      </c:lineChart>
      <c:catAx>
        <c:axId val="13818975"/>
        <c:scaling>
          <c:orientation val="minMax"/>
        </c:scaling>
        <c:delete val="0"/>
        <c:axPos val="b"/>
        <c:title>
          <c:tx>
            <c:rich>
              <a:bodyPr rot="0"/>
              <a:lstStyle/>
              <a:p>
                <a:pPr>
                  <a:defRPr b="0" sz="13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  <a:r>
                  <a:rPr b="0" sz="900" strike="noStrike" u="none">
                    <a:solidFill>
                      <a:srgbClr val="000000"/>
                    </a:solidFill>
                    <a:uFillTx/>
                    <a:latin typeface="Arial"/>
                    <a:ea typeface="DejaVu Sans"/>
                  </a:rPr>
                  <a:t>Размер данных, NxN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[$-419]dd/mm/yyyy" sourceLinked="0"/>
        <c:majorTickMark val="out"/>
        <c:minorTickMark val="none"/>
        <c:tickLblPos val="nextTo"/>
        <c:spPr>
          <a:ln w="0">
            <a:solidFill>
              <a:srgbClr val="b3b3b3"/>
            </a:solidFill>
          </a:ln>
        </c:spPr>
        <c:txPr>
          <a:bodyPr/>
          <a:lstStyle/>
          <a:p>
            <a:pPr>
              <a:defRPr b="0" sz="1000" strike="noStrike" u="none">
                <a:solidFill>
                  <a:srgbClr val="000000"/>
                </a:solidFill>
                <a:uFillTx/>
                <a:latin typeface="Arial"/>
                <a:ea typeface="DejaVu Sans"/>
              </a:defRPr>
            </a:pPr>
          </a:p>
        </c:txPr>
        <c:crossAx val="23416163"/>
        <c:crosses val="autoZero"/>
        <c:auto val="1"/>
        <c:lblAlgn val="ctr"/>
        <c:lblOffset val="100"/>
        <c:noMultiLvlLbl val="0"/>
      </c:catAx>
      <c:valAx>
        <c:axId val="23416163"/>
        <c:scaling>
          <c:logBase val="10"/>
          <c:orientation val="minMax"/>
        </c:scaling>
        <c:delete val="0"/>
        <c:axPos val="l"/>
        <c:majorGridlines>
          <c:spPr>
            <a:ln w="0">
              <a:solidFill>
                <a:srgbClr val="b3b3b3"/>
              </a:solidFill>
            </a:ln>
          </c:spPr>
        </c:majorGridlines>
        <c:title>
          <c:tx>
            <c:rich>
              <a:bodyPr rot="-5400000"/>
              <a:lstStyle/>
              <a:p>
                <a:pPr>
                  <a:defRPr b="0" sz="13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  <a:r>
                  <a:rPr b="0" sz="900" strike="noStrike" u="none">
                    <a:solidFill>
                      <a:srgbClr val="000000"/>
                    </a:solidFill>
                    <a:uFillTx/>
                    <a:latin typeface="Arial"/>
                    <a:ea typeface="DejaVu Sans"/>
                  </a:rPr>
                  <a:t>Время работы, с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General" sourceLinked="0"/>
        <c:majorTickMark val="out"/>
        <c:minorTickMark val="none"/>
        <c:tickLblPos val="nextTo"/>
        <c:spPr>
          <a:ln w="0">
            <a:solidFill>
              <a:srgbClr val="b3b3b3"/>
            </a:solidFill>
          </a:ln>
        </c:spPr>
        <c:txPr>
          <a:bodyPr/>
          <a:lstStyle/>
          <a:p>
            <a:pPr>
              <a:defRPr b="0" sz="1000" strike="noStrike" u="none">
                <a:solidFill>
                  <a:srgbClr val="000000"/>
                </a:solidFill>
                <a:uFillTx/>
                <a:latin typeface="Arial"/>
                <a:ea typeface="DejaVu Sans"/>
              </a:defRPr>
            </a:pPr>
          </a:p>
        </c:txPr>
        <c:crossAx val="13818975"/>
        <c:crossesAt val="1"/>
        <c:crossBetween val="midCat"/>
      </c:valAx>
      <c:spPr>
        <a:noFill/>
        <a:ln w="0">
          <a:solidFill>
            <a:srgbClr val="b3b3b3"/>
          </a:solidFill>
        </a:ln>
      </c:spPr>
    </c:plotArea>
    <c:legend>
      <c:legendPos val="r"/>
      <c:layout>
        <c:manualLayout>
          <c:xMode val="edge"/>
          <c:yMode val="edge"/>
          <c:x val="0.751024784007063"/>
          <c:y val="0.498170261941448"/>
          <c:w val="0.237197275479314"/>
          <c:h val="0.42328806703265"/>
        </c:manualLayout>
      </c:layout>
      <c:overlay val="0"/>
      <c:spPr>
        <a:noFill/>
        <a:ln w="0">
          <a:noFill/>
        </a:ln>
      </c:spPr>
      <c:txPr>
        <a:bodyPr/>
        <a:lstStyle/>
        <a:p>
          <a:pPr>
            <a:defRPr b="0" sz="1000" strike="noStrike" u="none">
              <a:solidFill>
                <a:srgbClr val="000000"/>
              </a:solidFill>
              <a:uFillTx/>
              <a:latin typeface="Arial"/>
              <a:ea typeface="DejaVu Sans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0870341651393393"/>
          <c:y val="0.0197330237957052"/>
          <c:w val="0.652474270407444"/>
          <c:h val="0.847939640162507"/>
        </c:manualLayout>
      </c:layout>
      <c:lineChart>
        <c:grouping val="standar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Избавление от матричных умножений</c:v>
                </c:pt>
              </c:strCache>
            </c:strRef>
          </c:tx>
          <c:spPr>
            <a:solidFill>
              <a:srgbClr val="ffd320"/>
            </a:solidFill>
            <a:ln w="28800">
              <a:solidFill>
                <a:srgbClr val="ffd320"/>
              </a:solidFill>
              <a:round/>
            </a:ln>
          </c:spPr>
          <c:marker>
            <c:symbol val="triangle"/>
            <c:size val="8"/>
            <c:spPr>
              <a:solidFill>
                <a:srgbClr val="ffd320"/>
              </a:solidFill>
            </c:spPr>
          </c:marker>
          <c:dPt>
            <c:idx val="0"/>
            <c:marker>
              <c:symbol val="triangle"/>
              <c:size val="8"/>
              <c:spPr>
                <a:solidFill>
                  <a:srgbClr val="ffd320"/>
                </a:solidFill>
              </c:spPr>
            </c:marker>
          </c:dPt>
          <c:dLbls>
            <c:numFmt formatCode="General" sourceLinked="0"/>
            <c:dLbl>
              <c:idx val="0"/>
              <c:layout>
                <c:manualLayout>
                  <c:x val="0"/>
                  <c:y val="0.0331647458751347"/>
                </c:manualLayout>
              </c:layout>
              <c:numFmt formatCode="General" sourceLinked="0"/>
              <c:txPr>
                <a:bodyPr wrap="none"/>
                <a:lstStyle/>
                <a:p>
                  <a:pPr>
                    <a:defRPr b="0" sz="500" strike="noStrike" u="non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eparator> </c:separator>
            </c:dLbl>
            <c:txPr>
              <a:bodyPr wrap="none"/>
              <a:lstStyle/>
              <a:p>
                <a:pPr>
                  <a:defRPr b="0" sz="500" strike="noStrike" u="none">
                    <a:solidFill>
                      <a:srgbClr val="000000"/>
                    </a:solidFill>
                    <a:uFillTx/>
                    <a:latin typeface="Arial"/>
                    <a:ea typeface="DejaVu San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eparator> </c:separator>
            <c:showLeaderLines val="1"/>
            <c:leaderLines>
              <c:spPr>
                <a:ln w="2880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16"/>
                <c:pt idx="0">
                  <c:v>100</c:v>
                </c:pt>
                <c:pt idx="1">
                  <c:v>200</c:v>
                </c:pt>
                <c:pt idx="2">
                  <c:v>300</c:v>
                </c:pt>
                <c:pt idx="3">
                  <c:v>400</c:v>
                </c:pt>
                <c:pt idx="4">
                  <c:v>500</c:v>
                </c:pt>
                <c:pt idx="5">
                  <c:v>600</c:v>
                </c:pt>
                <c:pt idx="6">
                  <c:v>700</c:v>
                </c:pt>
                <c:pt idx="7">
                  <c:v>800</c:v>
                </c:pt>
                <c:pt idx="8">
                  <c:v>900</c:v>
                </c:pt>
                <c:pt idx="9">
                  <c:v>1000</c:v>
                </c:pt>
                <c:pt idx="10">
                  <c:v>1500</c:v>
                </c:pt>
                <c:pt idx="11">
                  <c:v>2000</c:v>
                </c:pt>
                <c:pt idx="12">
                  <c:v>2500</c:v>
                </c:pt>
                <c:pt idx="13">
                  <c:v>3000</c:v>
                </c:pt>
                <c:pt idx="14">
                  <c:v>3500</c:v>
                </c:pt>
                <c:pt idx="15">
                  <c:v>4000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16"/>
                <c:pt idx="0">
                  <c:v>0.0037046</c:v>
                </c:pt>
                <c:pt idx="1">
                  <c:v>0.0087853</c:v>
                </c:pt>
                <c:pt idx="2">
                  <c:v>0.0192567</c:v>
                </c:pt>
                <c:pt idx="3">
                  <c:v>0.0449681</c:v>
                </c:pt>
                <c:pt idx="4">
                  <c:v>0.0484657</c:v>
                </c:pt>
                <c:pt idx="5">
                  <c:v>0.091016</c:v>
                </c:pt>
                <c:pt idx="6">
                  <c:v>0.136375</c:v>
                </c:pt>
                <c:pt idx="7">
                  <c:v>0.22583</c:v>
                </c:pt>
                <c:pt idx="8">
                  <c:v>0.303426</c:v>
                </c:pt>
                <c:pt idx="9">
                  <c:v>0.493081</c:v>
                </c:pt>
                <c:pt idx="10">
                  <c:v>2.74045</c:v>
                </c:pt>
                <c:pt idx="11">
                  <c:v>9.7409</c:v>
                </c:pt>
                <c:pt idx="12">
                  <c:v>19.7588</c:v>
                </c:pt>
                <c:pt idx="13">
                  <c:v>39.3139</c:v>
                </c:pt>
                <c:pt idx="14">
                  <c:v>63.9547</c:v>
                </c:pt>
                <c:pt idx="15">
                  <c:v>117.753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in-place хранение нормированных векторов</c:v>
                </c:pt>
              </c:strCache>
            </c:strRef>
          </c:tx>
          <c:spPr>
            <a:solidFill>
              <a:srgbClr val="579d1c"/>
            </a:solidFill>
            <a:ln w="28800">
              <a:solidFill>
                <a:srgbClr val="579d1c"/>
              </a:solidFill>
              <a:round/>
            </a:ln>
          </c:spPr>
          <c:marker>
            <c:symbol val="triangle"/>
            <c:size val="8"/>
            <c:spPr>
              <a:solidFill>
                <a:srgbClr val="579d1c"/>
              </a:solidFill>
            </c:spPr>
          </c:marker>
          <c:dPt>
            <c:idx val="0"/>
            <c:marker>
              <c:symbol val="triangle"/>
              <c:size val="8"/>
              <c:spPr>
                <a:solidFill>
                  <a:srgbClr val="579d1c"/>
                </a:solidFill>
              </c:spPr>
            </c:marker>
          </c:dPt>
          <c:dPt>
            <c:idx val="1"/>
            <c:marker>
              <c:symbol val="triangle"/>
              <c:size val="8"/>
              <c:spPr>
                <a:solidFill>
                  <a:srgbClr val="579d1c"/>
                </a:solidFill>
              </c:spPr>
            </c:marker>
          </c:dPt>
          <c:dPt>
            <c:idx val="2"/>
            <c:marker>
              <c:symbol val="triangle"/>
              <c:size val="8"/>
              <c:spPr>
                <a:solidFill>
                  <a:srgbClr val="579d1c"/>
                </a:solidFill>
              </c:spPr>
            </c:marker>
          </c:dPt>
          <c:dPt>
            <c:idx val="5"/>
            <c:marker>
              <c:symbol val="triangle"/>
              <c:size val="8"/>
              <c:spPr>
                <a:solidFill>
                  <a:srgbClr val="579d1c"/>
                </a:solidFill>
              </c:spPr>
            </c:marker>
          </c:dPt>
          <c:dLbls>
            <c:numFmt formatCode="General" sourceLinked="0"/>
            <c:dLbl>
              <c:idx val="0"/>
              <c:txPr>
                <a:bodyPr wrap="none"/>
                <a:lstStyle/>
                <a:p>
                  <a:pPr>
                    <a:defRPr b="0" sz="500" strike="noStrike" u="non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b"/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1"/>
              <c:txPr>
                <a:bodyPr wrap="none"/>
                <a:lstStyle/>
                <a:p>
                  <a:pPr>
                    <a:defRPr b="0" sz="500" strike="noStrike" u="non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b"/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2"/>
              <c:layout>
                <c:manualLayout>
                  <c:x val="0"/>
                  <c:y val="-0.0165823729375674"/>
                </c:manualLayout>
              </c:layout>
              <c:numFmt formatCode="General" sourceLinked="0"/>
              <c:txPr>
                <a:bodyPr wrap="none"/>
                <a:lstStyle/>
                <a:p>
                  <a:pPr>
                    <a:defRPr b="0" sz="500" strike="noStrike" u="non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eparator> </c:separator>
            </c:dLbl>
            <c:dLbl>
              <c:idx val="5"/>
              <c:layout>
                <c:manualLayout>
                  <c:x val="0"/>
                  <c:y val="-0.0248735594063511"/>
                </c:manualLayout>
              </c:layout>
              <c:numFmt formatCode="General" sourceLinked="0"/>
              <c:txPr>
                <a:bodyPr wrap="none"/>
                <a:lstStyle/>
                <a:p>
                  <a:pPr>
                    <a:defRPr b="0" sz="500" strike="noStrike" u="non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eparator> </c:separator>
            </c:dLbl>
            <c:txPr>
              <a:bodyPr wrap="none"/>
              <a:lstStyle/>
              <a:p>
                <a:pPr>
                  <a:defRPr b="0" sz="500" strike="noStrike" u="none">
                    <a:solidFill>
                      <a:srgbClr val="000000"/>
                    </a:solidFill>
                    <a:uFillTx/>
                    <a:latin typeface="Arial"/>
                    <a:ea typeface="DejaVu Sans"/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eparator> </c:separator>
            <c:showLeaderLines val="1"/>
            <c:leaderLines>
              <c:spPr>
                <a:ln w="2880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16"/>
                <c:pt idx="0">
                  <c:v>100</c:v>
                </c:pt>
                <c:pt idx="1">
                  <c:v>200</c:v>
                </c:pt>
                <c:pt idx="2">
                  <c:v>300</c:v>
                </c:pt>
                <c:pt idx="3">
                  <c:v>400</c:v>
                </c:pt>
                <c:pt idx="4">
                  <c:v>500</c:v>
                </c:pt>
                <c:pt idx="5">
                  <c:v>600</c:v>
                </c:pt>
                <c:pt idx="6">
                  <c:v>700</c:v>
                </c:pt>
                <c:pt idx="7">
                  <c:v>800</c:v>
                </c:pt>
                <c:pt idx="8">
                  <c:v>900</c:v>
                </c:pt>
                <c:pt idx="9">
                  <c:v>1000</c:v>
                </c:pt>
                <c:pt idx="10">
                  <c:v>1500</c:v>
                </c:pt>
                <c:pt idx="11">
                  <c:v>2000</c:v>
                </c:pt>
                <c:pt idx="12">
                  <c:v>2500</c:v>
                </c:pt>
                <c:pt idx="13">
                  <c:v>3000</c:v>
                </c:pt>
                <c:pt idx="14">
                  <c:v>3500</c:v>
                </c:pt>
                <c:pt idx="15">
                  <c:v>4000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16"/>
                <c:pt idx="0">
                  <c:v>0.0038215</c:v>
                </c:pt>
                <c:pt idx="1">
                  <c:v>0.0076733</c:v>
                </c:pt>
                <c:pt idx="2">
                  <c:v>0.011263</c:v>
                </c:pt>
                <c:pt idx="3">
                  <c:v>0.0242997</c:v>
                </c:pt>
                <c:pt idx="4">
                  <c:v>0.029481</c:v>
                </c:pt>
                <c:pt idx="5">
                  <c:v>0.0369054</c:v>
                </c:pt>
                <c:pt idx="6">
                  <c:v>0.0520784</c:v>
                </c:pt>
                <c:pt idx="7">
                  <c:v>0.0778759</c:v>
                </c:pt>
                <c:pt idx="8">
                  <c:v>0.114006</c:v>
                </c:pt>
                <c:pt idx="9">
                  <c:v>0.164251</c:v>
                </c:pt>
                <c:pt idx="10">
                  <c:v>0.662782</c:v>
                </c:pt>
                <c:pt idx="11">
                  <c:v>2.47128</c:v>
                </c:pt>
                <c:pt idx="12">
                  <c:v>5.2263</c:v>
                </c:pt>
                <c:pt idx="13">
                  <c:v>9.71765</c:v>
                </c:pt>
                <c:pt idx="14">
                  <c:v>15.6171</c:v>
                </c:pt>
                <c:pt idx="15">
                  <c:v>23.7826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scilab версия</c:v>
                </c:pt>
              </c:strCache>
            </c:strRef>
          </c:tx>
          <c:spPr>
            <a:solidFill>
              <a:srgbClr val="f10d0c"/>
            </a:solidFill>
            <a:ln w="28800">
              <a:solidFill>
                <a:srgbClr val="f10d0c"/>
              </a:solidFill>
              <a:round/>
            </a:ln>
          </c:spPr>
          <c:marker>
            <c:symbol val="triangle"/>
            <c:size val="8"/>
            <c:spPr>
              <a:solidFill>
                <a:srgbClr val="f10d0c"/>
              </a:solidFill>
            </c:spPr>
          </c:marker>
          <c:dPt>
            <c:idx val="2"/>
            <c:marker>
              <c:symbol val="triangle"/>
              <c:size val="8"/>
              <c:spPr>
                <a:solidFill>
                  <a:srgbClr val="f10d0c"/>
                </a:solidFill>
              </c:spPr>
            </c:marker>
          </c:dPt>
          <c:dPt>
            <c:idx val="5"/>
            <c:marker>
              <c:symbol val="triangle"/>
              <c:size val="8"/>
              <c:spPr>
                <a:solidFill>
                  <a:srgbClr val="f10d0c"/>
                </a:solidFill>
              </c:spPr>
            </c:marker>
          </c:dPt>
          <c:dLbls>
            <c:numFmt formatCode="General" sourceLinked="0"/>
            <c:dLbl>
              <c:idx val="2"/>
              <c:txPr>
                <a:bodyPr wrap="none"/>
                <a:lstStyle/>
                <a:p>
                  <a:pPr>
                    <a:defRPr b="0" sz="500" strike="noStrike" u="non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b"/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5"/>
              <c:layout>
                <c:manualLayout>
                  <c:x val="0"/>
                  <c:y val="-0.0331647458751347"/>
                </c:manualLayout>
              </c:layout>
              <c:numFmt formatCode="General" sourceLinked="0"/>
              <c:txPr>
                <a:bodyPr wrap="none"/>
                <a:lstStyle/>
                <a:p>
                  <a:pPr>
                    <a:defRPr b="0" sz="500" strike="noStrike" u="non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eparator> </c:separator>
            </c:dLbl>
            <c:txPr>
              <a:bodyPr wrap="none"/>
              <a:lstStyle/>
              <a:p>
                <a:pPr>
                  <a:defRPr b="0" sz="5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eparator> </c:separator>
            <c:showLeaderLines val="1"/>
            <c:leaderLines>
              <c:spPr>
                <a:ln w="2880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16"/>
                <c:pt idx="0">
                  <c:v>100</c:v>
                </c:pt>
                <c:pt idx="1">
                  <c:v>200</c:v>
                </c:pt>
                <c:pt idx="2">
                  <c:v>300</c:v>
                </c:pt>
                <c:pt idx="3">
                  <c:v>400</c:v>
                </c:pt>
                <c:pt idx="4">
                  <c:v>500</c:v>
                </c:pt>
                <c:pt idx="5">
                  <c:v>600</c:v>
                </c:pt>
                <c:pt idx="6">
                  <c:v>700</c:v>
                </c:pt>
                <c:pt idx="7">
                  <c:v>800</c:v>
                </c:pt>
                <c:pt idx="8">
                  <c:v>900</c:v>
                </c:pt>
                <c:pt idx="9">
                  <c:v>1000</c:v>
                </c:pt>
                <c:pt idx="10">
                  <c:v>1500</c:v>
                </c:pt>
                <c:pt idx="11">
                  <c:v>2000</c:v>
                </c:pt>
                <c:pt idx="12">
                  <c:v>2500</c:v>
                </c:pt>
                <c:pt idx="13">
                  <c:v>3000</c:v>
                </c:pt>
                <c:pt idx="14">
                  <c:v>3500</c:v>
                </c:pt>
                <c:pt idx="15">
                  <c:v>4000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16"/>
                <c:pt idx="0">
                  <c:v>0.0335941</c:v>
                </c:pt>
                <c:pt idx="1">
                  <c:v>0.0039998</c:v>
                </c:pt>
                <c:pt idx="2">
                  <c:v>0.0084994</c:v>
                </c:pt>
                <c:pt idx="3">
                  <c:v>0.0054738</c:v>
                </c:pt>
                <c:pt idx="4">
                  <c:v>0.0088187</c:v>
                </c:pt>
                <c:pt idx="5">
                  <c:v>0.052328</c:v>
                </c:pt>
                <c:pt idx="6">
                  <c:v>0.0211349</c:v>
                </c:pt>
                <c:pt idx="7">
                  <c:v>0.0211328</c:v>
                </c:pt>
                <c:pt idx="8">
                  <c:v>0.0266102</c:v>
                </c:pt>
                <c:pt idx="9">
                  <c:v>0.0412016</c:v>
                </c:pt>
                <c:pt idx="10">
                  <c:v>0.0998157</c:v>
                </c:pt>
                <c:pt idx="11">
                  <c:v>0.1859652</c:v>
                </c:pt>
                <c:pt idx="12">
                  <c:v>0.3497936</c:v>
                </c:pt>
                <c:pt idx="13">
                  <c:v>0.6075179</c:v>
                </c:pt>
                <c:pt idx="14">
                  <c:v>0.9034108</c:v>
                </c:pt>
                <c:pt idx="15">
                  <c:v>1.4172756</c:v>
                </c:pt>
              </c:numCache>
            </c:numRef>
          </c:val>
          <c:smooth val="0"/>
        </c:ser>
        <c:hiLowLines>
          <c:spPr>
            <a:ln w="0">
              <a:noFill/>
            </a:ln>
          </c:spPr>
        </c:hiLowLines>
        <c:marker val="1"/>
        <c:axId val="43216319"/>
        <c:axId val="69951726"/>
      </c:lineChart>
      <c:catAx>
        <c:axId val="43216319"/>
        <c:scaling>
          <c:orientation val="minMax"/>
        </c:scaling>
        <c:delete val="0"/>
        <c:axPos val="b"/>
        <c:title>
          <c:tx>
            <c:rich>
              <a:bodyPr rot="0"/>
              <a:lstStyle/>
              <a:p>
                <a:pPr>
                  <a:defRPr b="0" sz="13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  <a:r>
                  <a:rPr b="0" sz="900" strike="noStrike" u="none">
                    <a:solidFill>
                      <a:srgbClr val="000000"/>
                    </a:solidFill>
                    <a:uFillTx/>
                    <a:latin typeface="Arial"/>
                    <a:ea typeface="DejaVu Sans"/>
                  </a:rPr>
                  <a:t>Размер данных, NxN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[$-419]dd/mm/yyyy" sourceLinked="0"/>
        <c:majorTickMark val="out"/>
        <c:minorTickMark val="none"/>
        <c:tickLblPos val="nextTo"/>
        <c:spPr>
          <a:ln w="0">
            <a:solidFill>
              <a:srgbClr val="b3b3b3"/>
            </a:solidFill>
          </a:ln>
        </c:spPr>
        <c:txPr>
          <a:bodyPr/>
          <a:lstStyle/>
          <a:p>
            <a:pPr>
              <a:defRPr b="0" sz="1000" strike="noStrike" u="none">
                <a:solidFill>
                  <a:srgbClr val="000000"/>
                </a:solidFill>
                <a:uFillTx/>
                <a:latin typeface="Arial"/>
                <a:ea typeface="DejaVu Sans"/>
              </a:defRPr>
            </a:pPr>
          </a:p>
        </c:txPr>
        <c:crossAx val="69951726"/>
        <c:crosses val="autoZero"/>
        <c:auto val="1"/>
        <c:lblAlgn val="ctr"/>
        <c:lblOffset val="100"/>
        <c:noMultiLvlLbl val="0"/>
      </c:catAx>
      <c:valAx>
        <c:axId val="69951726"/>
        <c:scaling>
          <c:logBase val="10"/>
          <c:orientation val="minMax"/>
        </c:scaling>
        <c:delete val="0"/>
        <c:axPos val="l"/>
        <c:majorGridlines>
          <c:spPr>
            <a:ln w="0">
              <a:solidFill>
                <a:srgbClr val="b3b3b3"/>
              </a:solidFill>
            </a:ln>
          </c:spPr>
        </c:majorGridlines>
        <c:title>
          <c:tx>
            <c:rich>
              <a:bodyPr rot="-5400000"/>
              <a:lstStyle/>
              <a:p>
                <a:pPr>
                  <a:defRPr b="0" sz="13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  <a:r>
                  <a:rPr b="0" sz="900" strike="noStrike" u="none">
                    <a:solidFill>
                      <a:srgbClr val="000000"/>
                    </a:solidFill>
                    <a:uFillTx/>
                    <a:latin typeface="Arial"/>
                    <a:ea typeface="DejaVu Sans"/>
                  </a:rPr>
                  <a:t>Время работы, с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General" sourceLinked="0"/>
        <c:majorTickMark val="out"/>
        <c:minorTickMark val="none"/>
        <c:tickLblPos val="nextTo"/>
        <c:spPr>
          <a:ln w="0">
            <a:solidFill>
              <a:srgbClr val="b3b3b3"/>
            </a:solidFill>
          </a:ln>
        </c:spPr>
        <c:txPr>
          <a:bodyPr/>
          <a:lstStyle/>
          <a:p>
            <a:pPr>
              <a:defRPr b="0" sz="1000" strike="noStrike" u="none">
                <a:solidFill>
                  <a:srgbClr val="000000"/>
                </a:solidFill>
                <a:uFillTx/>
                <a:latin typeface="Arial"/>
                <a:ea typeface="DejaVu Sans"/>
              </a:defRPr>
            </a:pPr>
          </a:p>
        </c:txPr>
        <c:crossAx val="43216319"/>
        <c:crossesAt val="1"/>
        <c:crossBetween val="midCat"/>
      </c:valAx>
      <c:spPr>
        <a:noFill/>
        <a:ln w="0">
          <a:solidFill>
            <a:srgbClr val="b3b3b3"/>
          </a:solidFill>
        </a:ln>
      </c:spPr>
    </c:plotArea>
    <c:legend>
      <c:legendPos val="r"/>
      <c:layout>
        <c:manualLayout>
          <c:xMode val="edge"/>
          <c:yMode val="edge"/>
          <c:x val="0.751024784007063"/>
          <c:y val="0.498170261941448"/>
          <c:w val="0.237197275479314"/>
          <c:h val="0.42328806703265"/>
        </c:manualLayout>
      </c:layout>
      <c:overlay val="0"/>
      <c:spPr>
        <a:noFill/>
        <a:ln w="0">
          <a:noFill/>
        </a:ln>
      </c:spPr>
      <c:txPr>
        <a:bodyPr/>
        <a:lstStyle/>
        <a:p>
          <a:pPr>
            <a:defRPr b="0" sz="1000" strike="noStrike" u="none">
              <a:solidFill>
                <a:srgbClr val="000000"/>
              </a:solidFill>
              <a:uFillTx/>
              <a:latin typeface="Arial"/>
              <a:ea typeface="DejaVu Sans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0868550523527186"/>
          <c:y val="0.0195549561699258"/>
          <c:w val="0.652958243976284"/>
          <c:h val="0.847702533474617"/>
        </c:manualLayout>
      </c:layout>
      <c:lineChart>
        <c:grouping val="standar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Базовая реализация</c:v>
                </c:pt>
              </c:strCache>
            </c:strRef>
          </c:tx>
          <c:spPr>
            <a:solidFill>
              <a:srgbClr val="ff420e"/>
            </a:solidFill>
            <a:ln w="28800">
              <a:solidFill>
                <a:srgbClr val="ff420e"/>
              </a:solidFill>
              <a:round/>
            </a:ln>
          </c:spPr>
          <c:marker>
            <c:symbol val="diamond"/>
            <c:size val="8"/>
            <c:spPr>
              <a:solidFill>
                <a:srgbClr val="ff420e"/>
              </a:solidFill>
            </c:spPr>
          </c:marker>
          <c:dLbls>
            <c:txPr>
              <a:bodyPr wrap="none"/>
              <a:lstStyle/>
              <a:p>
                <a:pPr>
                  <a:defRPr b="0" sz="500" strike="noStrike" u="none">
                    <a:solidFill>
                      <a:srgbClr val="000000"/>
                    </a:solidFill>
                    <a:uFillTx/>
                    <a:latin typeface="Arial"/>
                    <a:ea typeface="DejaVu Sans"/>
                  </a:defRPr>
                </a:pPr>
              </a:p>
            </c:txPr>
            <c:dLblPos val="l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leaderLines>
              <c:spPr>
                <a:ln w="2880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16"/>
                <c:pt idx="0">
                  <c:v>100</c:v>
                </c:pt>
                <c:pt idx="1">
                  <c:v>200</c:v>
                </c:pt>
                <c:pt idx="2">
                  <c:v>300</c:v>
                </c:pt>
                <c:pt idx="3">
                  <c:v>400</c:v>
                </c:pt>
                <c:pt idx="4">
                  <c:v>500</c:v>
                </c:pt>
                <c:pt idx="5">
                  <c:v>600</c:v>
                </c:pt>
                <c:pt idx="6">
                  <c:v>700</c:v>
                </c:pt>
                <c:pt idx="7">
                  <c:v>800</c:v>
                </c:pt>
                <c:pt idx="8">
                  <c:v>900</c:v>
                </c:pt>
                <c:pt idx="9">
                  <c:v>1000</c:v>
                </c:pt>
                <c:pt idx="10">
                  <c:v>1500</c:v>
                </c:pt>
                <c:pt idx="11">
                  <c:v>2000</c:v>
                </c:pt>
                <c:pt idx="12">
                  <c:v>2500</c:v>
                </c:pt>
                <c:pt idx="13">
                  <c:v>3000</c:v>
                </c:pt>
                <c:pt idx="14">
                  <c:v>3500</c:v>
                </c:pt>
                <c:pt idx="15">
                  <c:v>4000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16"/>
                <c:pt idx="0">
                  <c:v>0.0013115</c:v>
                </c:pt>
                <c:pt idx="1">
                  <c:v>0.0102885</c:v>
                </c:pt>
                <c:pt idx="2">
                  <c:v>0.0331369</c:v>
                </c:pt>
                <c:pt idx="3">
                  <c:v>0.0681976</c:v>
                </c:pt>
                <c:pt idx="4">
                  <c:v>0.126461</c:v>
                </c:pt>
                <c:pt idx="5">
                  <c:v>0.213508</c:v>
                </c:pt>
                <c:pt idx="6">
                  <c:v>0.369684</c:v>
                </c:pt>
                <c:pt idx="7">
                  <c:v>0.522814</c:v>
                </c:pt>
                <c:pt idx="8">
                  <c:v>0.74382</c:v>
                </c:pt>
                <c:pt idx="9">
                  <c:v>1.03255</c:v>
                </c:pt>
                <c:pt idx="10">
                  <c:v>4.23951</c:v>
                </c:pt>
                <c:pt idx="11">
                  <c:v>9.38852</c:v>
                </c:pt>
                <c:pt idx="12">
                  <c:v>18.5025</c:v>
                </c:pt>
                <c:pt idx="13">
                  <c:v>31.8739</c:v>
                </c:pt>
                <c:pt idx="14">
                  <c:v>50.2523</c:v>
                </c:pt>
                <c:pt idx="15">
                  <c:v>75.3927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Объединённое хранение Q и R</c:v>
                </c:pt>
              </c:strCache>
            </c:strRef>
          </c:tx>
          <c:spPr>
            <a:solidFill>
              <a:srgbClr val="ffd320"/>
            </a:solidFill>
            <a:ln w="28800">
              <a:solidFill>
                <a:srgbClr val="ffd320"/>
              </a:solidFill>
              <a:round/>
            </a:ln>
          </c:spPr>
          <c:marker>
            <c:symbol val="triangle"/>
            <c:size val="8"/>
            <c:spPr>
              <a:solidFill>
                <a:srgbClr val="ffd320"/>
              </a:solidFill>
            </c:spPr>
          </c:marker>
          <c:dLbls>
            <c:numFmt formatCode="General" sourceLinked="0"/>
            <c:txPr>
              <a:bodyPr wrap="none"/>
              <a:lstStyle/>
              <a:p>
                <a:pPr>
                  <a:defRPr b="0" sz="500" strike="noStrike" u="none">
                    <a:solidFill>
                      <a:srgbClr val="000000"/>
                    </a:solidFill>
                    <a:uFillTx/>
                    <a:latin typeface="Arial"/>
                    <a:ea typeface="DejaVu Sans"/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eparator> </c:separator>
            <c:showLeaderLines val="1"/>
            <c:leaderLines>
              <c:spPr>
                <a:ln w="2880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16"/>
                <c:pt idx="0">
                  <c:v>100</c:v>
                </c:pt>
                <c:pt idx="1">
                  <c:v>200</c:v>
                </c:pt>
                <c:pt idx="2">
                  <c:v>300</c:v>
                </c:pt>
                <c:pt idx="3">
                  <c:v>400</c:v>
                </c:pt>
                <c:pt idx="4">
                  <c:v>500</c:v>
                </c:pt>
                <c:pt idx="5">
                  <c:v>600</c:v>
                </c:pt>
                <c:pt idx="6">
                  <c:v>700</c:v>
                </c:pt>
                <c:pt idx="7">
                  <c:v>800</c:v>
                </c:pt>
                <c:pt idx="8">
                  <c:v>900</c:v>
                </c:pt>
                <c:pt idx="9">
                  <c:v>1000</c:v>
                </c:pt>
                <c:pt idx="10">
                  <c:v>1500</c:v>
                </c:pt>
                <c:pt idx="11">
                  <c:v>2000</c:v>
                </c:pt>
                <c:pt idx="12">
                  <c:v>2500</c:v>
                </c:pt>
                <c:pt idx="13">
                  <c:v>3000</c:v>
                </c:pt>
                <c:pt idx="14">
                  <c:v>3500</c:v>
                </c:pt>
                <c:pt idx="15">
                  <c:v>4000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16"/>
                <c:pt idx="0">
                  <c:v>0.0014271</c:v>
                </c:pt>
                <c:pt idx="1">
                  <c:v>0.0100838</c:v>
                </c:pt>
                <c:pt idx="2">
                  <c:v>0.0319887</c:v>
                </c:pt>
                <c:pt idx="3">
                  <c:v>0.0708905</c:v>
                </c:pt>
                <c:pt idx="4">
                  <c:v>0.141176</c:v>
                </c:pt>
                <c:pt idx="5">
                  <c:v>0.235563</c:v>
                </c:pt>
                <c:pt idx="6">
                  <c:v>0.3691</c:v>
                </c:pt>
                <c:pt idx="7">
                  <c:v>0.565115</c:v>
                </c:pt>
                <c:pt idx="8">
                  <c:v>0.823601</c:v>
                </c:pt>
                <c:pt idx="9">
                  <c:v>1.18734</c:v>
                </c:pt>
                <c:pt idx="10">
                  <c:v>3.9269</c:v>
                </c:pt>
                <c:pt idx="11">
                  <c:v>9.11078</c:v>
                </c:pt>
                <c:pt idx="12">
                  <c:v>17.9521</c:v>
                </c:pt>
                <c:pt idx="13">
                  <c:v>30.0101</c:v>
                </c:pt>
                <c:pt idx="14">
                  <c:v>48.9718</c:v>
                </c:pt>
                <c:pt idx="15">
                  <c:v>73.9241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Векторизованные вычисления</c:v>
                </c:pt>
              </c:strCache>
            </c:strRef>
          </c:tx>
          <c:spPr>
            <a:solidFill>
              <a:srgbClr val="579d1c"/>
            </a:solidFill>
            <a:ln w="28800">
              <a:solidFill>
                <a:srgbClr val="579d1c"/>
              </a:solidFill>
              <a:round/>
            </a:ln>
          </c:spPr>
          <c:marker>
            <c:symbol val="triangle"/>
            <c:size val="8"/>
            <c:spPr>
              <a:solidFill>
                <a:srgbClr val="579d1c"/>
              </a:solidFill>
            </c:spPr>
          </c:marker>
          <c:dLbls>
            <c:numFmt formatCode="General" sourceLinked="0"/>
            <c:txPr>
              <a:bodyPr wrap="none"/>
              <a:lstStyle/>
              <a:p>
                <a:pPr>
                  <a:defRPr b="0" sz="500" strike="noStrike" u="none">
                    <a:solidFill>
                      <a:srgbClr val="000000"/>
                    </a:solidFill>
                    <a:uFillTx/>
                    <a:latin typeface="Arial"/>
                    <a:ea typeface="DejaVu Sans"/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eparator> </c:separator>
            <c:showLeaderLines val="1"/>
            <c:leaderLines>
              <c:spPr>
                <a:ln w="2880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16"/>
                <c:pt idx="0">
                  <c:v>100</c:v>
                </c:pt>
                <c:pt idx="1">
                  <c:v>200</c:v>
                </c:pt>
                <c:pt idx="2">
                  <c:v>300</c:v>
                </c:pt>
                <c:pt idx="3">
                  <c:v>400</c:v>
                </c:pt>
                <c:pt idx="4">
                  <c:v>500</c:v>
                </c:pt>
                <c:pt idx="5">
                  <c:v>600</c:v>
                </c:pt>
                <c:pt idx="6">
                  <c:v>700</c:v>
                </c:pt>
                <c:pt idx="7">
                  <c:v>800</c:v>
                </c:pt>
                <c:pt idx="8">
                  <c:v>900</c:v>
                </c:pt>
                <c:pt idx="9">
                  <c:v>1000</c:v>
                </c:pt>
                <c:pt idx="10">
                  <c:v>1500</c:v>
                </c:pt>
                <c:pt idx="11">
                  <c:v>2000</c:v>
                </c:pt>
                <c:pt idx="12">
                  <c:v>2500</c:v>
                </c:pt>
                <c:pt idx="13">
                  <c:v>3000</c:v>
                </c:pt>
                <c:pt idx="14">
                  <c:v>3500</c:v>
                </c:pt>
                <c:pt idx="15">
                  <c:v>4000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16"/>
                <c:pt idx="0">
                  <c:v>0.0004123</c:v>
                </c:pt>
                <c:pt idx="1">
                  <c:v>0.00258</c:v>
                </c:pt>
                <c:pt idx="2">
                  <c:v>0.0058212</c:v>
                </c:pt>
                <c:pt idx="3">
                  <c:v>0.0133668</c:v>
                </c:pt>
                <c:pt idx="4">
                  <c:v>0.0326057</c:v>
                </c:pt>
                <c:pt idx="5">
                  <c:v>0.0635673</c:v>
                </c:pt>
                <c:pt idx="6">
                  <c:v>0.130495</c:v>
                </c:pt>
                <c:pt idx="7">
                  <c:v>0.221892</c:v>
                </c:pt>
                <c:pt idx="8">
                  <c:v>0.247834</c:v>
                </c:pt>
                <c:pt idx="9">
                  <c:v>0.496281</c:v>
                </c:pt>
                <c:pt idx="10">
                  <c:v>0.496281</c:v>
                </c:pt>
                <c:pt idx="11">
                  <c:v>3.55704</c:v>
                </c:pt>
                <c:pt idx="12">
                  <c:v>7.23234</c:v>
                </c:pt>
                <c:pt idx="13">
                  <c:v>12.8809</c:v>
                </c:pt>
                <c:pt idx="14">
                  <c:v>20.2517</c:v>
                </c:pt>
                <c:pt idx="15">
                  <c:v>30.9537</c:v>
                </c:pt>
              </c:numCache>
            </c:numRef>
          </c:val>
          <c:smooth val="0"/>
        </c:ser>
        <c:hiLowLines>
          <c:spPr>
            <a:ln w="0">
              <a:noFill/>
            </a:ln>
          </c:spPr>
        </c:hiLowLines>
        <c:marker val="1"/>
        <c:axId val="12754286"/>
        <c:axId val="35694370"/>
      </c:lineChart>
      <c:catAx>
        <c:axId val="12754286"/>
        <c:scaling>
          <c:orientation val="minMax"/>
        </c:scaling>
        <c:delete val="0"/>
        <c:axPos val="b"/>
        <c:title>
          <c:tx>
            <c:rich>
              <a:bodyPr rot="0"/>
              <a:lstStyle/>
              <a:p>
                <a:pPr>
                  <a:defRPr b="0" sz="13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  <a:r>
                  <a:rPr b="0" sz="900" strike="noStrike" u="none">
                    <a:solidFill>
                      <a:srgbClr val="000000"/>
                    </a:solidFill>
                    <a:uFillTx/>
                    <a:latin typeface="Arial"/>
                    <a:ea typeface="DejaVu Sans"/>
                  </a:rPr>
                  <a:t>Размер данных, NxN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[$-419]dd/mm/yyyy" sourceLinked="0"/>
        <c:majorTickMark val="out"/>
        <c:minorTickMark val="none"/>
        <c:tickLblPos val="nextTo"/>
        <c:spPr>
          <a:ln w="0">
            <a:solidFill>
              <a:srgbClr val="b3b3b3"/>
            </a:solidFill>
          </a:ln>
        </c:spPr>
        <c:txPr>
          <a:bodyPr/>
          <a:lstStyle/>
          <a:p>
            <a:pPr>
              <a:defRPr b="0" sz="1000" strike="noStrike" u="none">
                <a:solidFill>
                  <a:srgbClr val="000000"/>
                </a:solidFill>
                <a:uFillTx/>
                <a:latin typeface="Arial"/>
                <a:ea typeface="DejaVu Sans"/>
              </a:defRPr>
            </a:pPr>
          </a:p>
        </c:txPr>
        <c:crossAx val="35694370"/>
        <c:crosses val="autoZero"/>
        <c:auto val="1"/>
        <c:lblAlgn val="ctr"/>
        <c:lblOffset val="100"/>
        <c:noMultiLvlLbl val="0"/>
      </c:catAx>
      <c:valAx>
        <c:axId val="35694370"/>
        <c:scaling>
          <c:logBase val="10"/>
          <c:orientation val="minMax"/>
        </c:scaling>
        <c:delete val="0"/>
        <c:axPos val="l"/>
        <c:majorGridlines>
          <c:spPr>
            <a:ln w="0">
              <a:solidFill>
                <a:srgbClr val="b3b3b3"/>
              </a:solidFill>
            </a:ln>
          </c:spPr>
        </c:majorGridlines>
        <c:title>
          <c:tx>
            <c:rich>
              <a:bodyPr rot="-5400000"/>
              <a:lstStyle/>
              <a:p>
                <a:pPr>
                  <a:defRPr b="0" sz="13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  <a:r>
                  <a:rPr b="0" sz="900" strike="noStrike" u="none">
                    <a:solidFill>
                      <a:srgbClr val="000000"/>
                    </a:solidFill>
                    <a:uFillTx/>
                    <a:latin typeface="Arial"/>
                    <a:ea typeface="DejaVu Sans"/>
                  </a:rPr>
                  <a:t>Время работы, с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General" sourceLinked="0"/>
        <c:majorTickMark val="out"/>
        <c:minorTickMark val="none"/>
        <c:tickLblPos val="nextTo"/>
        <c:spPr>
          <a:ln w="0">
            <a:solidFill>
              <a:srgbClr val="b3b3b3"/>
            </a:solidFill>
          </a:ln>
        </c:spPr>
        <c:txPr>
          <a:bodyPr/>
          <a:lstStyle/>
          <a:p>
            <a:pPr>
              <a:defRPr b="0" sz="1000" strike="noStrike" u="none">
                <a:solidFill>
                  <a:srgbClr val="000000"/>
                </a:solidFill>
                <a:uFillTx/>
                <a:latin typeface="Arial"/>
                <a:ea typeface="DejaVu Sans"/>
              </a:defRPr>
            </a:pPr>
          </a:p>
        </c:txPr>
        <c:crossAx val="12754286"/>
        <c:crossesAt val="1"/>
        <c:crossBetween val="midCat"/>
      </c:valAx>
      <c:spPr>
        <a:noFill/>
        <a:ln w="0">
          <a:solidFill>
            <a:srgbClr val="b3b3b3"/>
          </a:solidFill>
        </a:ln>
      </c:spPr>
    </c:plotArea>
    <c:legend>
      <c:legendPos val="r"/>
      <c:layout>
        <c:manualLayout>
          <c:xMode val="edge"/>
          <c:yMode val="edge"/>
          <c:x val="0.751024784007063"/>
          <c:y val="0.498170261941448"/>
          <c:w val="0.237197275479314"/>
          <c:h val="0.42328806703265"/>
        </c:manualLayout>
      </c:layout>
      <c:overlay val="0"/>
      <c:spPr>
        <a:noFill/>
        <a:ln w="0">
          <a:noFill/>
        </a:ln>
      </c:spPr>
      <c:txPr>
        <a:bodyPr/>
        <a:lstStyle/>
        <a:p>
          <a:pPr>
            <a:defRPr b="0" sz="1000" strike="noStrike" u="none">
              <a:solidFill>
                <a:srgbClr val="000000"/>
              </a:solidFill>
              <a:uFillTx/>
              <a:latin typeface="Arial"/>
              <a:ea typeface="DejaVu Sans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0870442790462975"/>
          <c:y val="0.0197476158366246"/>
          <c:w val="0.652453639460073"/>
          <c:h val="0.847895193141316"/>
        </c:manualLayout>
      </c:layout>
      <c:lineChart>
        <c:grouping val="standar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Базовая реализация</c:v>
                </c:pt>
              </c:strCache>
            </c:strRef>
          </c:tx>
          <c:spPr>
            <a:solidFill>
              <a:srgbClr val="ff420e"/>
            </a:solidFill>
            <a:ln w="28800">
              <a:solidFill>
                <a:srgbClr val="ff420e"/>
              </a:solidFill>
              <a:round/>
            </a:ln>
          </c:spPr>
          <c:marker>
            <c:symbol val="diamond"/>
            <c:size val="8"/>
            <c:spPr>
              <a:solidFill>
                <a:srgbClr val="ff420e"/>
              </a:solidFill>
            </c:spPr>
          </c:marker>
          <c:dLbls>
            <c:numFmt formatCode="General" sourceLinked="0"/>
            <c:txPr>
              <a:bodyPr wrap="none"/>
              <a:lstStyle/>
              <a:p>
                <a:pPr>
                  <a:defRPr b="0" sz="500" strike="noStrike" u="none">
                    <a:solidFill>
                      <a:srgbClr val="000000"/>
                    </a:solidFill>
                    <a:uFillTx/>
                    <a:latin typeface="Arial"/>
                    <a:ea typeface="DejaVu San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eparator> </c:separator>
            <c:showLeaderLines val="1"/>
            <c:leaderLines>
              <c:spPr>
                <a:ln w="2880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16"/>
                <c:pt idx="0">
                  <c:v>100</c:v>
                </c:pt>
                <c:pt idx="1">
                  <c:v>200</c:v>
                </c:pt>
                <c:pt idx="2">
                  <c:v>300</c:v>
                </c:pt>
                <c:pt idx="3">
                  <c:v>400</c:v>
                </c:pt>
                <c:pt idx="4">
                  <c:v>500</c:v>
                </c:pt>
                <c:pt idx="5">
                  <c:v>600</c:v>
                </c:pt>
                <c:pt idx="6">
                  <c:v>700</c:v>
                </c:pt>
                <c:pt idx="7">
                  <c:v>800</c:v>
                </c:pt>
                <c:pt idx="8">
                  <c:v>900</c:v>
                </c:pt>
                <c:pt idx="9">
                  <c:v>1000</c:v>
                </c:pt>
                <c:pt idx="10">
                  <c:v>1500</c:v>
                </c:pt>
                <c:pt idx="11">
                  <c:v>2000</c:v>
                </c:pt>
                <c:pt idx="12">
                  <c:v>2500</c:v>
                </c:pt>
                <c:pt idx="13">
                  <c:v>3000</c:v>
                </c:pt>
                <c:pt idx="14">
                  <c:v>3500</c:v>
                </c:pt>
                <c:pt idx="15">
                  <c:v>4000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16"/>
                <c:pt idx="0">
                  <c:v>0.0012517</c:v>
                </c:pt>
                <c:pt idx="1">
                  <c:v>0.011072</c:v>
                </c:pt>
                <c:pt idx="2">
                  <c:v>0.0314288</c:v>
                </c:pt>
                <c:pt idx="3">
                  <c:v>0.0786339</c:v>
                </c:pt>
                <c:pt idx="4">
                  <c:v>0.140472</c:v>
                </c:pt>
                <c:pt idx="5">
                  <c:v>0.213508</c:v>
                </c:pt>
                <c:pt idx="6">
                  <c:v>0.369684</c:v>
                </c:pt>
                <c:pt idx="7">
                  <c:v>0.522814</c:v>
                </c:pt>
                <c:pt idx="8">
                  <c:v>0.74382</c:v>
                </c:pt>
                <c:pt idx="9">
                  <c:v>1.03255</c:v>
                </c:pt>
                <c:pt idx="10">
                  <c:v>4.23951</c:v>
                </c:pt>
                <c:pt idx="11">
                  <c:v>9.38852</c:v>
                </c:pt>
                <c:pt idx="12">
                  <c:v>18.5025</c:v>
                </c:pt>
                <c:pt idx="13">
                  <c:v>31.8739</c:v>
                </c:pt>
                <c:pt idx="14">
                  <c:v>50.2523</c:v>
                </c:pt>
                <c:pt idx="15">
                  <c:v>75.3927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Объединённое хранение Q и R</c:v>
                </c:pt>
              </c:strCache>
            </c:strRef>
          </c:tx>
          <c:spPr>
            <a:solidFill>
              <a:srgbClr val="ffd320"/>
            </a:solidFill>
            <a:ln w="28800">
              <a:solidFill>
                <a:srgbClr val="ffd320"/>
              </a:solidFill>
              <a:round/>
            </a:ln>
          </c:spPr>
          <c:marker>
            <c:symbol val="triangle"/>
            <c:size val="8"/>
            <c:spPr>
              <a:solidFill>
                <a:srgbClr val="ffd320"/>
              </a:solidFill>
            </c:spPr>
          </c:marker>
          <c:dPt>
            <c:idx val="10"/>
            <c:marker>
              <c:symbol val="triangle"/>
              <c:size val="8"/>
              <c:spPr>
                <a:solidFill>
                  <a:srgbClr val="ffd320"/>
                </a:solidFill>
              </c:spPr>
            </c:marker>
          </c:dPt>
          <c:dPt>
            <c:idx val="11"/>
            <c:marker>
              <c:symbol val="triangle"/>
              <c:size val="8"/>
              <c:spPr>
                <a:solidFill>
                  <a:srgbClr val="ffd320"/>
                </a:solidFill>
              </c:spPr>
            </c:marker>
          </c:dPt>
          <c:dPt>
            <c:idx val="12"/>
            <c:marker>
              <c:symbol val="triangle"/>
              <c:size val="8"/>
              <c:spPr>
                <a:solidFill>
                  <a:srgbClr val="ffd320"/>
                </a:solidFill>
              </c:spPr>
            </c:marker>
          </c:dPt>
          <c:dPt>
            <c:idx val="13"/>
            <c:marker>
              <c:symbol val="triangle"/>
              <c:size val="8"/>
              <c:spPr>
                <a:solidFill>
                  <a:srgbClr val="ffd320"/>
                </a:solidFill>
              </c:spPr>
            </c:marker>
          </c:dPt>
          <c:dPt>
            <c:idx val="14"/>
            <c:marker>
              <c:symbol val="triangle"/>
              <c:size val="8"/>
              <c:spPr>
                <a:solidFill>
                  <a:srgbClr val="ffd320"/>
                </a:solidFill>
              </c:spPr>
            </c:marker>
          </c:dPt>
          <c:dPt>
            <c:idx val="15"/>
            <c:marker>
              <c:symbol val="triangle"/>
              <c:size val="8"/>
              <c:spPr>
                <a:solidFill>
                  <a:srgbClr val="ffd320"/>
                </a:solidFill>
              </c:spPr>
            </c:marker>
          </c:dPt>
          <c:dLbls>
            <c:dLbl>
              <c:idx val="10"/>
              <c:numFmt formatCode="General" sourceLinked="0"/>
              <c:txPr>
                <a:bodyPr wrap="none"/>
                <a:lstStyle/>
                <a:p>
                  <a:pPr>
                    <a:defRPr b="0" sz="500" strike="noStrike" u="non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eparator> </c:separator>
            </c:dLbl>
            <c:dLbl>
              <c:idx val="11"/>
              <c:numFmt formatCode="General" sourceLinked="0"/>
              <c:txPr>
                <a:bodyPr wrap="none"/>
                <a:lstStyle/>
                <a:p>
                  <a:pPr>
                    <a:defRPr b="0" sz="500" strike="noStrike" u="non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eparator> </c:separator>
            </c:dLbl>
            <c:dLbl>
              <c:idx val="12"/>
              <c:numFmt formatCode="General" sourceLinked="0"/>
              <c:txPr>
                <a:bodyPr wrap="none"/>
                <a:lstStyle/>
                <a:p>
                  <a:pPr>
                    <a:defRPr b="0" sz="500" strike="noStrike" u="non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eparator> </c:separator>
            </c:dLbl>
            <c:dLbl>
              <c:idx val="13"/>
              <c:numFmt formatCode="General" sourceLinked="0"/>
              <c:txPr>
                <a:bodyPr wrap="none"/>
                <a:lstStyle/>
                <a:p>
                  <a:pPr>
                    <a:defRPr b="0" sz="500" strike="noStrike" u="non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eparator> </c:separator>
            </c:dLbl>
            <c:dLbl>
              <c:idx val="14"/>
              <c:numFmt formatCode="General" sourceLinked="0"/>
              <c:txPr>
                <a:bodyPr wrap="none"/>
                <a:lstStyle/>
                <a:p>
                  <a:pPr>
                    <a:defRPr b="0" sz="500" strike="noStrike" u="non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eparator> </c:separator>
            </c:dLbl>
            <c:dLbl>
              <c:idx val="15"/>
              <c:numFmt formatCode="General" sourceLinked="0"/>
              <c:txPr>
                <a:bodyPr wrap="none"/>
                <a:lstStyle/>
                <a:p>
                  <a:pPr>
                    <a:defRPr b="0" sz="500" strike="noStrike" u="non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eparator> </c:separator>
            </c:dLbl>
            <c:txPr>
              <a:bodyPr wrap="none"/>
              <a:lstStyle/>
              <a:p>
                <a:pPr>
                  <a:defRPr b="0" sz="500" strike="noStrike" u="none">
                    <a:solidFill>
                      <a:srgbClr val="000000"/>
                    </a:solidFill>
                    <a:uFillTx/>
                    <a:latin typeface="Arial"/>
                    <a:ea typeface="DejaVu San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leaderLines>
              <c:spPr>
                <a:ln w="2880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16"/>
                <c:pt idx="0">
                  <c:v>100</c:v>
                </c:pt>
                <c:pt idx="1">
                  <c:v>200</c:v>
                </c:pt>
                <c:pt idx="2">
                  <c:v>300</c:v>
                </c:pt>
                <c:pt idx="3">
                  <c:v>400</c:v>
                </c:pt>
                <c:pt idx="4">
                  <c:v>500</c:v>
                </c:pt>
                <c:pt idx="5">
                  <c:v>600</c:v>
                </c:pt>
                <c:pt idx="6">
                  <c:v>700</c:v>
                </c:pt>
                <c:pt idx="7">
                  <c:v>800</c:v>
                </c:pt>
                <c:pt idx="8">
                  <c:v>900</c:v>
                </c:pt>
                <c:pt idx="9">
                  <c:v>1000</c:v>
                </c:pt>
                <c:pt idx="10">
                  <c:v>1500</c:v>
                </c:pt>
                <c:pt idx="11">
                  <c:v>2000</c:v>
                </c:pt>
                <c:pt idx="12">
                  <c:v>2500</c:v>
                </c:pt>
                <c:pt idx="13">
                  <c:v>3000</c:v>
                </c:pt>
                <c:pt idx="14">
                  <c:v>3500</c:v>
                </c:pt>
                <c:pt idx="15">
                  <c:v>4000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16"/>
                <c:pt idx="0">
                  <c:v>0.0013181</c:v>
                </c:pt>
                <c:pt idx="1">
                  <c:v>0.0099296</c:v>
                </c:pt>
                <c:pt idx="2">
                  <c:v>0.0318885</c:v>
                </c:pt>
                <c:pt idx="3">
                  <c:v>0.0764529</c:v>
                </c:pt>
                <c:pt idx="4">
                  <c:v>0.140105</c:v>
                </c:pt>
                <c:pt idx="5">
                  <c:v>0.254556</c:v>
                </c:pt>
                <c:pt idx="6">
                  <c:v>0.392292</c:v>
                </c:pt>
                <c:pt idx="7">
                  <c:v>0.782092</c:v>
                </c:pt>
                <c:pt idx="8">
                  <c:v>0.889774</c:v>
                </c:pt>
                <c:pt idx="9">
                  <c:v>1.00876</c:v>
                </c:pt>
                <c:pt idx="10">
                  <c:v>2.55075</c:v>
                </c:pt>
                <c:pt idx="11">
                  <c:v>5.12232</c:v>
                </c:pt>
                <c:pt idx="12">
                  <c:v>9.40546</c:v>
                </c:pt>
                <c:pt idx="13">
                  <c:v>15.6294</c:v>
                </c:pt>
                <c:pt idx="14">
                  <c:v>24.0062</c:v>
                </c:pt>
                <c:pt idx="15">
                  <c:v>35.1546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Векторизованные вычисления</c:v>
                </c:pt>
              </c:strCache>
            </c:strRef>
          </c:tx>
          <c:spPr>
            <a:solidFill>
              <a:srgbClr val="579d1c"/>
            </a:solidFill>
            <a:ln w="28800">
              <a:solidFill>
                <a:srgbClr val="579d1c"/>
              </a:solidFill>
              <a:round/>
            </a:ln>
          </c:spPr>
          <c:marker>
            <c:symbol val="triangle"/>
            <c:size val="8"/>
            <c:spPr>
              <a:solidFill>
                <a:srgbClr val="579d1c"/>
              </a:solidFill>
            </c:spPr>
          </c:marker>
          <c:dPt>
            <c:idx val="14"/>
            <c:marker>
              <c:symbol val="triangle"/>
              <c:size val="8"/>
              <c:spPr>
                <a:solidFill>
                  <a:srgbClr val="579d1c"/>
                </a:solidFill>
              </c:spPr>
            </c:marker>
          </c:dPt>
          <c:dLbls>
            <c:numFmt formatCode="General" sourceLinked="0"/>
            <c:dLbl>
              <c:idx val="14"/>
              <c:numFmt formatCode="General" sourceLinked="0"/>
              <c:txPr>
                <a:bodyPr wrap="none"/>
                <a:lstStyle/>
                <a:p>
                  <a:pPr>
                    <a:defRPr b="0" sz="500" strike="noStrike" u="non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eparator> </c:separator>
            </c:dLbl>
            <c:txPr>
              <a:bodyPr wrap="none"/>
              <a:lstStyle/>
              <a:p>
                <a:pPr>
                  <a:defRPr b="0" sz="500" strike="noStrike" u="none">
                    <a:solidFill>
                      <a:srgbClr val="000000"/>
                    </a:solidFill>
                    <a:uFillTx/>
                    <a:latin typeface="Arial"/>
                    <a:ea typeface="DejaVu Sans"/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eparator> </c:separator>
            <c:showLeaderLines val="1"/>
            <c:leaderLines>
              <c:spPr>
                <a:ln w="2880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16"/>
                <c:pt idx="0">
                  <c:v>100</c:v>
                </c:pt>
                <c:pt idx="1">
                  <c:v>200</c:v>
                </c:pt>
                <c:pt idx="2">
                  <c:v>300</c:v>
                </c:pt>
                <c:pt idx="3">
                  <c:v>400</c:v>
                </c:pt>
                <c:pt idx="4">
                  <c:v>500</c:v>
                </c:pt>
                <c:pt idx="5">
                  <c:v>600</c:v>
                </c:pt>
                <c:pt idx="6">
                  <c:v>700</c:v>
                </c:pt>
                <c:pt idx="7">
                  <c:v>800</c:v>
                </c:pt>
                <c:pt idx="8">
                  <c:v>900</c:v>
                </c:pt>
                <c:pt idx="9">
                  <c:v>1000</c:v>
                </c:pt>
                <c:pt idx="10">
                  <c:v>1500</c:v>
                </c:pt>
                <c:pt idx="11">
                  <c:v>2000</c:v>
                </c:pt>
                <c:pt idx="12">
                  <c:v>2500</c:v>
                </c:pt>
                <c:pt idx="13">
                  <c:v>3000</c:v>
                </c:pt>
                <c:pt idx="14">
                  <c:v>3500</c:v>
                </c:pt>
                <c:pt idx="15">
                  <c:v>4000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16"/>
                <c:pt idx="0">
                  <c:v>0.0003797</c:v>
                </c:pt>
                <c:pt idx="1">
                  <c:v>0.0024847</c:v>
                </c:pt>
                <c:pt idx="2">
                  <c:v>0.007201</c:v>
                </c:pt>
                <c:pt idx="3">
                  <c:v>0.0146559</c:v>
                </c:pt>
                <c:pt idx="4">
                  <c:v>0.0288285</c:v>
                </c:pt>
                <c:pt idx="5">
                  <c:v>0.0649643</c:v>
                </c:pt>
                <c:pt idx="6">
                  <c:v>0.0896495</c:v>
                </c:pt>
                <c:pt idx="7">
                  <c:v>0.164743</c:v>
                </c:pt>
                <c:pt idx="8">
                  <c:v>0.291743</c:v>
                </c:pt>
                <c:pt idx="9">
                  <c:v>0.412436</c:v>
                </c:pt>
                <c:pt idx="10">
                  <c:v>1.6963</c:v>
                </c:pt>
                <c:pt idx="11">
                  <c:v>3.66677</c:v>
                </c:pt>
                <c:pt idx="12">
                  <c:v>7.32413</c:v>
                </c:pt>
                <c:pt idx="13">
                  <c:v>12.6413</c:v>
                </c:pt>
                <c:pt idx="14">
                  <c:v>20.7444</c:v>
                </c:pt>
                <c:pt idx="15">
                  <c:v>31.001</c:v>
                </c:pt>
              </c:numCache>
            </c:numRef>
          </c:val>
          <c:smooth val="0"/>
        </c:ser>
        <c:hiLowLines>
          <c:spPr>
            <a:ln w="0">
              <a:noFill/>
            </a:ln>
          </c:spPr>
        </c:hiLowLines>
        <c:marker val="1"/>
        <c:axId val="56962572"/>
        <c:axId val="72695601"/>
      </c:lineChart>
      <c:catAx>
        <c:axId val="56962572"/>
        <c:scaling>
          <c:orientation val="minMax"/>
        </c:scaling>
        <c:delete val="0"/>
        <c:axPos val="b"/>
        <c:title>
          <c:tx>
            <c:rich>
              <a:bodyPr rot="0"/>
              <a:lstStyle/>
              <a:p>
                <a:pPr>
                  <a:defRPr b="0" sz="13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  <a:r>
                  <a:rPr b="0" sz="900" strike="noStrike" u="none">
                    <a:solidFill>
                      <a:srgbClr val="000000"/>
                    </a:solidFill>
                    <a:uFillTx/>
                    <a:latin typeface="Arial"/>
                    <a:ea typeface="DejaVu Sans"/>
                  </a:rPr>
                  <a:t>Размер данных, NxN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[$-419]dd/mm/yyyy" sourceLinked="0"/>
        <c:majorTickMark val="out"/>
        <c:minorTickMark val="none"/>
        <c:tickLblPos val="nextTo"/>
        <c:spPr>
          <a:ln w="0">
            <a:solidFill>
              <a:srgbClr val="b3b3b3"/>
            </a:solidFill>
          </a:ln>
        </c:spPr>
        <c:txPr>
          <a:bodyPr/>
          <a:lstStyle/>
          <a:p>
            <a:pPr>
              <a:defRPr b="0" sz="1000" strike="noStrike" u="none">
                <a:solidFill>
                  <a:srgbClr val="000000"/>
                </a:solidFill>
                <a:uFillTx/>
                <a:latin typeface="Arial"/>
                <a:ea typeface="DejaVu Sans"/>
              </a:defRPr>
            </a:pPr>
          </a:p>
        </c:txPr>
        <c:crossAx val="72695601"/>
        <c:crosses val="autoZero"/>
        <c:auto val="1"/>
        <c:lblAlgn val="ctr"/>
        <c:lblOffset val="100"/>
        <c:noMultiLvlLbl val="0"/>
      </c:catAx>
      <c:valAx>
        <c:axId val="72695601"/>
        <c:scaling>
          <c:logBase val="10"/>
          <c:orientation val="minMax"/>
        </c:scaling>
        <c:delete val="0"/>
        <c:axPos val="l"/>
        <c:majorGridlines>
          <c:spPr>
            <a:ln w="0">
              <a:solidFill>
                <a:srgbClr val="b3b3b3"/>
              </a:solidFill>
            </a:ln>
          </c:spPr>
        </c:majorGridlines>
        <c:title>
          <c:tx>
            <c:rich>
              <a:bodyPr rot="-5400000"/>
              <a:lstStyle/>
              <a:p>
                <a:pPr>
                  <a:defRPr b="0" sz="13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  <a:r>
                  <a:rPr b="0" sz="900" strike="noStrike" u="none">
                    <a:solidFill>
                      <a:srgbClr val="000000"/>
                    </a:solidFill>
                    <a:uFillTx/>
                    <a:latin typeface="Arial"/>
                    <a:ea typeface="DejaVu Sans"/>
                  </a:rPr>
                  <a:t>Время работы, с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General" sourceLinked="0"/>
        <c:majorTickMark val="out"/>
        <c:minorTickMark val="none"/>
        <c:tickLblPos val="nextTo"/>
        <c:spPr>
          <a:ln w="0">
            <a:solidFill>
              <a:srgbClr val="b3b3b3"/>
            </a:solidFill>
          </a:ln>
        </c:spPr>
        <c:txPr>
          <a:bodyPr/>
          <a:lstStyle/>
          <a:p>
            <a:pPr>
              <a:defRPr b="0" sz="1000" strike="noStrike" u="none">
                <a:solidFill>
                  <a:srgbClr val="000000"/>
                </a:solidFill>
                <a:uFillTx/>
                <a:latin typeface="Arial"/>
                <a:ea typeface="DejaVu Sans"/>
              </a:defRPr>
            </a:pPr>
          </a:p>
        </c:txPr>
        <c:crossAx val="56962572"/>
        <c:crossesAt val="1"/>
        <c:crossBetween val="midCat"/>
      </c:valAx>
      <c:spPr>
        <a:noFill/>
        <a:ln w="0">
          <a:solidFill>
            <a:srgbClr val="b3b3b3"/>
          </a:solidFill>
        </a:ln>
      </c:spPr>
    </c:plotArea>
    <c:legend>
      <c:legendPos val="r"/>
      <c:layout>
        <c:manualLayout>
          <c:xMode val="edge"/>
          <c:yMode val="edge"/>
          <c:x val="0.751024784007063"/>
          <c:y val="0.498170261941448"/>
          <c:w val="0.237197275479314"/>
          <c:h val="0.42328806703265"/>
        </c:manualLayout>
      </c:layout>
      <c:overlay val="0"/>
      <c:spPr>
        <a:noFill/>
        <a:ln w="0">
          <a:noFill/>
        </a:ln>
      </c:spPr>
      <c:txPr>
        <a:bodyPr/>
        <a:lstStyle/>
        <a:p>
          <a:pPr>
            <a:defRPr b="0" sz="1000" strike="noStrike" u="none">
              <a:solidFill>
                <a:srgbClr val="000000"/>
              </a:solidFill>
              <a:uFillTx/>
              <a:latin typeface="Arial"/>
              <a:ea typeface="DejaVu Sans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0870173745173745"/>
          <c:y val="0.0197356828193833"/>
          <c:w val="0.65246138996139"/>
          <c:h val="0.847929515418502"/>
        </c:manualLayout>
      </c:layout>
      <c:lineChart>
        <c:grouping val="standar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Объединённое хранение Q и R</c:v>
                </c:pt>
              </c:strCache>
            </c:strRef>
          </c:tx>
          <c:spPr>
            <a:solidFill>
              <a:srgbClr val="ffd320"/>
            </a:solidFill>
            <a:ln w="28800">
              <a:solidFill>
                <a:srgbClr val="ffd320"/>
              </a:solidFill>
              <a:round/>
            </a:ln>
          </c:spPr>
          <c:marker>
            <c:symbol val="triangle"/>
            <c:size val="8"/>
            <c:spPr>
              <a:solidFill>
                <a:srgbClr val="ffd320"/>
              </a:solidFill>
            </c:spPr>
          </c:marker>
          <c:dLbls>
            <c:numFmt formatCode="General" sourceLinked="0"/>
            <c:txPr>
              <a:bodyPr wrap="none"/>
              <a:lstStyle/>
              <a:p>
                <a:pPr>
                  <a:defRPr b="0" sz="500" strike="noStrike" u="none">
                    <a:solidFill>
                      <a:srgbClr val="000000"/>
                    </a:solidFill>
                    <a:uFillTx/>
                    <a:latin typeface="Arial"/>
                    <a:ea typeface="DejaVu San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eparator> </c:separator>
            <c:showLeaderLines val="1"/>
            <c:leaderLines>
              <c:spPr>
                <a:ln w="2880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16"/>
                <c:pt idx="0">
                  <c:v>100</c:v>
                </c:pt>
                <c:pt idx="1">
                  <c:v>200</c:v>
                </c:pt>
                <c:pt idx="2">
                  <c:v>300</c:v>
                </c:pt>
                <c:pt idx="3">
                  <c:v>400</c:v>
                </c:pt>
                <c:pt idx="4">
                  <c:v>500</c:v>
                </c:pt>
                <c:pt idx="5">
                  <c:v>600</c:v>
                </c:pt>
                <c:pt idx="6">
                  <c:v>700</c:v>
                </c:pt>
                <c:pt idx="7">
                  <c:v>800</c:v>
                </c:pt>
                <c:pt idx="8">
                  <c:v>900</c:v>
                </c:pt>
                <c:pt idx="9">
                  <c:v>1000</c:v>
                </c:pt>
                <c:pt idx="10">
                  <c:v>1500</c:v>
                </c:pt>
                <c:pt idx="11">
                  <c:v>2000</c:v>
                </c:pt>
                <c:pt idx="12">
                  <c:v>2500</c:v>
                </c:pt>
                <c:pt idx="13">
                  <c:v>3000</c:v>
                </c:pt>
                <c:pt idx="14">
                  <c:v>3500</c:v>
                </c:pt>
                <c:pt idx="15">
                  <c:v>4000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16"/>
                <c:pt idx="0">
                  <c:v>0.0013181</c:v>
                </c:pt>
                <c:pt idx="1">
                  <c:v>0.0099296</c:v>
                </c:pt>
                <c:pt idx="2">
                  <c:v>0.0318885</c:v>
                </c:pt>
                <c:pt idx="3">
                  <c:v>0.0764529</c:v>
                </c:pt>
                <c:pt idx="4">
                  <c:v>0.140105</c:v>
                </c:pt>
                <c:pt idx="5">
                  <c:v>0.254556</c:v>
                </c:pt>
                <c:pt idx="6">
                  <c:v>0.392292</c:v>
                </c:pt>
                <c:pt idx="7">
                  <c:v>0.782092</c:v>
                </c:pt>
                <c:pt idx="8">
                  <c:v>0.889774</c:v>
                </c:pt>
                <c:pt idx="9">
                  <c:v>1.00876</c:v>
                </c:pt>
                <c:pt idx="10">
                  <c:v>2.55075</c:v>
                </c:pt>
                <c:pt idx="11">
                  <c:v>5.12232</c:v>
                </c:pt>
                <c:pt idx="12">
                  <c:v>9.40546</c:v>
                </c:pt>
                <c:pt idx="13">
                  <c:v>15.6294</c:v>
                </c:pt>
                <c:pt idx="14">
                  <c:v>24.0062</c:v>
                </c:pt>
                <c:pt idx="15">
                  <c:v>35.1546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Векторизованные вычисления</c:v>
                </c:pt>
              </c:strCache>
            </c:strRef>
          </c:tx>
          <c:spPr>
            <a:solidFill>
              <a:srgbClr val="579d1c"/>
            </a:solidFill>
            <a:ln w="28800">
              <a:solidFill>
                <a:srgbClr val="579d1c"/>
              </a:solidFill>
              <a:round/>
            </a:ln>
          </c:spPr>
          <c:marker>
            <c:symbol val="triangle"/>
            <c:size val="8"/>
            <c:spPr>
              <a:solidFill>
                <a:srgbClr val="579d1c"/>
              </a:solidFill>
            </c:spPr>
          </c:marker>
          <c:dPt>
            <c:idx val="10"/>
            <c:marker>
              <c:symbol val="triangle"/>
              <c:size val="8"/>
              <c:spPr>
                <a:solidFill>
                  <a:srgbClr val="579d1c"/>
                </a:solidFill>
              </c:spPr>
            </c:marker>
          </c:dPt>
          <c:dPt>
            <c:idx val="11"/>
            <c:marker>
              <c:symbol val="triangle"/>
              <c:size val="8"/>
              <c:spPr>
                <a:solidFill>
                  <a:srgbClr val="579d1c"/>
                </a:solidFill>
              </c:spPr>
            </c:marker>
          </c:dPt>
          <c:dPt>
            <c:idx val="12"/>
            <c:marker>
              <c:symbol val="triangle"/>
              <c:size val="8"/>
              <c:spPr>
                <a:solidFill>
                  <a:srgbClr val="579d1c"/>
                </a:solidFill>
              </c:spPr>
            </c:marker>
          </c:dPt>
          <c:dPt>
            <c:idx val="13"/>
            <c:marker>
              <c:symbol val="triangle"/>
              <c:size val="8"/>
              <c:spPr>
                <a:solidFill>
                  <a:srgbClr val="579d1c"/>
                </a:solidFill>
              </c:spPr>
            </c:marker>
          </c:dPt>
          <c:dPt>
            <c:idx val="14"/>
            <c:marker>
              <c:symbol val="triangle"/>
              <c:size val="8"/>
              <c:spPr>
                <a:solidFill>
                  <a:srgbClr val="579d1c"/>
                </a:solidFill>
              </c:spPr>
            </c:marker>
          </c:dPt>
          <c:dPt>
            <c:idx val="15"/>
            <c:marker>
              <c:symbol val="triangle"/>
              <c:size val="8"/>
              <c:spPr>
                <a:solidFill>
                  <a:srgbClr val="579d1c"/>
                </a:solidFill>
              </c:spPr>
            </c:marker>
          </c:dPt>
          <c:dLbls>
            <c:numFmt formatCode="General" sourceLinked="0"/>
            <c:dLbl>
              <c:idx val="10"/>
              <c:layout>
                <c:manualLayout>
                  <c:x val="0"/>
                  <c:y val="0.0352422907488987"/>
                </c:manualLayout>
              </c:layout>
              <c:numFmt formatCode="General" sourceLinked="0"/>
              <c:txPr>
                <a:bodyPr wrap="none"/>
                <a:lstStyle/>
                <a:p>
                  <a:pPr>
                    <a:defRPr b="0" sz="500" strike="noStrike" u="non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eparator> </c:separator>
            </c:dLbl>
            <c:dLbl>
              <c:idx val="11"/>
              <c:layout>
                <c:manualLayout>
                  <c:x val="0"/>
                  <c:y val="0.0352422907488987"/>
                </c:manualLayout>
              </c:layout>
              <c:numFmt formatCode="General" sourceLinked="0"/>
              <c:txPr>
                <a:bodyPr wrap="none"/>
                <a:lstStyle/>
                <a:p>
                  <a:pPr>
                    <a:defRPr b="0" sz="500" strike="noStrike" u="non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eparator> </c:separator>
            </c:dLbl>
            <c:dLbl>
              <c:idx val="12"/>
              <c:layout>
                <c:manualLayout>
                  <c:x val="0"/>
                  <c:y val="0.0352422907488987"/>
                </c:manualLayout>
              </c:layout>
              <c:numFmt formatCode="General" sourceLinked="0"/>
              <c:txPr>
                <a:bodyPr wrap="none"/>
                <a:lstStyle/>
                <a:p>
                  <a:pPr>
                    <a:defRPr b="0" sz="500" strike="noStrike" u="non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eparator> </c:separator>
            </c:dLbl>
            <c:dLbl>
              <c:idx val="13"/>
              <c:layout>
                <c:manualLayout>
                  <c:x val="0"/>
                  <c:y val="0.0352422907488987"/>
                </c:manualLayout>
              </c:layout>
              <c:numFmt formatCode="General" sourceLinked="0"/>
              <c:txPr>
                <a:bodyPr wrap="none"/>
                <a:lstStyle/>
                <a:p>
                  <a:pPr>
                    <a:defRPr b="0" sz="500" strike="noStrike" u="non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eparator> </c:separator>
            </c:dLbl>
            <c:dLbl>
              <c:idx val="14"/>
              <c:layout>
                <c:manualLayout>
                  <c:x val="0"/>
                  <c:y val="0.052863436123348"/>
                </c:manualLayout>
              </c:layout>
              <c:numFmt formatCode="General" sourceLinked="0"/>
              <c:txPr>
                <a:bodyPr wrap="none"/>
                <a:lstStyle/>
                <a:p>
                  <a:pPr>
                    <a:defRPr b="0" sz="500" strike="noStrike" u="non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eparator> </c:separator>
            </c:dLbl>
            <c:dLbl>
              <c:idx val="15"/>
              <c:layout>
                <c:manualLayout>
                  <c:x val="0"/>
                  <c:y val="0.0440528634361234"/>
                </c:manualLayout>
              </c:layout>
              <c:numFmt formatCode="General" sourceLinked="0"/>
              <c:txPr>
                <a:bodyPr wrap="none"/>
                <a:lstStyle/>
                <a:p>
                  <a:pPr>
                    <a:defRPr b="0" sz="500" strike="noStrike" u="non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eparator> </c:separator>
            </c:dLbl>
            <c:txPr>
              <a:bodyPr wrap="none"/>
              <a:lstStyle/>
              <a:p>
                <a:pPr>
                  <a:defRPr b="0" sz="500" strike="noStrike" u="none">
                    <a:solidFill>
                      <a:srgbClr val="000000"/>
                    </a:solidFill>
                    <a:uFillTx/>
                    <a:latin typeface="Arial"/>
                    <a:ea typeface="DejaVu San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eparator> </c:separator>
            <c:showLeaderLines val="1"/>
            <c:leaderLines>
              <c:spPr>
                <a:ln w="2880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16"/>
                <c:pt idx="0">
                  <c:v>100</c:v>
                </c:pt>
                <c:pt idx="1">
                  <c:v>200</c:v>
                </c:pt>
                <c:pt idx="2">
                  <c:v>300</c:v>
                </c:pt>
                <c:pt idx="3">
                  <c:v>400</c:v>
                </c:pt>
                <c:pt idx="4">
                  <c:v>500</c:v>
                </c:pt>
                <c:pt idx="5">
                  <c:v>600</c:v>
                </c:pt>
                <c:pt idx="6">
                  <c:v>700</c:v>
                </c:pt>
                <c:pt idx="7">
                  <c:v>800</c:v>
                </c:pt>
                <c:pt idx="8">
                  <c:v>900</c:v>
                </c:pt>
                <c:pt idx="9">
                  <c:v>1000</c:v>
                </c:pt>
                <c:pt idx="10">
                  <c:v>1500</c:v>
                </c:pt>
                <c:pt idx="11">
                  <c:v>2000</c:v>
                </c:pt>
                <c:pt idx="12">
                  <c:v>2500</c:v>
                </c:pt>
                <c:pt idx="13">
                  <c:v>3000</c:v>
                </c:pt>
                <c:pt idx="14">
                  <c:v>3500</c:v>
                </c:pt>
                <c:pt idx="15">
                  <c:v>4000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16"/>
                <c:pt idx="0">
                  <c:v>0.0003797</c:v>
                </c:pt>
                <c:pt idx="1">
                  <c:v>0.0024847</c:v>
                </c:pt>
                <c:pt idx="2">
                  <c:v>0.007201</c:v>
                </c:pt>
                <c:pt idx="3">
                  <c:v>0.0146559</c:v>
                </c:pt>
                <c:pt idx="4">
                  <c:v>0.0288285</c:v>
                </c:pt>
                <c:pt idx="5">
                  <c:v>0.0649643</c:v>
                </c:pt>
                <c:pt idx="6">
                  <c:v>0.0896495</c:v>
                </c:pt>
                <c:pt idx="7">
                  <c:v>0.164743</c:v>
                </c:pt>
                <c:pt idx="8">
                  <c:v>0.291743</c:v>
                </c:pt>
                <c:pt idx="9">
                  <c:v>0.412436</c:v>
                </c:pt>
                <c:pt idx="10">
                  <c:v>1.6963</c:v>
                </c:pt>
                <c:pt idx="11">
                  <c:v>3.66677</c:v>
                </c:pt>
                <c:pt idx="12">
                  <c:v>7.32413</c:v>
                </c:pt>
                <c:pt idx="13">
                  <c:v>12.6413</c:v>
                </c:pt>
                <c:pt idx="14">
                  <c:v>20.7444</c:v>
                </c:pt>
                <c:pt idx="15">
                  <c:v>31.001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Реализация scilab</c:v>
                </c:pt>
              </c:strCache>
            </c:strRef>
          </c:tx>
          <c:spPr>
            <a:solidFill>
              <a:srgbClr val="ff0000"/>
            </a:solidFill>
            <a:ln w="28800">
              <a:solidFill>
                <a:srgbClr val="ff0000"/>
              </a:solidFill>
              <a:round/>
            </a:ln>
          </c:spPr>
          <c:marker>
            <c:symbol val="triangle"/>
            <c:size val="8"/>
            <c:spPr>
              <a:solidFill>
                <a:srgbClr val="ff0000"/>
              </a:solidFill>
            </c:spPr>
          </c:marker>
          <c:dLbls>
            <c:numFmt formatCode="General" sourceLinked="0"/>
            <c:txPr>
              <a:bodyPr wrap="none"/>
              <a:lstStyle/>
              <a:p>
                <a:pPr>
                  <a:defRPr b="0" sz="5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eparator> </c:separator>
            <c:showLeaderLines val="1"/>
            <c:leaderLines>
              <c:spPr>
                <a:ln w="2880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16"/>
                <c:pt idx="0">
                  <c:v>100</c:v>
                </c:pt>
                <c:pt idx="1">
                  <c:v>200</c:v>
                </c:pt>
                <c:pt idx="2">
                  <c:v>300</c:v>
                </c:pt>
                <c:pt idx="3">
                  <c:v>400</c:v>
                </c:pt>
                <c:pt idx="4">
                  <c:v>500</c:v>
                </c:pt>
                <c:pt idx="5">
                  <c:v>600</c:v>
                </c:pt>
                <c:pt idx="6">
                  <c:v>700</c:v>
                </c:pt>
                <c:pt idx="7">
                  <c:v>800</c:v>
                </c:pt>
                <c:pt idx="8">
                  <c:v>900</c:v>
                </c:pt>
                <c:pt idx="9">
                  <c:v>1000</c:v>
                </c:pt>
                <c:pt idx="10">
                  <c:v>1500</c:v>
                </c:pt>
                <c:pt idx="11">
                  <c:v>2000</c:v>
                </c:pt>
                <c:pt idx="12">
                  <c:v>2500</c:v>
                </c:pt>
                <c:pt idx="13">
                  <c:v>3000</c:v>
                </c:pt>
                <c:pt idx="14">
                  <c:v>3500</c:v>
                </c:pt>
                <c:pt idx="15">
                  <c:v>4000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16"/>
                <c:pt idx="0">
                  <c:v>0.0335941</c:v>
                </c:pt>
                <c:pt idx="1">
                  <c:v>0.0039998</c:v>
                </c:pt>
                <c:pt idx="2">
                  <c:v>0.0084994</c:v>
                </c:pt>
                <c:pt idx="3">
                  <c:v>0.0054738</c:v>
                </c:pt>
                <c:pt idx="4">
                  <c:v>0.0088187</c:v>
                </c:pt>
                <c:pt idx="5">
                  <c:v>0.052328</c:v>
                </c:pt>
                <c:pt idx="6">
                  <c:v>0.0211349</c:v>
                </c:pt>
                <c:pt idx="7">
                  <c:v>0.0211328</c:v>
                </c:pt>
                <c:pt idx="8">
                  <c:v>0.0266102</c:v>
                </c:pt>
                <c:pt idx="9">
                  <c:v>0.0412016</c:v>
                </c:pt>
                <c:pt idx="10">
                  <c:v>0.0998157</c:v>
                </c:pt>
                <c:pt idx="11">
                  <c:v>0.1859652</c:v>
                </c:pt>
                <c:pt idx="12">
                  <c:v>0.3497936</c:v>
                </c:pt>
                <c:pt idx="13">
                  <c:v>0.6075179</c:v>
                </c:pt>
                <c:pt idx="14">
                  <c:v>0.9034108</c:v>
                </c:pt>
                <c:pt idx="15">
                  <c:v>1.4172756</c:v>
                </c:pt>
              </c:numCache>
            </c:numRef>
          </c:val>
          <c:smooth val="0"/>
        </c:ser>
        <c:hiLowLines>
          <c:spPr>
            <a:ln w="0">
              <a:noFill/>
            </a:ln>
          </c:spPr>
        </c:hiLowLines>
        <c:marker val="1"/>
        <c:axId val="9541322"/>
        <c:axId val="11090147"/>
      </c:lineChart>
      <c:catAx>
        <c:axId val="9541322"/>
        <c:scaling>
          <c:orientation val="minMax"/>
        </c:scaling>
        <c:delete val="0"/>
        <c:axPos val="b"/>
        <c:title>
          <c:tx>
            <c:rich>
              <a:bodyPr rot="0"/>
              <a:lstStyle/>
              <a:p>
                <a:pPr>
                  <a:defRPr b="0" sz="13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  <a:r>
                  <a:rPr b="0" sz="900" strike="noStrike" u="none">
                    <a:solidFill>
                      <a:srgbClr val="000000"/>
                    </a:solidFill>
                    <a:uFillTx/>
                    <a:latin typeface="Arial"/>
                    <a:ea typeface="DejaVu Sans"/>
                  </a:rPr>
                  <a:t>Размер данных, NxN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[$-419]dd/mm/yyyy" sourceLinked="0"/>
        <c:majorTickMark val="out"/>
        <c:minorTickMark val="none"/>
        <c:tickLblPos val="nextTo"/>
        <c:spPr>
          <a:ln w="0">
            <a:solidFill>
              <a:srgbClr val="b3b3b3"/>
            </a:solidFill>
          </a:ln>
        </c:spPr>
        <c:txPr>
          <a:bodyPr/>
          <a:lstStyle/>
          <a:p>
            <a:pPr>
              <a:defRPr b="0" sz="1000" strike="noStrike" u="none">
                <a:solidFill>
                  <a:srgbClr val="000000"/>
                </a:solidFill>
                <a:uFillTx/>
                <a:latin typeface="Arial"/>
                <a:ea typeface="DejaVu Sans"/>
              </a:defRPr>
            </a:pPr>
          </a:p>
        </c:txPr>
        <c:crossAx val="11090147"/>
        <c:crosses val="autoZero"/>
        <c:auto val="1"/>
        <c:lblAlgn val="ctr"/>
        <c:lblOffset val="100"/>
        <c:noMultiLvlLbl val="0"/>
      </c:catAx>
      <c:valAx>
        <c:axId val="11090147"/>
        <c:scaling>
          <c:logBase val="10"/>
          <c:orientation val="minMax"/>
        </c:scaling>
        <c:delete val="0"/>
        <c:axPos val="l"/>
        <c:majorGridlines>
          <c:spPr>
            <a:ln w="0">
              <a:solidFill>
                <a:srgbClr val="b3b3b3"/>
              </a:solidFill>
            </a:ln>
          </c:spPr>
        </c:majorGridlines>
        <c:title>
          <c:tx>
            <c:rich>
              <a:bodyPr rot="-5400000"/>
              <a:lstStyle/>
              <a:p>
                <a:pPr>
                  <a:defRPr b="0" sz="13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  <a:r>
                  <a:rPr b="0" sz="900" strike="noStrike" u="none">
                    <a:solidFill>
                      <a:srgbClr val="000000"/>
                    </a:solidFill>
                    <a:uFillTx/>
                    <a:latin typeface="Arial"/>
                    <a:ea typeface="DejaVu Sans"/>
                  </a:rPr>
                  <a:t>Время работы, с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General" sourceLinked="0"/>
        <c:majorTickMark val="out"/>
        <c:minorTickMark val="none"/>
        <c:tickLblPos val="nextTo"/>
        <c:spPr>
          <a:ln w="0">
            <a:solidFill>
              <a:srgbClr val="b3b3b3"/>
            </a:solidFill>
          </a:ln>
        </c:spPr>
        <c:txPr>
          <a:bodyPr/>
          <a:lstStyle/>
          <a:p>
            <a:pPr>
              <a:defRPr b="0" sz="1000" strike="noStrike" u="none">
                <a:solidFill>
                  <a:srgbClr val="000000"/>
                </a:solidFill>
                <a:uFillTx/>
                <a:latin typeface="Arial"/>
                <a:ea typeface="DejaVu Sans"/>
              </a:defRPr>
            </a:pPr>
          </a:p>
        </c:txPr>
        <c:crossAx val="9541322"/>
        <c:crossesAt val="1"/>
        <c:crossBetween val="midCat"/>
      </c:valAx>
      <c:spPr>
        <a:noFill/>
        <a:ln w="0">
          <a:solidFill>
            <a:srgbClr val="b3b3b3"/>
          </a:solidFill>
        </a:ln>
      </c:spPr>
    </c:plotArea>
    <c:legend>
      <c:legendPos val="r"/>
      <c:layout>
        <c:manualLayout>
          <c:xMode val="edge"/>
          <c:yMode val="edge"/>
          <c:x val="0.74724096613483"/>
          <c:y val="0.498170261941448"/>
          <c:w val="0.237197275479314"/>
          <c:h val="0.42328806703265"/>
        </c:manualLayout>
      </c:layout>
      <c:overlay val="0"/>
      <c:spPr>
        <a:noFill/>
        <a:ln w="0">
          <a:noFill/>
        </a:ln>
      </c:spPr>
      <c:txPr>
        <a:bodyPr/>
        <a:lstStyle/>
        <a:p>
          <a:pPr>
            <a:defRPr b="0" sz="1000" strike="noStrike" u="none">
              <a:solidFill>
                <a:srgbClr val="000000"/>
              </a:solidFill>
              <a:uFillTx/>
              <a:latin typeface="Arial"/>
              <a:ea typeface="DejaVu Sans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0870264965652601"/>
          <c:y val="0.0196345395915443"/>
          <c:w val="0.652443572129539"/>
          <c:h val="0.84793980652096"/>
        </c:manualLayout>
      </c:layout>
      <c:lineChart>
        <c:grouping val="standar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in-place алгоритм отражений Хаусхолдера</c:v>
                </c:pt>
              </c:strCache>
            </c:strRef>
          </c:tx>
          <c:spPr>
            <a:solidFill>
              <a:srgbClr val="ffd320"/>
            </a:solidFill>
            <a:ln w="28800">
              <a:solidFill>
                <a:srgbClr val="ffd320"/>
              </a:solidFill>
              <a:round/>
            </a:ln>
          </c:spPr>
          <c:marker>
            <c:symbol val="triangle"/>
            <c:size val="8"/>
            <c:spPr>
              <a:solidFill>
                <a:srgbClr val="ffd320"/>
              </a:solidFill>
            </c:spPr>
          </c:marker>
          <c:dPt>
            <c:idx val="1"/>
            <c:marker>
              <c:symbol val="triangle"/>
              <c:size val="8"/>
              <c:spPr>
                <a:solidFill>
                  <a:srgbClr val="ffd320"/>
                </a:solidFill>
              </c:spPr>
            </c:marker>
          </c:dPt>
          <c:dPt>
            <c:idx val="2"/>
            <c:marker>
              <c:symbol val="triangle"/>
              <c:size val="8"/>
              <c:spPr>
                <a:solidFill>
                  <a:srgbClr val="ffd320"/>
                </a:solidFill>
              </c:spPr>
            </c:marker>
          </c:dPt>
          <c:dPt>
            <c:idx val="3"/>
            <c:marker>
              <c:symbol val="triangle"/>
              <c:size val="8"/>
              <c:spPr>
                <a:solidFill>
                  <a:srgbClr val="ffd320"/>
                </a:solidFill>
              </c:spPr>
            </c:marker>
          </c:dPt>
          <c:dPt>
            <c:idx val="4"/>
            <c:marker>
              <c:symbol val="triangle"/>
              <c:size val="8"/>
              <c:spPr>
                <a:solidFill>
                  <a:srgbClr val="ffd320"/>
                </a:solidFill>
              </c:spPr>
            </c:marker>
          </c:dPt>
          <c:dPt>
            <c:idx val="5"/>
            <c:marker>
              <c:symbol val="triangle"/>
              <c:size val="8"/>
              <c:spPr>
                <a:solidFill>
                  <a:srgbClr val="ffd320"/>
                </a:solidFill>
              </c:spPr>
            </c:marker>
          </c:dPt>
          <c:dLbls>
            <c:numFmt formatCode="General" sourceLinked="0"/>
            <c:dLbl>
              <c:idx val="1"/>
              <c:layout>
                <c:manualLayout>
                  <c:x val="0"/>
                  <c:y val="-0.0214976710856324"/>
                </c:manualLayout>
              </c:layout>
              <c:numFmt formatCode="General" sourceLinked="0"/>
              <c:txPr>
                <a:bodyPr wrap="none"/>
                <a:lstStyle/>
                <a:p>
                  <a:pPr>
                    <a:defRPr b="0" sz="500" strike="noStrike" u="non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eparator> </c:separator>
            </c:dLbl>
            <c:dLbl>
              <c:idx val="2"/>
              <c:layout>
                <c:manualLayout>
                  <c:x val="0"/>
                  <c:y val="-0.0358294518093872"/>
                </c:manualLayout>
              </c:layout>
              <c:numFmt formatCode="General" sourceLinked="0"/>
              <c:txPr>
                <a:bodyPr wrap="none"/>
                <a:lstStyle/>
                <a:p>
                  <a:pPr>
                    <a:defRPr b="0" sz="500" strike="noStrike" u="non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eparator> </c:separator>
            </c:dLbl>
            <c:dLbl>
              <c:idx val="3"/>
              <c:layout>
                <c:manualLayout>
                  <c:x val="0"/>
                  <c:y val="-0.0214976710856324"/>
                </c:manualLayout>
              </c:layout>
              <c:numFmt formatCode="General" sourceLinked="0"/>
              <c:txPr>
                <a:bodyPr wrap="none"/>
                <a:lstStyle/>
                <a:p>
                  <a:pPr>
                    <a:defRPr b="0" sz="500" strike="noStrike" u="non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eparator> </c:separator>
            </c:dLbl>
            <c:dLbl>
              <c:idx val="4"/>
              <c:layout>
                <c:manualLayout>
                  <c:x val="0"/>
                  <c:y val="-0.0214976710856324"/>
                </c:manualLayout>
              </c:layout>
              <c:numFmt formatCode="General" sourceLinked="0"/>
              <c:txPr>
                <a:bodyPr wrap="none"/>
                <a:lstStyle/>
                <a:p>
                  <a:pPr>
                    <a:defRPr b="0" sz="500" strike="noStrike" u="non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eparator> </c:separator>
            </c:dLbl>
            <c:dLbl>
              <c:idx val="5"/>
              <c:layout>
                <c:manualLayout>
                  <c:x val="0"/>
                  <c:y val="-0.014331780723755"/>
                </c:manualLayout>
              </c:layout>
              <c:numFmt formatCode="General" sourceLinked="0"/>
              <c:txPr>
                <a:bodyPr wrap="none"/>
                <a:lstStyle/>
                <a:p>
                  <a:pPr>
                    <a:defRPr b="0" sz="500" strike="noStrike" u="non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eparator> </c:separator>
            </c:dLbl>
            <c:txPr>
              <a:bodyPr wrap="none"/>
              <a:lstStyle/>
              <a:p>
                <a:pPr>
                  <a:defRPr b="0" sz="500" strike="noStrike" u="none">
                    <a:solidFill>
                      <a:srgbClr val="000000"/>
                    </a:solidFill>
                    <a:uFillTx/>
                    <a:latin typeface="Arial"/>
                    <a:ea typeface="DejaVu Sans"/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eparator> </c:separator>
            <c:showLeaderLines val="1"/>
            <c:leaderLines>
              <c:spPr>
                <a:ln w="2880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16"/>
                <c:pt idx="0">
                  <c:v>100</c:v>
                </c:pt>
                <c:pt idx="1">
                  <c:v>200</c:v>
                </c:pt>
                <c:pt idx="2">
                  <c:v>300</c:v>
                </c:pt>
                <c:pt idx="3">
                  <c:v>400</c:v>
                </c:pt>
                <c:pt idx="4">
                  <c:v>500</c:v>
                </c:pt>
                <c:pt idx="5">
                  <c:v>600</c:v>
                </c:pt>
                <c:pt idx="6">
                  <c:v>700</c:v>
                </c:pt>
                <c:pt idx="7">
                  <c:v>800</c:v>
                </c:pt>
                <c:pt idx="8">
                  <c:v>900</c:v>
                </c:pt>
                <c:pt idx="9">
                  <c:v>1000</c:v>
                </c:pt>
                <c:pt idx="10">
                  <c:v>1500</c:v>
                </c:pt>
                <c:pt idx="11">
                  <c:v>2000</c:v>
                </c:pt>
                <c:pt idx="12">
                  <c:v>2500</c:v>
                </c:pt>
                <c:pt idx="13">
                  <c:v>3000</c:v>
                </c:pt>
                <c:pt idx="14">
                  <c:v>3500</c:v>
                </c:pt>
                <c:pt idx="15">
                  <c:v>4000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16"/>
                <c:pt idx="0">
                  <c:v>0.0038215</c:v>
                </c:pt>
                <c:pt idx="1">
                  <c:v>0.0076733</c:v>
                </c:pt>
                <c:pt idx="2">
                  <c:v>0.011263</c:v>
                </c:pt>
                <c:pt idx="3">
                  <c:v>0.0242997</c:v>
                </c:pt>
                <c:pt idx="4">
                  <c:v>0.029481</c:v>
                </c:pt>
                <c:pt idx="5">
                  <c:v>0.0369054</c:v>
                </c:pt>
                <c:pt idx="6">
                  <c:v>0.0520784</c:v>
                </c:pt>
                <c:pt idx="7">
                  <c:v>0.0778759</c:v>
                </c:pt>
                <c:pt idx="8">
                  <c:v>0.114006</c:v>
                </c:pt>
                <c:pt idx="9">
                  <c:v>0.164251</c:v>
                </c:pt>
                <c:pt idx="10">
                  <c:v>0.662782</c:v>
                </c:pt>
                <c:pt idx="11">
                  <c:v>2.47128</c:v>
                </c:pt>
                <c:pt idx="12">
                  <c:v>5.2263</c:v>
                </c:pt>
                <c:pt idx="13">
                  <c:v>9.71765</c:v>
                </c:pt>
                <c:pt idx="14">
                  <c:v>15.6171</c:v>
                </c:pt>
                <c:pt idx="15">
                  <c:v>23.7826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Векторизованные вычисления вращений Гивенса</c:v>
                </c:pt>
              </c:strCache>
            </c:strRef>
          </c:tx>
          <c:spPr>
            <a:solidFill>
              <a:srgbClr val="579d1c"/>
            </a:solidFill>
            <a:ln w="28800">
              <a:solidFill>
                <a:srgbClr val="579d1c"/>
              </a:solidFill>
              <a:round/>
            </a:ln>
          </c:spPr>
          <c:marker>
            <c:symbol val="triangle"/>
            <c:size val="8"/>
            <c:spPr>
              <a:solidFill>
                <a:srgbClr val="579d1c"/>
              </a:solidFill>
            </c:spPr>
          </c:marker>
          <c:dPt>
            <c:idx val="1"/>
            <c:marker>
              <c:symbol val="triangle"/>
              <c:size val="8"/>
              <c:spPr>
                <a:solidFill>
                  <a:srgbClr val="579d1c"/>
                </a:solidFill>
              </c:spPr>
            </c:marker>
          </c:dPt>
          <c:dPt>
            <c:idx val="2"/>
            <c:marker>
              <c:symbol val="triangle"/>
              <c:size val="8"/>
              <c:spPr>
                <a:solidFill>
                  <a:srgbClr val="579d1c"/>
                </a:solidFill>
              </c:spPr>
            </c:marker>
          </c:dPt>
          <c:dPt>
            <c:idx val="3"/>
            <c:marker>
              <c:symbol val="triangle"/>
              <c:size val="8"/>
              <c:spPr>
                <a:solidFill>
                  <a:srgbClr val="579d1c"/>
                </a:solidFill>
              </c:spPr>
            </c:marker>
          </c:dPt>
          <c:dPt>
            <c:idx val="4"/>
            <c:marker>
              <c:symbol val="triangle"/>
              <c:size val="8"/>
              <c:spPr>
                <a:solidFill>
                  <a:srgbClr val="579d1c"/>
                </a:solidFill>
              </c:spPr>
            </c:marker>
          </c:dPt>
          <c:dLbls>
            <c:numFmt formatCode="General" sourceLinked="0"/>
            <c:dLbl>
              <c:idx val="1"/>
              <c:layout>
                <c:manualLayout>
                  <c:x val="0"/>
                  <c:y val="0.0286635614475098"/>
                </c:manualLayout>
              </c:layout>
              <c:numFmt formatCode="General" sourceLinked="0"/>
              <c:txPr>
                <a:bodyPr wrap="none"/>
                <a:lstStyle/>
                <a:p>
                  <a:pPr>
                    <a:defRPr b="0" sz="500" strike="noStrike" u="non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eparator> </c:separator>
            </c:dLbl>
            <c:dLbl>
              <c:idx val="2"/>
              <c:layout>
                <c:manualLayout>
                  <c:x val="0"/>
                  <c:y val="0.0358294518093874"/>
                </c:manualLayout>
              </c:layout>
              <c:numFmt formatCode="General" sourceLinked="0"/>
              <c:txPr>
                <a:bodyPr wrap="none"/>
                <a:lstStyle/>
                <a:p>
                  <a:pPr>
                    <a:defRPr b="0" sz="500" strike="noStrike" u="non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eparator> </c:separator>
            </c:dLbl>
            <c:dLbl>
              <c:idx val="3"/>
              <c:layout>
                <c:manualLayout>
                  <c:x val="0"/>
                  <c:y val="0.0286635614475099"/>
                </c:manualLayout>
              </c:layout>
              <c:numFmt formatCode="General" sourceLinked="0"/>
              <c:txPr>
                <a:bodyPr wrap="none"/>
                <a:lstStyle/>
                <a:p>
                  <a:pPr>
                    <a:defRPr b="0" sz="500" strike="noStrike" u="non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eparator> </c:separator>
            </c:dLbl>
            <c:dLbl>
              <c:idx val="4"/>
              <c:txPr>
                <a:bodyPr wrap="none"/>
                <a:lstStyle/>
                <a:p>
                  <a:pPr>
                    <a:defRPr b="0" sz="500" strike="noStrike" u="non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t"/>
              <c:showLegendKey val="0"/>
              <c:showVal val="0"/>
              <c:showCatName val="0"/>
              <c:showSerName val="0"/>
              <c:showPercent val="0"/>
              <c:separator> </c:separator>
            </c:dLbl>
            <c:txPr>
              <a:bodyPr wrap="none"/>
              <a:lstStyle/>
              <a:p>
                <a:pPr>
                  <a:defRPr b="0" sz="500" strike="noStrike" u="none">
                    <a:solidFill>
                      <a:srgbClr val="000000"/>
                    </a:solidFill>
                    <a:uFillTx/>
                    <a:latin typeface="Arial"/>
                    <a:ea typeface="DejaVu San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eparator> </c:separator>
            <c:showLeaderLines val="1"/>
            <c:leaderLines>
              <c:spPr>
                <a:ln w="2880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16"/>
                <c:pt idx="0">
                  <c:v>100</c:v>
                </c:pt>
                <c:pt idx="1">
                  <c:v>200</c:v>
                </c:pt>
                <c:pt idx="2">
                  <c:v>300</c:v>
                </c:pt>
                <c:pt idx="3">
                  <c:v>400</c:v>
                </c:pt>
                <c:pt idx="4">
                  <c:v>500</c:v>
                </c:pt>
                <c:pt idx="5">
                  <c:v>600</c:v>
                </c:pt>
                <c:pt idx="6">
                  <c:v>700</c:v>
                </c:pt>
                <c:pt idx="7">
                  <c:v>800</c:v>
                </c:pt>
                <c:pt idx="8">
                  <c:v>900</c:v>
                </c:pt>
                <c:pt idx="9">
                  <c:v>1000</c:v>
                </c:pt>
                <c:pt idx="10">
                  <c:v>1500</c:v>
                </c:pt>
                <c:pt idx="11">
                  <c:v>2000</c:v>
                </c:pt>
                <c:pt idx="12">
                  <c:v>2500</c:v>
                </c:pt>
                <c:pt idx="13">
                  <c:v>3000</c:v>
                </c:pt>
                <c:pt idx="14">
                  <c:v>3500</c:v>
                </c:pt>
                <c:pt idx="15">
                  <c:v>4000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16"/>
                <c:pt idx="0">
                  <c:v>0.0003797</c:v>
                </c:pt>
                <c:pt idx="1">
                  <c:v>0.0024847</c:v>
                </c:pt>
                <c:pt idx="2">
                  <c:v>0.007201</c:v>
                </c:pt>
                <c:pt idx="3">
                  <c:v>0.0146559</c:v>
                </c:pt>
                <c:pt idx="4">
                  <c:v>0.0288285</c:v>
                </c:pt>
                <c:pt idx="5">
                  <c:v>0.0649643</c:v>
                </c:pt>
                <c:pt idx="6">
                  <c:v>0.0896495</c:v>
                </c:pt>
                <c:pt idx="7">
                  <c:v>0.164743</c:v>
                </c:pt>
                <c:pt idx="8">
                  <c:v>0.291743</c:v>
                </c:pt>
                <c:pt idx="9">
                  <c:v>0.412436</c:v>
                </c:pt>
                <c:pt idx="10">
                  <c:v>1.6963</c:v>
                </c:pt>
                <c:pt idx="11">
                  <c:v>3.66677</c:v>
                </c:pt>
                <c:pt idx="12">
                  <c:v>7.32413</c:v>
                </c:pt>
                <c:pt idx="13">
                  <c:v>12.6413</c:v>
                </c:pt>
                <c:pt idx="14">
                  <c:v>20.7444</c:v>
                </c:pt>
                <c:pt idx="15">
                  <c:v>31.001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Реализация scilab</c:v>
                </c:pt>
              </c:strCache>
            </c:strRef>
          </c:tx>
          <c:spPr>
            <a:solidFill>
              <a:srgbClr val="ff0000"/>
            </a:solidFill>
            <a:ln w="28800">
              <a:solidFill>
                <a:srgbClr val="ff0000"/>
              </a:solidFill>
              <a:round/>
            </a:ln>
          </c:spPr>
          <c:marker>
            <c:symbol val="triangle"/>
            <c:size val="8"/>
            <c:spPr>
              <a:solidFill>
                <a:srgbClr val="ff0000"/>
              </a:solidFill>
            </c:spPr>
          </c:marker>
          <c:dPt>
            <c:idx val="1"/>
            <c:marker>
              <c:symbol val="triangle"/>
              <c:size val="8"/>
              <c:spPr>
                <a:solidFill>
                  <a:srgbClr val="ff0000"/>
                </a:solidFill>
              </c:spPr>
            </c:marker>
          </c:dPt>
          <c:dPt>
            <c:idx val="2"/>
            <c:marker>
              <c:symbol val="triangle"/>
              <c:size val="8"/>
              <c:spPr>
                <a:solidFill>
                  <a:srgbClr val="ff0000"/>
                </a:solidFill>
              </c:spPr>
            </c:marker>
          </c:dPt>
          <c:dPt>
            <c:idx val="5"/>
            <c:marker>
              <c:symbol val="triangle"/>
              <c:size val="8"/>
              <c:spPr>
                <a:solidFill>
                  <a:srgbClr val="ff0000"/>
                </a:solidFill>
              </c:spPr>
            </c:marker>
          </c:dPt>
          <c:dLbls>
            <c:numFmt formatCode="General" sourceLinked="0"/>
            <c:dLbl>
              <c:idx val="1"/>
              <c:layout>
                <c:manualLayout>
                  <c:x val="0"/>
                  <c:y val="-0.0214976710856324"/>
                </c:manualLayout>
              </c:layout>
              <c:numFmt formatCode="General" sourceLinked="0"/>
              <c:txPr>
                <a:bodyPr wrap="none"/>
                <a:lstStyle/>
                <a:p>
                  <a:pPr>
                    <a:defRPr b="0" sz="500" strike="noStrike" u="non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eparator> </c:separator>
            </c:dLbl>
            <c:dLbl>
              <c:idx val="2"/>
              <c:layout>
                <c:manualLayout>
                  <c:x val="0"/>
                  <c:y val="-0.0214976710856324"/>
                </c:manualLayout>
              </c:layout>
              <c:numFmt formatCode="General" sourceLinked="0"/>
              <c:txPr>
                <a:bodyPr wrap="none"/>
                <a:lstStyle/>
                <a:p>
                  <a:pPr>
                    <a:defRPr b="0" sz="500" strike="noStrike" u="non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eparator> </c:separator>
            </c:dLbl>
            <c:dLbl>
              <c:idx val="5"/>
              <c:layout>
                <c:manualLayout>
                  <c:x val="0"/>
                  <c:y val="-0.0214976710856324"/>
                </c:manualLayout>
              </c:layout>
              <c:numFmt formatCode="General" sourceLinked="0"/>
              <c:txPr>
                <a:bodyPr wrap="none"/>
                <a:lstStyle/>
                <a:p>
                  <a:pPr>
                    <a:defRPr b="0" sz="500" strike="noStrike" u="non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eparator> </c:separator>
            </c:dLbl>
            <c:txPr>
              <a:bodyPr wrap="none"/>
              <a:lstStyle/>
              <a:p>
                <a:pPr>
                  <a:defRPr b="0" sz="5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eparator> </c:separator>
            <c:showLeaderLines val="1"/>
            <c:leaderLines>
              <c:spPr>
                <a:ln w="2880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16"/>
                <c:pt idx="0">
                  <c:v>100</c:v>
                </c:pt>
                <c:pt idx="1">
                  <c:v>200</c:v>
                </c:pt>
                <c:pt idx="2">
                  <c:v>300</c:v>
                </c:pt>
                <c:pt idx="3">
                  <c:v>400</c:v>
                </c:pt>
                <c:pt idx="4">
                  <c:v>500</c:v>
                </c:pt>
                <c:pt idx="5">
                  <c:v>600</c:v>
                </c:pt>
                <c:pt idx="6">
                  <c:v>700</c:v>
                </c:pt>
                <c:pt idx="7">
                  <c:v>800</c:v>
                </c:pt>
                <c:pt idx="8">
                  <c:v>900</c:v>
                </c:pt>
                <c:pt idx="9">
                  <c:v>1000</c:v>
                </c:pt>
                <c:pt idx="10">
                  <c:v>1500</c:v>
                </c:pt>
                <c:pt idx="11">
                  <c:v>2000</c:v>
                </c:pt>
                <c:pt idx="12">
                  <c:v>2500</c:v>
                </c:pt>
                <c:pt idx="13">
                  <c:v>3000</c:v>
                </c:pt>
                <c:pt idx="14">
                  <c:v>3500</c:v>
                </c:pt>
                <c:pt idx="15">
                  <c:v>4000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16"/>
                <c:pt idx="0">
                  <c:v>0.0335941</c:v>
                </c:pt>
                <c:pt idx="1">
                  <c:v>0.0039998</c:v>
                </c:pt>
                <c:pt idx="2">
                  <c:v>0.0084994</c:v>
                </c:pt>
                <c:pt idx="3">
                  <c:v>0.0054738</c:v>
                </c:pt>
                <c:pt idx="4">
                  <c:v>0.0088187</c:v>
                </c:pt>
                <c:pt idx="5">
                  <c:v>0.052328</c:v>
                </c:pt>
                <c:pt idx="6">
                  <c:v>0.0211349</c:v>
                </c:pt>
                <c:pt idx="7">
                  <c:v>0.0211328</c:v>
                </c:pt>
                <c:pt idx="8">
                  <c:v>0.0266102</c:v>
                </c:pt>
                <c:pt idx="9">
                  <c:v>0.0412016</c:v>
                </c:pt>
                <c:pt idx="10">
                  <c:v>0.0998157</c:v>
                </c:pt>
                <c:pt idx="11">
                  <c:v>0.1859652</c:v>
                </c:pt>
                <c:pt idx="12">
                  <c:v>0.3497936</c:v>
                </c:pt>
                <c:pt idx="13">
                  <c:v>0.6075179</c:v>
                </c:pt>
                <c:pt idx="14">
                  <c:v>0.9034108</c:v>
                </c:pt>
                <c:pt idx="15">
                  <c:v>1.4172756</c:v>
                </c:pt>
              </c:numCache>
            </c:numRef>
          </c:val>
          <c:smooth val="0"/>
        </c:ser>
        <c:hiLowLines>
          <c:spPr>
            <a:ln w="0">
              <a:noFill/>
            </a:ln>
          </c:spPr>
        </c:hiLowLines>
        <c:marker val="1"/>
        <c:axId val="37386067"/>
        <c:axId val="67659599"/>
      </c:lineChart>
      <c:catAx>
        <c:axId val="37386067"/>
        <c:scaling>
          <c:orientation val="minMax"/>
        </c:scaling>
        <c:delete val="0"/>
        <c:axPos val="b"/>
        <c:title>
          <c:tx>
            <c:rich>
              <a:bodyPr rot="0"/>
              <a:lstStyle/>
              <a:p>
                <a:pPr>
                  <a:defRPr b="0" sz="13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  <a:r>
                  <a:rPr b="0" sz="900" strike="noStrike" u="none">
                    <a:solidFill>
                      <a:srgbClr val="000000"/>
                    </a:solidFill>
                    <a:uFillTx/>
                    <a:latin typeface="Arial"/>
                    <a:ea typeface="DejaVu Sans"/>
                  </a:rPr>
                  <a:t>Размер данных, NxN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[$-419]dd/mm/yyyy" sourceLinked="0"/>
        <c:majorTickMark val="out"/>
        <c:minorTickMark val="none"/>
        <c:tickLblPos val="nextTo"/>
        <c:spPr>
          <a:ln w="0">
            <a:solidFill>
              <a:srgbClr val="b3b3b3"/>
            </a:solidFill>
          </a:ln>
        </c:spPr>
        <c:txPr>
          <a:bodyPr/>
          <a:lstStyle/>
          <a:p>
            <a:pPr>
              <a:defRPr b="0" sz="1000" strike="noStrike" u="none">
                <a:solidFill>
                  <a:srgbClr val="000000"/>
                </a:solidFill>
                <a:uFillTx/>
                <a:latin typeface="Arial"/>
                <a:ea typeface="DejaVu Sans"/>
              </a:defRPr>
            </a:pPr>
          </a:p>
        </c:txPr>
        <c:crossAx val="67659599"/>
        <c:crosses val="autoZero"/>
        <c:auto val="1"/>
        <c:lblAlgn val="ctr"/>
        <c:lblOffset val="100"/>
        <c:noMultiLvlLbl val="0"/>
      </c:catAx>
      <c:valAx>
        <c:axId val="67659599"/>
        <c:scaling>
          <c:logBase val="10"/>
          <c:orientation val="minMax"/>
        </c:scaling>
        <c:delete val="0"/>
        <c:axPos val="l"/>
        <c:majorGridlines>
          <c:spPr>
            <a:ln w="0">
              <a:solidFill>
                <a:srgbClr val="b3b3b3"/>
              </a:solidFill>
            </a:ln>
          </c:spPr>
        </c:majorGridlines>
        <c:title>
          <c:tx>
            <c:rich>
              <a:bodyPr rot="-5400000"/>
              <a:lstStyle/>
              <a:p>
                <a:pPr>
                  <a:defRPr b="0" sz="13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  <a:r>
                  <a:rPr b="0" sz="900" strike="noStrike" u="none">
                    <a:solidFill>
                      <a:srgbClr val="000000"/>
                    </a:solidFill>
                    <a:uFillTx/>
                    <a:latin typeface="Arial"/>
                    <a:ea typeface="DejaVu Sans"/>
                  </a:rPr>
                  <a:t>Время работы, с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General" sourceLinked="0"/>
        <c:majorTickMark val="out"/>
        <c:minorTickMark val="none"/>
        <c:tickLblPos val="nextTo"/>
        <c:spPr>
          <a:ln w="0">
            <a:solidFill>
              <a:srgbClr val="b3b3b3"/>
            </a:solidFill>
          </a:ln>
        </c:spPr>
        <c:txPr>
          <a:bodyPr/>
          <a:lstStyle/>
          <a:p>
            <a:pPr>
              <a:defRPr b="0" sz="1000" strike="noStrike" u="none">
                <a:solidFill>
                  <a:srgbClr val="000000"/>
                </a:solidFill>
                <a:uFillTx/>
                <a:latin typeface="Arial"/>
                <a:ea typeface="DejaVu Sans"/>
              </a:defRPr>
            </a:pPr>
          </a:p>
        </c:txPr>
        <c:crossAx val="37386067"/>
        <c:crossesAt val="1"/>
        <c:crossBetween val="midCat"/>
      </c:valAx>
      <c:spPr>
        <a:noFill/>
        <a:ln w="0">
          <a:solidFill>
            <a:srgbClr val="b3b3b3"/>
          </a:solidFill>
        </a:ln>
      </c:spPr>
    </c:plotArea>
    <c:legend>
      <c:legendPos val="r"/>
      <c:layout>
        <c:manualLayout>
          <c:xMode val="edge"/>
          <c:yMode val="edge"/>
          <c:x val="0.747189113545336"/>
          <c:y val="0.498106227428873"/>
          <c:w val="0.237187530161181"/>
          <c:h val="0.423273431994362"/>
        </c:manualLayout>
      </c:layout>
      <c:overlay val="0"/>
      <c:spPr>
        <a:noFill/>
        <a:ln w="0">
          <a:noFill/>
        </a:ln>
      </c:spPr>
      <c:txPr>
        <a:bodyPr/>
        <a:lstStyle/>
        <a:p>
          <a:pPr>
            <a:defRPr b="0" sz="1000" strike="noStrike" u="none">
              <a:solidFill>
                <a:srgbClr val="000000"/>
              </a:solidFill>
              <a:uFillTx/>
              <a:latin typeface="Arial"/>
              <a:ea typeface="DejaVu Sans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087238120415042"/>
          <c:y val="0.0200125078173859"/>
          <c:w val="0.660233956777477"/>
          <c:h val="0.88297373358349"/>
        </c:manualLayout>
      </c:layout>
      <c:lineChart>
        <c:grouping val="standar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Реализация с вращениями Гивенса</c:v>
                </c:pt>
              </c:strCache>
            </c:strRef>
          </c:tx>
          <c:spPr>
            <a:solidFill>
              <a:srgbClr val="ff420e"/>
            </a:solidFill>
            <a:ln w="28800">
              <a:solidFill>
                <a:srgbClr val="ff420e"/>
              </a:solidFill>
              <a:round/>
            </a:ln>
          </c:spPr>
          <c:marker>
            <c:symbol val="diamond"/>
            <c:size val="8"/>
            <c:spPr>
              <a:solidFill>
                <a:srgbClr val="ff420e"/>
              </a:solidFill>
            </c:spPr>
          </c:marker>
          <c:dLbls>
            <c:numFmt formatCode="General" sourceLinked="0"/>
            <c:txPr>
              <a:bodyPr wrap="none"/>
              <a:lstStyle/>
              <a:p>
                <a:pPr>
                  <a:defRPr b="0" sz="500" strike="noStrike" u="none">
                    <a:solidFill>
                      <a:srgbClr val="000000"/>
                    </a:solidFill>
                    <a:uFillTx/>
                    <a:latin typeface="Arial"/>
                    <a:ea typeface="DejaVu San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eparator> </c:separator>
            <c:showLeaderLines val="1"/>
            <c:leaderLines>
              <c:spPr>
                <a:ln w="2880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12"/>
                <c:pt idx="0">
                  <c:v>100</c:v>
                </c:pt>
                <c:pt idx="1">
                  <c:v>200</c:v>
                </c:pt>
                <c:pt idx="2">
                  <c:v>300</c:v>
                </c:pt>
                <c:pt idx="3">
                  <c:v>400</c:v>
                </c:pt>
                <c:pt idx="4">
                  <c:v>500</c:v>
                </c:pt>
                <c:pt idx="5">
                  <c:v>1000</c:v>
                </c:pt>
                <c:pt idx="6">
                  <c:v>1500</c:v>
                </c:pt>
                <c:pt idx="7">
                  <c:v>2000</c:v>
                </c:pt>
                <c:pt idx="8">
                  <c:v>2500</c:v>
                </c:pt>
                <c:pt idx="9">
                  <c:v>3000</c:v>
                </c:pt>
                <c:pt idx="10">
                  <c:v>3500</c:v>
                </c:pt>
                <c:pt idx="11">
                  <c:v>4000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12"/>
                <c:pt idx="0">
                  <c:v>0.0001294</c:v>
                </c:pt>
                <c:pt idx="1">
                  <c:v>0.0004733</c:v>
                </c:pt>
                <c:pt idx="2">
                  <c:v>0.0012873</c:v>
                </c:pt>
                <c:pt idx="3">
                  <c:v>0.0014392</c:v>
                </c:pt>
                <c:pt idx="4">
                  <c:v>0.0022636</c:v>
                </c:pt>
                <c:pt idx="5">
                  <c:v>0.0099787</c:v>
                </c:pt>
                <c:pt idx="6">
                  <c:v>0.0244809</c:v>
                </c:pt>
                <c:pt idx="7">
                  <c:v>0.049296</c:v>
                </c:pt>
                <c:pt idx="8">
                  <c:v>0.070357</c:v>
                </c:pt>
                <c:pt idx="9">
                  <c:v>0.111763</c:v>
                </c:pt>
                <c:pt idx="10">
                  <c:v>0.165066</c:v>
                </c:pt>
                <c:pt idx="11">
                  <c:v>0.226181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Реализация с отражениями Хаусхолдера</c:v>
                </c:pt>
              </c:strCache>
            </c:strRef>
          </c:tx>
          <c:spPr>
            <a:solidFill>
              <a:srgbClr val="ffd320"/>
            </a:solidFill>
            <a:ln w="28800">
              <a:solidFill>
                <a:srgbClr val="ffd320"/>
              </a:solidFill>
              <a:round/>
            </a:ln>
          </c:spPr>
          <c:marker>
            <c:symbol val="triangle"/>
            <c:size val="8"/>
            <c:spPr>
              <a:solidFill>
                <a:srgbClr val="ffd320"/>
              </a:solidFill>
            </c:spPr>
          </c:marker>
          <c:dLbls>
            <c:numFmt formatCode="General" sourceLinked="0"/>
            <c:txPr>
              <a:bodyPr wrap="none"/>
              <a:lstStyle/>
              <a:p>
                <a:pPr>
                  <a:defRPr b="0" sz="500" strike="noStrike" u="none">
                    <a:solidFill>
                      <a:srgbClr val="000000"/>
                    </a:solidFill>
                    <a:uFillTx/>
                    <a:latin typeface="Arial"/>
                    <a:ea typeface="DejaVu San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eparator> </c:separator>
            <c:showLeaderLines val="1"/>
            <c:leaderLines>
              <c:spPr>
                <a:ln w="2880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12"/>
                <c:pt idx="0">
                  <c:v>100</c:v>
                </c:pt>
                <c:pt idx="1">
                  <c:v>200</c:v>
                </c:pt>
                <c:pt idx="2">
                  <c:v>300</c:v>
                </c:pt>
                <c:pt idx="3">
                  <c:v>400</c:v>
                </c:pt>
                <c:pt idx="4">
                  <c:v>500</c:v>
                </c:pt>
                <c:pt idx="5">
                  <c:v>1000</c:v>
                </c:pt>
                <c:pt idx="6">
                  <c:v>1500</c:v>
                </c:pt>
                <c:pt idx="7">
                  <c:v>2000</c:v>
                </c:pt>
                <c:pt idx="8">
                  <c:v>2500</c:v>
                </c:pt>
                <c:pt idx="9">
                  <c:v>3000</c:v>
                </c:pt>
                <c:pt idx="10">
                  <c:v>3500</c:v>
                </c:pt>
                <c:pt idx="11">
                  <c:v>4000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12"/>
                <c:pt idx="0">
                  <c:v>0.0009429</c:v>
                </c:pt>
                <c:pt idx="1">
                  <c:v>0.0076185</c:v>
                </c:pt>
                <c:pt idx="2">
                  <c:v>0.0222422</c:v>
                </c:pt>
                <c:pt idx="3">
                  <c:v>0.0370319</c:v>
                </c:pt>
                <c:pt idx="4">
                  <c:v>0.0707061</c:v>
                </c:pt>
                <c:pt idx="5">
                  <c:v>0.193794</c:v>
                </c:pt>
                <c:pt idx="6">
                  <c:v>1.14657</c:v>
                </c:pt>
                <c:pt idx="7">
                  <c:v>6.44008</c:v>
                </c:pt>
                <c:pt idx="8">
                  <c:v>16.1027</c:v>
                </c:pt>
                <c:pt idx="9">
                  <c:v>28.8915</c:v>
                </c:pt>
                <c:pt idx="10">
                  <c:v>42.731</c:v>
                </c:pt>
                <c:pt idx="11">
                  <c:v>67.3722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Разложение из Scilab</c:v>
                </c:pt>
              </c:strCache>
            </c:strRef>
          </c:tx>
          <c:spPr>
            <a:solidFill>
              <a:srgbClr val="579d1c"/>
            </a:solidFill>
            <a:ln w="28800">
              <a:solidFill>
                <a:srgbClr val="579d1c"/>
              </a:solidFill>
              <a:round/>
            </a:ln>
          </c:spPr>
          <c:marker>
            <c:symbol val="triangle"/>
            <c:size val="8"/>
            <c:spPr>
              <a:solidFill>
                <a:srgbClr val="579d1c"/>
              </a:solidFill>
            </c:spPr>
          </c:marker>
          <c:dLbls>
            <c:numFmt formatCode="General" sourceLinked="0"/>
            <c:txPr>
              <a:bodyPr wrap="none"/>
              <a:lstStyle/>
              <a:p>
                <a:pPr>
                  <a:defRPr b="0" sz="500" strike="noStrike" u="none">
                    <a:solidFill>
                      <a:srgbClr val="000000"/>
                    </a:solidFill>
                    <a:uFillTx/>
                    <a:latin typeface="Arial"/>
                    <a:ea typeface="DejaVu San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eparator> </c:separator>
            <c:showLeaderLines val="1"/>
            <c:leaderLines>
              <c:spPr>
                <a:ln w="2880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12"/>
                <c:pt idx="0">
                  <c:v>100</c:v>
                </c:pt>
                <c:pt idx="1">
                  <c:v>200</c:v>
                </c:pt>
                <c:pt idx="2">
                  <c:v>300</c:v>
                </c:pt>
                <c:pt idx="3">
                  <c:v>400</c:v>
                </c:pt>
                <c:pt idx="4">
                  <c:v>500</c:v>
                </c:pt>
                <c:pt idx="5">
                  <c:v>1000</c:v>
                </c:pt>
                <c:pt idx="6">
                  <c:v>1500</c:v>
                </c:pt>
                <c:pt idx="7">
                  <c:v>2000</c:v>
                </c:pt>
                <c:pt idx="8">
                  <c:v>2500</c:v>
                </c:pt>
                <c:pt idx="9">
                  <c:v>3000</c:v>
                </c:pt>
                <c:pt idx="10">
                  <c:v>3500</c:v>
                </c:pt>
                <c:pt idx="11">
                  <c:v>4000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12"/>
                <c:pt idx="0">
                  <c:v>0.030026</c:v>
                </c:pt>
                <c:pt idx="1">
                  <c:v>0.003412</c:v>
                </c:pt>
                <c:pt idx="2">
                  <c:v>0.0045437</c:v>
                </c:pt>
                <c:pt idx="3">
                  <c:v>0.0069478</c:v>
                </c:pt>
                <c:pt idx="4">
                  <c:v>0.0069478</c:v>
                </c:pt>
                <c:pt idx="5">
                  <c:v>0.0422846</c:v>
                </c:pt>
                <c:pt idx="6">
                  <c:v>0.07312</c:v>
                </c:pt>
                <c:pt idx="7">
                  <c:v>0.1638567</c:v>
                </c:pt>
                <c:pt idx="8">
                  <c:v>0.3190695</c:v>
                </c:pt>
                <c:pt idx="9">
                  <c:v>0.533518</c:v>
                </c:pt>
                <c:pt idx="10">
                  <c:v>0.7996886</c:v>
                </c:pt>
                <c:pt idx="11">
                  <c:v>1.7190395</c:v>
                </c:pt>
              </c:numCache>
            </c:numRef>
          </c:val>
          <c:smooth val="0"/>
        </c:ser>
        <c:hiLowLines>
          <c:spPr>
            <a:ln w="0">
              <a:noFill/>
            </a:ln>
          </c:spPr>
        </c:hiLowLines>
        <c:marker val="1"/>
        <c:axId val="72471393"/>
        <c:axId val="61552627"/>
      </c:lineChart>
      <c:catAx>
        <c:axId val="72471393"/>
        <c:scaling>
          <c:orientation val="minMax"/>
        </c:scaling>
        <c:delete val="0"/>
        <c:axPos val="b"/>
        <c:title>
          <c:tx>
            <c:rich>
              <a:bodyPr rot="0"/>
              <a:lstStyle/>
              <a:p>
                <a:pPr>
                  <a:defRPr b="0" sz="13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  <a:r>
                  <a:rPr b="0" sz="900" strike="noStrike" u="none">
                    <a:solidFill>
                      <a:srgbClr val="000000"/>
                    </a:solidFill>
                    <a:uFillTx/>
                    <a:latin typeface="Arial"/>
                    <a:ea typeface="DejaVu Sans"/>
                  </a:rPr>
                  <a:t>Размер данных, NxN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[$-419]dd/mm/yyyy" sourceLinked="0"/>
        <c:majorTickMark val="out"/>
        <c:minorTickMark val="none"/>
        <c:tickLblPos val="nextTo"/>
        <c:spPr>
          <a:ln w="0">
            <a:solidFill>
              <a:srgbClr val="b3b3b3"/>
            </a:solidFill>
          </a:ln>
        </c:spPr>
        <c:txPr>
          <a:bodyPr/>
          <a:lstStyle/>
          <a:p>
            <a:pPr>
              <a:defRPr b="0" sz="1000" strike="noStrike" u="none">
                <a:solidFill>
                  <a:srgbClr val="000000"/>
                </a:solidFill>
                <a:uFillTx/>
                <a:latin typeface="Arial"/>
                <a:ea typeface="DejaVu Sans"/>
              </a:defRPr>
            </a:pPr>
          </a:p>
        </c:txPr>
        <c:crossAx val="61552627"/>
        <c:crosses val="autoZero"/>
        <c:auto val="1"/>
        <c:lblAlgn val="ctr"/>
        <c:lblOffset val="100"/>
        <c:noMultiLvlLbl val="0"/>
      </c:catAx>
      <c:valAx>
        <c:axId val="61552627"/>
        <c:scaling>
          <c:logBase val="10"/>
          <c:orientation val="minMax"/>
        </c:scaling>
        <c:delete val="0"/>
        <c:axPos val="l"/>
        <c:majorGridlines>
          <c:spPr>
            <a:ln w="0">
              <a:solidFill>
                <a:srgbClr val="b3b3b3"/>
              </a:solidFill>
            </a:ln>
          </c:spPr>
        </c:majorGridlines>
        <c:title>
          <c:tx>
            <c:rich>
              <a:bodyPr rot="-5400000"/>
              <a:lstStyle/>
              <a:p>
                <a:pPr>
                  <a:defRPr b="0" sz="13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  <a:r>
                  <a:rPr b="0" sz="900" strike="noStrike" u="none">
                    <a:solidFill>
                      <a:srgbClr val="000000"/>
                    </a:solidFill>
                    <a:uFillTx/>
                    <a:latin typeface="Arial"/>
                    <a:ea typeface="DejaVu Sans"/>
                  </a:rPr>
                  <a:t>Время работы, с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General" sourceLinked="0"/>
        <c:majorTickMark val="out"/>
        <c:minorTickMark val="none"/>
        <c:tickLblPos val="nextTo"/>
        <c:spPr>
          <a:ln w="0">
            <a:solidFill>
              <a:srgbClr val="b3b3b3"/>
            </a:solidFill>
          </a:ln>
        </c:spPr>
        <c:txPr>
          <a:bodyPr/>
          <a:lstStyle/>
          <a:p>
            <a:pPr>
              <a:defRPr b="0" sz="1000" strike="noStrike" u="none">
                <a:solidFill>
                  <a:srgbClr val="000000"/>
                </a:solidFill>
                <a:uFillTx/>
                <a:latin typeface="Arial"/>
                <a:ea typeface="DejaVu Sans"/>
              </a:defRPr>
            </a:pPr>
          </a:p>
        </c:txPr>
        <c:crossAx val="72471393"/>
        <c:crossesAt val="1"/>
        <c:crossBetween val="midCat"/>
      </c:valAx>
      <c:spPr>
        <a:noFill/>
        <a:ln w="0">
          <a:solidFill>
            <a:srgbClr val="b3b3b3"/>
          </a:solidFill>
        </a:ln>
      </c:spPr>
    </c:plotArea>
    <c:legend>
      <c:legendPos val="r"/>
      <c:layout>
        <c:manualLayout>
          <c:xMode val="edge"/>
          <c:yMode val="edge"/>
          <c:x val="0.772961543544337"/>
          <c:y val="0.3705353653771"/>
          <c:w val="0.214682172591516"/>
          <c:h val="0.338882375928097"/>
        </c:manualLayout>
      </c:layout>
      <c:overlay val="0"/>
      <c:spPr>
        <a:noFill/>
        <a:ln w="0">
          <a:noFill/>
        </a:ln>
      </c:spPr>
      <c:txPr>
        <a:bodyPr/>
        <a:lstStyle/>
        <a:p>
          <a:pPr>
            <a:defRPr b="0" sz="1000" strike="noStrike" u="none">
              <a:solidFill>
                <a:srgbClr val="000000"/>
              </a:solidFill>
              <a:uFillTx/>
              <a:latin typeface="Arial"/>
              <a:ea typeface="DejaVu Sans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>
        <c:manualLayout>
          <c:layoutTarget val="inner"/>
          <c:xMode val="edge"/>
          <c:yMode val="edge"/>
          <c:x val="0.0872131582437989"/>
          <c:y val="0.0199478287555624"/>
          <c:w val="0.62886324446213"/>
          <c:h val="0.902102194261163"/>
        </c:manualLayout>
      </c:layout>
      <c:lineChart>
        <c:grouping val="standar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Реализация с вращениями Гивенса</c:v>
                </c:pt>
              </c:strCache>
            </c:strRef>
          </c:tx>
          <c:spPr>
            <a:solidFill>
              <a:srgbClr val="ff420e"/>
            </a:solidFill>
            <a:ln w="28800">
              <a:solidFill>
                <a:srgbClr val="ff420e"/>
              </a:solidFill>
              <a:round/>
            </a:ln>
          </c:spPr>
          <c:marker>
            <c:symbol val="diamond"/>
            <c:size val="8"/>
            <c:spPr>
              <a:solidFill>
                <a:srgbClr val="ff420e"/>
              </a:solidFill>
            </c:spPr>
          </c:marker>
          <c:dLbls>
            <c:numFmt formatCode="General" sourceLinked="0"/>
            <c:txPr>
              <a:bodyPr wrap="none"/>
              <a:lstStyle/>
              <a:p>
                <a:pPr>
                  <a:defRPr b="0" sz="500" strike="noStrike" u="none">
                    <a:solidFill>
                      <a:srgbClr val="000000"/>
                    </a:solidFill>
                    <a:uFillTx/>
                    <a:latin typeface="Arial"/>
                    <a:ea typeface="DejaVu Sa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eparator> </c:separator>
            <c:showLeaderLines val="1"/>
            <c:leaderLines>
              <c:spPr>
                <a:ln w="2880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12"/>
                <c:pt idx="0">
                  <c:v>100</c:v>
                </c:pt>
                <c:pt idx="1">
                  <c:v>200</c:v>
                </c:pt>
                <c:pt idx="2">
                  <c:v>300</c:v>
                </c:pt>
                <c:pt idx="3">
                  <c:v>400</c:v>
                </c:pt>
                <c:pt idx="4">
                  <c:v>500</c:v>
                </c:pt>
                <c:pt idx="5">
                  <c:v>1000</c:v>
                </c:pt>
                <c:pt idx="6">
                  <c:v>1500</c:v>
                </c:pt>
                <c:pt idx="7">
                  <c:v>2000</c:v>
                </c:pt>
                <c:pt idx="8">
                  <c:v>2500</c:v>
                </c:pt>
                <c:pt idx="9">
                  <c:v>3000</c:v>
                </c:pt>
                <c:pt idx="10">
                  <c:v>3500</c:v>
                </c:pt>
                <c:pt idx="11">
                  <c:v>4000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12"/>
                <c:pt idx="0">
                  <c:v>0.0003957</c:v>
                </c:pt>
                <c:pt idx="1">
                  <c:v>0.0023856</c:v>
                </c:pt>
                <c:pt idx="2">
                  <c:v>0.0092742</c:v>
                </c:pt>
                <c:pt idx="3">
                  <c:v>0.0168637</c:v>
                </c:pt>
                <c:pt idx="4">
                  <c:v>0.0427091</c:v>
                </c:pt>
                <c:pt idx="5">
                  <c:v>0.510321</c:v>
                </c:pt>
                <c:pt idx="6">
                  <c:v>1.63854</c:v>
                </c:pt>
                <c:pt idx="7">
                  <c:v>3.54986</c:v>
                </c:pt>
                <c:pt idx="8">
                  <c:v>7.19002</c:v>
                </c:pt>
                <c:pt idx="9">
                  <c:v>12.8882</c:v>
                </c:pt>
                <c:pt idx="10">
                  <c:v>20.7162</c:v>
                </c:pt>
                <c:pt idx="11">
                  <c:v>31.2464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Реализация с отражениями Хаусхолдера</c:v>
                </c:pt>
              </c:strCache>
            </c:strRef>
          </c:tx>
          <c:spPr>
            <a:solidFill>
              <a:srgbClr val="ffd320"/>
            </a:solidFill>
            <a:ln w="28800">
              <a:solidFill>
                <a:srgbClr val="ffd320"/>
              </a:solidFill>
              <a:round/>
            </a:ln>
          </c:spPr>
          <c:marker>
            <c:symbol val="triangle"/>
            <c:size val="8"/>
            <c:spPr>
              <a:solidFill>
                <a:srgbClr val="ffd320"/>
              </a:solidFill>
            </c:spPr>
          </c:marker>
          <c:dLbls>
            <c:numFmt formatCode="General" sourceLinked="0"/>
            <c:txPr>
              <a:bodyPr wrap="none"/>
              <a:lstStyle/>
              <a:p>
                <a:pPr>
                  <a:defRPr b="0" sz="500" strike="noStrike" u="none">
                    <a:solidFill>
                      <a:srgbClr val="000000"/>
                    </a:solidFill>
                    <a:uFillTx/>
                    <a:latin typeface="Arial"/>
                    <a:ea typeface="DejaVu Sa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eparator> </c:separator>
            <c:showLeaderLines val="1"/>
            <c:leaderLines>
              <c:spPr>
                <a:ln w="2880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12"/>
                <c:pt idx="0">
                  <c:v>100</c:v>
                </c:pt>
                <c:pt idx="1">
                  <c:v>200</c:v>
                </c:pt>
                <c:pt idx="2">
                  <c:v>300</c:v>
                </c:pt>
                <c:pt idx="3">
                  <c:v>400</c:v>
                </c:pt>
                <c:pt idx="4">
                  <c:v>500</c:v>
                </c:pt>
                <c:pt idx="5">
                  <c:v>1000</c:v>
                </c:pt>
                <c:pt idx="6">
                  <c:v>1500</c:v>
                </c:pt>
                <c:pt idx="7">
                  <c:v>2000</c:v>
                </c:pt>
                <c:pt idx="8">
                  <c:v>2500</c:v>
                </c:pt>
                <c:pt idx="9">
                  <c:v>3000</c:v>
                </c:pt>
                <c:pt idx="10">
                  <c:v>3500</c:v>
                </c:pt>
                <c:pt idx="11">
                  <c:v>4000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12"/>
                <c:pt idx="0">
                  <c:v>0.0013103</c:v>
                </c:pt>
                <c:pt idx="1">
                  <c:v>0.0069098</c:v>
                </c:pt>
                <c:pt idx="2">
                  <c:v>0.018879</c:v>
                </c:pt>
                <c:pt idx="3">
                  <c:v>0.0363722</c:v>
                </c:pt>
                <c:pt idx="4">
                  <c:v>0.0720739</c:v>
                </c:pt>
                <c:pt idx="5">
                  <c:v>0.173632</c:v>
                </c:pt>
                <c:pt idx="6">
                  <c:v>0.643838</c:v>
                </c:pt>
                <c:pt idx="7">
                  <c:v>2.10122</c:v>
                </c:pt>
                <c:pt idx="8">
                  <c:v>5.00486</c:v>
                </c:pt>
                <c:pt idx="9">
                  <c:v>9.74322</c:v>
                </c:pt>
                <c:pt idx="10">
                  <c:v>16.1714</c:v>
                </c:pt>
                <c:pt idx="11">
                  <c:v>24.6837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Разложение из Scilab</c:v>
                </c:pt>
              </c:strCache>
            </c:strRef>
          </c:tx>
          <c:spPr>
            <a:solidFill>
              <a:srgbClr val="579d1c"/>
            </a:solidFill>
            <a:ln w="28800">
              <a:solidFill>
                <a:srgbClr val="579d1c"/>
              </a:solidFill>
              <a:round/>
            </a:ln>
          </c:spPr>
          <c:marker>
            <c:symbol val="triangle"/>
            <c:size val="8"/>
            <c:spPr>
              <a:solidFill>
                <a:srgbClr val="579d1c"/>
              </a:solidFill>
            </c:spPr>
          </c:marker>
          <c:dPt>
            <c:idx val="1"/>
            <c:marker>
              <c:symbol val="triangle"/>
              <c:size val="8"/>
              <c:spPr>
                <a:solidFill>
                  <a:srgbClr val="579d1c"/>
                </a:solidFill>
              </c:spPr>
            </c:marker>
          </c:dPt>
          <c:dLbls>
            <c:numFmt formatCode="General" sourceLinked="0"/>
            <c:dLbl>
              <c:idx val="1"/>
              <c:txPr>
                <a:bodyPr wrap="none"/>
                <a:lstStyle/>
                <a:p>
                  <a:pPr>
                    <a:defRPr b="0" sz="500" strike="noStrike" u="non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eparator> </c:separator>
            </c:dLbl>
            <c:txPr>
              <a:bodyPr wrap="none"/>
              <a:lstStyle/>
              <a:p>
                <a:pPr>
                  <a:defRPr b="0" sz="500" strike="noStrike" u="none">
                    <a:solidFill>
                      <a:srgbClr val="000000"/>
                    </a:solidFill>
                    <a:uFillTx/>
                    <a:latin typeface="Arial"/>
                    <a:ea typeface="DejaVu San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eparator> </c:separator>
            <c:showLeaderLines val="1"/>
            <c:leaderLines>
              <c:spPr>
                <a:ln w="2880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12"/>
                <c:pt idx="0">
                  <c:v>100</c:v>
                </c:pt>
                <c:pt idx="1">
                  <c:v>200</c:v>
                </c:pt>
                <c:pt idx="2">
                  <c:v>300</c:v>
                </c:pt>
                <c:pt idx="3">
                  <c:v>400</c:v>
                </c:pt>
                <c:pt idx="4">
                  <c:v>500</c:v>
                </c:pt>
                <c:pt idx="5">
                  <c:v>1000</c:v>
                </c:pt>
                <c:pt idx="6">
                  <c:v>1500</c:v>
                </c:pt>
                <c:pt idx="7">
                  <c:v>2000</c:v>
                </c:pt>
                <c:pt idx="8">
                  <c:v>2500</c:v>
                </c:pt>
                <c:pt idx="9">
                  <c:v>3000</c:v>
                </c:pt>
                <c:pt idx="10">
                  <c:v>3500</c:v>
                </c:pt>
                <c:pt idx="11">
                  <c:v>4000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12"/>
                <c:pt idx="0">
                  <c:v>0.0179448</c:v>
                </c:pt>
                <c:pt idx="1">
                  <c:v>0.0065019</c:v>
                </c:pt>
                <c:pt idx="2">
                  <c:v>0.0073951</c:v>
                </c:pt>
                <c:pt idx="3">
                  <c:v>0.0080666</c:v>
                </c:pt>
                <c:pt idx="4">
                  <c:v>0.0111006</c:v>
                </c:pt>
                <c:pt idx="5">
                  <c:v>0.0324745</c:v>
                </c:pt>
                <c:pt idx="6">
                  <c:v>0.0849378</c:v>
                </c:pt>
                <c:pt idx="7">
                  <c:v>0.1808189</c:v>
                </c:pt>
                <c:pt idx="8">
                  <c:v>0.3221421</c:v>
                </c:pt>
                <c:pt idx="9">
                  <c:v>0.4588081</c:v>
                </c:pt>
                <c:pt idx="10">
                  <c:v>0.7511698</c:v>
                </c:pt>
                <c:pt idx="11">
                  <c:v>1.093605</c:v>
                </c:pt>
              </c:numCache>
            </c:numRef>
          </c:val>
          <c:smooth val="0"/>
        </c:ser>
        <c:hiLowLines>
          <c:spPr>
            <a:ln w="0">
              <a:noFill/>
            </a:ln>
          </c:spPr>
        </c:hiLowLines>
        <c:marker val="1"/>
        <c:axId val="29069043"/>
        <c:axId val="1024603"/>
      </c:lineChart>
      <c:catAx>
        <c:axId val="29069043"/>
        <c:scaling>
          <c:orientation val="minMax"/>
        </c:scaling>
        <c:delete val="0"/>
        <c:axPos val="b"/>
        <c:title>
          <c:tx>
            <c:rich>
              <a:bodyPr rot="0"/>
              <a:lstStyle/>
              <a:p>
                <a:pPr>
                  <a:defRPr b="0" sz="13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  <a:r>
                  <a:rPr b="0" sz="900" strike="noStrike" u="none">
                    <a:solidFill>
                      <a:srgbClr val="000000"/>
                    </a:solidFill>
                    <a:uFillTx/>
                    <a:latin typeface="Arial"/>
                    <a:ea typeface="DejaVu Sans"/>
                  </a:rPr>
                  <a:t>Размер данных, NxN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[$-419]dd/mm/yyyy" sourceLinked="0"/>
        <c:majorTickMark val="out"/>
        <c:minorTickMark val="none"/>
        <c:tickLblPos val="nextTo"/>
        <c:spPr>
          <a:ln w="0">
            <a:solidFill>
              <a:srgbClr val="b3b3b3"/>
            </a:solidFill>
          </a:ln>
        </c:spPr>
        <c:txPr>
          <a:bodyPr/>
          <a:lstStyle/>
          <a:p>
            <a:pPr>
              <a:defRPr b="0" sz="1000" strike="noStrike" u="none">
                <a:solidFill>
                  <a:srgbClr val="000000"/>
                </a:solidFill>
                <a:uFillTx/>
                <a:latin typeface="Arial"/>
                <a:ea typeface="DejaVu Sans"/>
              </a:defRPr>
            </a:pPr>
          </a:p>
        </c:txPr>
        <c:crossAx val="1024603"/>
        <c:crosses val="autoZero"/>
        <c:auto val="1"/>
        <c:lblAlgn val="ctr"/>
        <c:lblOffset val="100"/>
        <c:noMultiLvlLbl val="0"/>
      </c:catAx>
      <c:valAx>
        <c:axId val="1024603"/>
        <c:scaling>
          <c:logBase val="10"/>
          <c:orientation val="minMax"/>
        </c:scaling>
        <c:delete val="0"/>
        <c:axPos val="l"/>
        <c:majorGridlines>
          <c:spPr>
            <a:ln w="0">
              <a:solidFill>
                <a:srgbClr val="b3b3b3"/>
              </a:solidFill>
            </a:ln>
          </c:spPr>
        </c:majorGridlines>
        <c:title>
          <c:tx>
            <c:rich>
              <a:bodyPr rot="-5400000"/>
              <a:lstStyle/>
              <a:p>
                <a:pPr>
                  <a:defRPr b="0" sz="13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  <a:r>
                  <a:rPr b="0" sz="900" strike="noStrike" u="none">
                    <a:solidFill>
                      <a:srgbClr val="000000"/>
                    </a:solidFill>
                    <a:uFillTx/>
                    <a:latin typeface="Arial"/>
                    <a:ea typeface="DejaVu Sans"/>
                  </a:rPr>
                  <a:t>Время работы, с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General" sourceLinked="0"/>
        <c:majorTickMark val="out"/>
        <c:minorTickMark val="none"/>
        <c:tickLblPos val="nextTo"/>
        <c:spPr>
          <a:ln w="0">
            <a:solidFill>
              <a:srgbClr val="b3b3b3"/>
            </a:solidFill>
          </a:ln>
        </c:spPr>
        <c:txPr>
          <a:bodyPr/>
          <a:lstStyle/>
          <a:p>
            <a:pPr>
              <a:defRPr b="0" sz="1000" strike="noStrike" u="none">
                <a:solidFill>
                  <a:srgbClr val="000000"/>
                </a:solidFill>
                <a:uFillTx/>
                <a:latin typeface="Arial"/>
                <a:ea typeface="DejaVu Sans"/>
              </a:defRPr>
            </a:pPr>
          </a:p>
        </c:txPr>
        <c:crossAx val="29069043"/>
        <c:crossesAt val="1"/>
        <c:crossBetween val="midCat"/>
      </c:valAx>
      <c:spPr>
        <a:noFill/>
        <a:ln w="0">
          <a:solidFill>
            <a:srgbClr val="b3b3b3"/>
          </a:solidFill>
        </a:ln>
      </c:spPr>
    </c:plotArea>
    <c:legend>
      <c:legendPos val="r"/>
      <c:layout>
        <c:manualLayout>
          <c:xMode val="edge"/>
          <c:yMode val="edge"/>
          <c:x val="0.74166169352165"/>
          <c:y val="0.37054287241353"/>
          <c:w val="0.243551488628075"/>
          <c:h val="0.338856226616783"/>
        </c:manualLayout>
      </c:layout>
      <c:overlay val="0"/>
      <c:spPr>
        <a:noFill/>
        <a:ln w="0">
          <a:noFill/>
        </a:ln>
      </c:spPr>
      <c:txPr>
        <a:bodyPr/>
        <a:lstStyle/>
        <a:p>
          <a:pPr>
            <a:defRPr b="0" sz="1000" strike="noStrike" u="none">
              <a:solidFill>
                <a:srgbClr val="000000"/>
              </a:solidFill>
              <a:uFillTx/>
              <a:latin typeface="Arial"/>
              <a:ea typeface="DejaVu Sans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перемещения страницы щёлкните мышью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формата примечаний щёлкните мышью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&lt;верхний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CFF786D-8B99-4279-833A-9C9416E5EB1A}" type="slidenum"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4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A3B0285-0821-4057-BDB7-FA44A10A87A2}" type="slidenum">
              <a:rPr b="0" lang="ru-RU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5480" cy="4007160"/>
          </a:xfrm>
          <a:prstGeom prst="rect">
            <a:avLst/>
          </a:prstGeom>
          <a:ln w="0">
            <a:noFill/>
          </a:ln>
        </p:spPr>
      </p:sp>
      <p:sp>
        <p:nvSpPr>
          <p:cNvPr id="459" name="PlaceHolder 2"/>
          <p:cNvSpPr>
            <a:spLocks noGrp="1"/>
          </p:cNvSpPr>
          <p:nvPr>
            <p:ph type="body"/>
          </p:nvPr>
        </p:nvSpPr>
        <p:spPr>
          <a:xfrm>
            <a:off x="0" y="4952880"/>
            <a:ext cx="6857640" cy="393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5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Самая очевидная реализация метода Хаусхолдера будет содержать в себе следующие недостатки: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   • использование операции матричного умножения матриц размером NxN; на каждую из (N-1) итераций цикла придётся два матричных произведения. 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   • отдельное хранение матриц отражения H (NxN элементов, (N-1) штук) для вычисления Q.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В связи с выявленными недостатками возможны следующие оптимизации: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Избавление от матричных умножений. Подсчитаем перемножение  по-другому, получим более дешёвые операции над векторами и матрицей A, уменьшим сложность в N раз.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ru-RU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Также вычисление матрицы R этим способом позволяет упростить вычисление матрицы Q. Для её восстановления понадобится только сохранить вектора Хаусхолдера vk, полученные на каждом шаге алгоритма. Вычислять Q будем восстанавливая матрицы отражения из сохранённых векторов v, в обратном порядке.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5480" cy="4007160"/>
          </a:xfrm>
          <a:prstGeom prst="rect">
            <a:avLst/>
          </a:prstGeom>
          <a:ln w="0">
            <a:noFill/>
          </a:ln>
        </p:spPr>
      </p:sp>
      <p:sp>
        <p:nvSpPr>
          <p:cNvPr id="461" name="PlaceHolder 2"/>
          <p:cNvSpPr>
            <a:spLocks noGrp="1"/>
          </p:cNvSpPr>
          <p:nvPr>
            <p:ph type="body"/>
          </p:nvPr>
        </p:nvSpPr>
        <p:spPr>
          <a:xfrm>
            <a:off x="0" y="5078520"/>
            <a:ext cx="6857640" cy="4035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defTabSz="914400">
              <a:lnSpc>
                <a:spcPct val="150000"/>
              </a:lnSpc>
              <a:spcBef>
                <a:spcPts val="57"/>
              </a:spcBef>
              <a:buNone/>
              <a:tabLst>
                <a:tab algn="l" pos="0"/>
              </a:tabLst>
            </a:pPr>
            <a:r>
              <a:rPr b="0" lang="ru-RU" sz="105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На слайде представлено сравнение 3 реализаций: </a:t>
            </a: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50000"/>
              </a:lnSpc>
              <a:spcBef>
                <a:spcPts val="5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105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базовая, со всеми её недостатками (двумя матричными умножениями на каждой из N-1 итераций, явным хранением N матриц отражения, размером NxN).</a:t>
            </a: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50000"/>
              </a:lnSpc>
              <a:spcBef>
                <a:spcPts val="5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105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Вторая, избавленная от матричных умножений</a:t>
            </a: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50000"/>
              </a:lnSpc>
              <a:spcBef>
                <a:spcPts val="5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105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Третья, без выделения лишней памяти, с хранением нормированных векторов под диагональю</a:t>
            </a: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spcBef>
                <a:spcPts val="57"/>
              </a:spcBef>
              <a:buNone/>
              <a:tabLst>
                <a:tab algn="l" pos="0"/>
              </a:tabLst>
            </a:pPr>
            <a:r>
              <a:rPr b="0" lang="ru-RU" sz="105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За счёт оптимизаций, даже последовательные версии 2 и 3 превосходят базовую в среднем в 1000 раз для любых размеров данных. Последовательная 3 версия по сравнению со второй получила ускорение в 1,5-2 раза.</a:t>
            </a: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spcBef>
                <a:spcPts val="57"/>
              </a:spcBef>
              <a:buNone/>
              <a:tabLst>
                <a:tab algn="l" pos="0"/>
              </a:tabLst>
            </a:pPr>
            <a:r>
              <a:rPr b="0" lang="ru-RU" sz="105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Сравнение дано для небольших плотных произвольных матриц, в связи с медленной работой базовой версии на данных &gt;1000х1000 элементов. Тип данных — вещественное число двойной точности, double в C++. Параллельная версия для базового алгоритма получена с помощью добавления параллельного блочного алгоритма умножения матриц и использования параллелизма при вычислении вектора Хаусхолдера v. Ускорение в среднем в 4 раза на 8 потоках, но линейно ускорить не получится. 2 и 3 версия на 8 потоках в среднем получили ускорение в 2-3 раза. Относительно последовательной базовой версии распараллеленные оптимизированные версии получили ускорение в несколько тысяч раз.</a:t>
            </a: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spcBef>
                <a:spcPts val="57"/>
              </a:spcBef>
              <a:buNone/>
              <a:tabLst>
                <a:tab algn="l" pos="0"/>
              </a:tabLst>
            </a:pPr>
            <a:r>
              <a:rPr b="0" lang="ru-RU" sz="105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Абсолютная ошибка для типа числа с плавающей точкой двойной точности вне зависимости от размера данных имеет порядок 1e-12, относительная — 1e-15.</a:t>
            </a: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spcBef>
                <a:spcPts val="57"/>
              </a:spcBef>
              <a:buNone/>
              <a:tabLst>
                <a:tab algn="l" pos="0"/>
              </a:tabLst>
            </a:pP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5480" cy="4007160"/>
          </a:xfrm>
          <a:prstGeom prst="rect">
            <a:avLst/>
          </a:prstGeom>
          <a:ln w="0">
            <a:noFill/>
          </a:ln>
        </p:spPr>
      </p:sp>
      <p:sp>
        <p:nvSpPr>
          <p:cNvPr id="463" name="PlaceHolder 4"/>
          <p:cNvSpPr/>
          <p:nvPr/>
        </p:nvSpPr>
        <p:spPr>
          <a:xfrm>
            <a:off x="0" y="5078880"/>
            <a:ext cx="6857640" cy="89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50000"/>
              </a:lnSpc>
              <a:spcBef>
                <a:spcPts val="57"/>
              </a:spcBef>
              <a:tabLst>
                <a:tab algn="l" pos="0"/>
              </a:tabLst>
            </a:pPr>
            <a:r>
              <a:rPr b="0" lang="ru-RU" sz="105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Две оптимизированных версии можно сравнить на данных и более 1000x1000 элементов. 3 версия, запущенная последовательно, превосходит вторую в 3-4 раза для данных 2000х2000.</a:t>
            </a: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spcBef>
                <a:spcPts val="57"/>
              </a:spcBef>
              <a:tabLst>
                <a:tab algn="l" pos="0"/>
              </a:tabLst>
            </a:pPr>
            <a:r>
              <a:rPr b="0" lang="ru-RU" sz="105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Распараллеливание на 8 потоках ускорило в 2-3 раза последовательные версии.</a:t>
            </a: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spcBef>
                <a:spcPts val="57"/>
              </a:spcBef>
              <a:tabLst>
                <a:tab algn="l" pos="0"/>
              </a:tabLst>
            </a:pP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5480" cy="4007160"/>
          </a:xfrm>
          <a:prstGeom prst="rect">
            <a:avLst/>
          </a:prstGeom>
          <a:ln w="0">
            <a:noFill/>
          </a:ln>
        </p:spPr>
      </p:sp>
      <p:sp>
        <p:nvSpPr>
          <p:cNvPr id="465" name="PlaceHolder 5"/>
          <p:cNvSpPr/>
          <p:nvPr/>
        </p:nvSpPr>
        <p:spPr>
          <a:xfrm>
            <a:off x="0" y="5079240"/>
            <a:ext cx="6857640" cy="226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50000"/>
              </a:lnSpc>
              <a:spcBef>
                <a:spcPts val="57"/>
              </a:spcBef>
              <a:tabLst>
                <a:tab algn="l" pos="0"/>
              </a:tabLst>
            </a:pPr>
            <a:r>
              <a:rPr b="0" lang="ru-RU" sz="105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На слайде представлено сравнение двух оптимизированных версий с разложением из библиотеки scilab.</a:t>
            </a: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spcBef>
                <a:spcPts val="57"/>
              </a:spcBef>
              <a:tabLst>
                <a:tab algn="l" pos="0"/>
              </a:tabLst>
            </a:pPr>
            <a:r>
              <a:rPr b="0" lang="ru-RU" sz="105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Для небольших данных &lt;500x500 результат работы моей реализации близок по времени с библиотечной функцией. Однако на данных более 1000x1000 моя реализация замедляется более чем в 1000 раз, среднее замедление для любых данных — в 10 раз.</a:t>
            </a: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spcBef>
                <a:spcPts val="57"/>
              </a:spcBef>
              <a:tabLst>
                <a:tab algn="l" pos="0"/>
              </a:tabLst>
            </a:pPr>
            <a:r>
              <a:rPr b="0" lang="ru-RU" sz="105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Причина этого лежит в особенностях реализации из библиотеки scilab. Scilab использует LAPACK — библиотеку, написанную на Fortran с:</a:t>
            </a: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50000"/>
              </a:lnSpc>
              <a:spcBef>
                <a:spcPts val="5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105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блочными алгоритмами (более оптимальное использование кэша)</a:t>
            </a: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50000"/>
              </a:lnSpc>
              <a:spcBef>
                <a:spcPts val="5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105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высокооптимизированными многопоточными BLAS — Basic Linear Algebra Subprograms</a:t>
            </a: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50000"/>
              </a:lnSpc>
              <a:spcBef>
                <a:spcPts val="5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105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(Intel MKL/OpenBLAS)</a:t>
            </a: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50000"/>
              </a:lnSpc>
              <a:spcBef>
                <a:spcPts val="5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105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ручной векторизацией и ассемблерными вставками</a:t>
            </a: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5480" cy="4007160"/>
          </a:xfrm>
          <a:prstGeom prst="rect">
            <a:avLst/>
          </a:prstGeom>
          <a:ln w="0">
            <a:noFill/>
          </a:ln>
        </p:spPr>
      </p:sp>
      <p:sp>
        <p:nvSpPr>
          <p:cNvPr id="467" name="PlaceHolder 2"/>
          <p:cNvSpPr>
            <a:spLocks noGrp="1"/>
          </p:cNvSpPr>
          <p:nvPr>
            <p:ph type="body"/>
          </p:nvPr>
        </p:nvSpPr>
        <p:spPr>
          <a:xfrm>
            <a:off x="0" y="5078520"/>
            <a:ext cx="6801840" cy="480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15000"/>
              </a:lnSpc>
              <a:spcBef>
                <a:spcPts val="283"/>
              </a:spcBef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ru-RU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Сначала в нуль последовательно обращаются элементы 1-го столбца, затем 2-го, и т.д. до N-1-го, после чего получившаяся матрица - это и есть матрица R. 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283"/>
              </a:spcBef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ru-RU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Сам шаг алгоритма распадается на две части: подбор параметра вращения и выполнение вращения над двумя строками матрицы.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283"/>
              </a:spcBef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ru-RU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Для получения матрицы R матрицу A последовательно домножают слева на матрицы вращения G12, G13, …, G1n, G23, G24, …, G2n, …, GN-2,N, GN-1,N.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ru-RU" sz="15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Отсюда для получения матрицы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Q </a:t>
            </a:r>
            <a:r>
              <a:rPr b="0" lang="ru-RU" sz="15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необходимо последовательно перемножить все транспонированные матрицы вращения друг на друга справа.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5480" cy="4007160"/>
          </a:xfrm>
          <a:prstGeom prst="rect">
            <a:avLst/>
          </a:prstGeom>
          <a:ln w="0">
            <a:noFill/>
          </a:ln>
        </p:spPr>
      </p:sp>
      <p:sp>
        <p:nvSpPr>
          <p:cNvPr id="469" name="PlaceHolder 2"/>
          <p:cNvSpPr>
            <a:spLocks noGrp="1"/>
          </p:cNvSpPr>
          <p:nvPr>
            <p:ph type="body"/>
          </p:nvPr>
        </p:nvSpPr>
        <p:spPr>
          <a:xfrm>
            <a:off x="0" y="5078520"/>
            <a:ext cx="6801840" cy="480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15000"/>
              </a:lnSpc>
              <a:spcBef>
                <a:spcPts val="283"/>
              </a:spcBef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ru-RU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Сначала в нуль последовательно обращаются элементы 1-го столбца, затем 2-го, и т.д. до N-1-го, после чего получившаяся матрица - это и есть матрица R. 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283"/>
              </a:spcBef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ru-RU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Сам шаг алгоритма распадается на две части: подбор параметра вращения и выполнение вращения над двумя строками матрицы.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283"/>
              </a:spcBef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ru-RU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Для получения матрицы R матрицу A последовательно домножают слева на матрицы вращения G12, G13, …, G1n, G23, G24, …, G2n, …, GN-2,N, GN-1,N.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None/>
              <a:tabLst>
                <a:tab algn="l" pos="0"/>
              </a:tabLst>
            </a:pPr>
            <a:r>
              <a:rPr b="0" lang="ru-RU" sz="15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Отсюда для получения матрицы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Q </a:t>
            </a:r>
            <a:r>
              <a:rPr b="0" lang="ru-RU" sz="15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необходимо последовательно перемножить все транспонированные матрицы вращения друг на друга справа.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5480" cy="4007160"/>
          </a:xfrm>
          <a:prstGeom prst="rect">
            <a:avLst/>
          </a:prstGeom>
          <a:ln w="0">
            <a:noFill/>
          </a:ln>
        </p:spPr>
      </p:sp>
      <p:sp>
        <p:nvSpPr>
          <p:cNvPr id="471" name="PlaceHolder 2"/>
          <p:cNvSpPr>
            <a:spLocks noGrp="1"/>
          </p:cNvSpPr>
          <p:nvPr>
            <p:ph type="body"/>
          </p:nvPr>
        </p:nvSpPr>
        <p:spPr>
          <a:xfrm>
            <a:off x="0" y="4926960"/>
            <a:ext cx="6857640" cy="516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ct val="150000"/>
              </a:lnSpc>
              <a:spcBef>
                <a:spcPts val="57"/>
              </a:spcBef>
              <a:buNone/>
              <a:tabLst>
                <a:tab algn="l" pos="0"/>
              </a:tabLst>
            </a:pPr>
            <a:r>
              <a:rPr b="0" lang="ru-RU" sz="1050" strike="noStrike" u="non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На слайде представлено сравнение 3 реализаций: базовая, вторая: со специальной структурой данных, объединяющей в себе элементы R и транспонированной Q, третья: с векторизованными вращениями строк. </a:t>
            </a: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50000"/>
              </a:lnSpc>
              <a:spcBef>
                <a:spcPts val="5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1050" strike="noStrike" u="non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Базовая при распараллеливании на 8 потоках не получила значительного ускорения. Вероятно это из-за того, что области с использованием параллелизма небольшие, для N&lt;1000 накладные расходы превышают эффект, а главные операции — вращение строк на каждой итерации, не поддаются распараллеливанию в виду последовательной зависимости по данным (нельзя вращать строку одновременно с несколькими, а вращение независимых строк выполнять так, чтобы получить итоговые унитарную матрицу Q и верхнетреугольную матрицу R, нельзя; имеет значение порядок зануления элементов — слева направо сверху вниз). Операции вращения хоть и несложные арифметически, но требуют множественных обращений к памяти.</a:t>
            </a: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50000"/>
              </a:lnSpc>
              <a:spcBef>
                <a:spcPts val="5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1050" strike="noStrike" u="non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2ая, с улучшенным доступом к памяти, на 8 потоках получила ускорение в 1,5-2 раза для данных &gt;2000x2000 элементов.</a:t>
            </a: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50000"/>
              </a:lnSpc>
              <a:spcBef>
                <a:spcPts val="5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1050" strike="noStrike" u="non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3ья, с векторизацией за счёт интринсиков (вычисления над выравненной памятью, которые одновременно выполняются над 4 элементами типа double или 8 типа float). При использовании векторизации добавление многопоточности не дало преимущества и даже ухудшило производительность. Зато последовательная версия показала себя хорошо, видно, что третья реализация метода Гивенса даже при последовательном выполнении отрабатывает за лучшее, меньшее время по сравнению с другими реализациями. Для небольших данных (матриц 500x500 и меньше) этот алгоритм превосходит даже оптимизированный алгоритм на основе отражений Хаусхолдера.</a:t>
            </a: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spcBef>
                <a:spcPts val="57"/>
              </a:spcBef>
              <a:buNone/>
              <a:tabLst>
                <a:tab algn="l" pos="0"/>
              </a:tabLst>
            </a:pPr>
            <a:r>
              <a:rPr b="0" lang="ru-RU" sz="1050" strike="noStrike" u="non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Абсолютная ошибка для типа числа с плавающей точкой двойной точности вне зависимости от размера данных имеет порядок 1e-12, относительная — 1e-15.</a:t>
            </a: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50000"/>
              </a:lnSpc>
              <a:spcBef>
                <a:spcPts val="57"/>
              </a:spcBef>
              <a:buNone/>
              <a:tabLst>
                <a:tab algn="l" pos="0"/>
              </a:tabLst>
            </a:pP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5480" cy="4007160"/>
          </a:xfrm>
          <a:prstGeom prst="rect">
            <a:avLst/>
          </a:prstGeom>
          <a:ln w="0">
            <a:noFill/>
          </a:ln>
        </p:spPr>
      </p:sp>
      <p:sp>
        <p:nvSpPr>
          <p:cNvPr id="473" name="PlaceHolder 6"/>
          <p:cNvSpPr/>
          <p:nvPr/>
        </p:nvSpPr>
        <p:spPr>
          <a:xfrm>
            <a:off x="0" y="5079600"/>
            <a:ext cx="6857640" cy="226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50000"/>
              </a:lnSpc>
              <a:spcBef>
                <a:spcPts val="57"/>
              </a:spcBef>
              <a:tabLst>
                <a:tab algn="l" pos="0"/>
              </a:tabLst>
            </a:pPr>
            <a:r>
              <a:rPr b="0" lang="ru-RU" sz="105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На слайде представлено сравнение двух оптимизированных версий с разложением из библиотеки scilab.</a:t>
            </a: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spcBef>
                <a:spcPts val="57"/>
              </a:spcBef>
              <a:tabLst>
                <a:tab algn="l" pos="0"/>
              </a:tabLst>
            </a:pPr>
            <a:r>
              <a:rPr b="0" lang="ru-RU" sz="105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Для небольших данных &lt;700x700 результат работы моей реализации близок по времени с библиотечной функцией. Однако на данных более 1000x1000 моя реализация замедляется более чем в 1000 раз, среднее замедление для любых данных — в 10 раз.</a:t>
            </a: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spcBef>
                <a:spcPts val="57"/>
              </a:spcBef>
              <a:tabLst>
                <a:tab algn="l" pos="0"/>
              </a:tabLst>
            </a:pPr>
            <a:r>
              <a:rPr b="0" lang="ru-RU" sz="105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Причина этого лежит в особенностях реализации из библиотеки scilab. Scilab использует LAPACK — библиотеку, написанную на Fortran с:</a:t>
            </a: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50000"/>
              </a:lnSpc>
              <a:spcBef>
                <a:spcPts val="5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105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блочными алгоритмами (более оптимальное использование кэша)</a:t>
            </a: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50000"/>
              </a:lnSpc>
              <a:spcBef>
                <a:spcPts val="5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105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высокооптимизированными многопоточными BLAS — Basic Linear Algebra Subprograms</a:t>
            </a: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50000"/>
              </a:lnSpc>
              <a:spcBef>
                <a:spcPts val="5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105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(Intel MKL/OpenBLAS)</a:t>
            </a: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50000"/>
              </a:lnSpc>
              <a:spcBef>
                <a:spcPts val="5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105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ручной векторизацией и ассемблерными вставками</a:t>
            </a: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5480" cy="4007160"/>
          </a:xfrm>
          <a:prstGeom prst="rect">
            <a:avLst/>
          </a:prstGeom>
          <a:ln w="0">
            <a:noFill/>
          </a:ln>
        </p:spPr>
      </p:sp>
      <p:sp>
        <p:nvSpPr>
          <p:cNvPr id="475" name="PlaceHolder 7"/>
          <p:cNvSpPr/>
          <p:nvPr/>
        </p:nvSpPr>
        <p:spPr>
          <a:xfrm>
            <a:off x="0" y="5079960"/>
            <a:ext cx="6857640" cy="234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50000"/>
              </a:lnSpc>
              <a:spcBef>
                <a:spcPts val="340"/>
              </a:spcBef>
              <a:spcAft>
                <a:spcPts val="142"/>
              </a:spcAft>
              <a:tabLst>
                <a:tab algn="l" pos="0"/>
              </a:tabLst>
            </a:pPr>
            <a:r>
              <a:rPr b="0" lang="ru-RU" sz="1050" strike="noStrike" u="non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На слайде представлено сравнение полученных оптимизированных параллельных реализаций QR-разложения: на основе отражений Хаусхолдера и на основе вращений Гивенса (для плотных матриц, на восьми потоках), с библиотечной версией разложения scilab.</a:t>
            </a: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spcBef>
                <a:spcPts val="340"/>
              </a:spcBef>
              <a:spcAft>
                <a:spcPts val="142"/>
              </a:spcAft>
              <a:tabLst>
                <a:tab algn="l" pos="0"/>
              </a:tabLst>
            </a:pPr>
            <a:r>
              <a:rPr b="0" lang="ru-RU" sz="1050" strike="noStrike" u="non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Алгоритм QR-разложения на основе вращений Гивенса работает быстрее на небольших данных (&lt;500x500 элементов), однако всё ещё проигрывает по скорости на больших (&gt;&gt;1000x1000 элементов) из-за необходимости последовательной обработки всех поддиагональных элементов, тогда как Хаусхолдер обнуляет целый столбец за одно преобразование. </a:t>
            </a: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spcBef>
                <a:spcPts val="340"/>
              </a:spcBef>
              <a:spcAft>
                <a:spcPts val="142"/>
              </a:spcAft>
              <a:tabLst>
                <a:tab algn="l" pos="0"/>
              </a:tabLst>
            </a:pPr>
            <a:r>
              <a:rPr b="0" lang="ru-RU" sz="1050" strike="noStrike" u="non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Дело в ограниченной применимости метода. Этот метод даст лучший результат при применении его к разреженным матрицам. Так работают, например, открытые известные реализации: при работе с плотными матрицами используется метод Хаусхолдера, а при работе с разреженными матрицами — метод Гивенса.</a:t>
            </a:r>
            <a:endParaRPr b="0" lang="ru-RU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5480" cy="4007160"/>
          </a:xfrm>
          <a:prstGeom prst="rect">
            <a:avLst/>
          </a:prstGeom>
          <a:ln w="0">
            <a:noFill/>
          </a:ln>
        </p:spPr>
      </p:sp>
      <p:sp>
        <p:nvSpPr>
          <p:cNvPr id="477" name="PlaceHolder 2"/>
          <p:cNvSpPr>
            <a:spLocks noGrp="1"/>
          </p:cNvSpPr>
          <p:nvPr>
            <p:ph type="body"/>
          </p:nvPr>
        </p:nvSpPr>
        <p:spPr>
          <a:xfrm>
            <a:off x="0" y="5078520"/>
            <a:ext cx="6801840" cy="480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500" strike="noStrike" u="none">
                <a:solidFill>
                  <a:srgbClr val="000000"/>
                </a:solidFill>
                <a:effectLst/>
                <a:uFillTx/>
                <a:latin typeface="Times New Roman;serif"/>
                <a:ea typeface="Times New Roman;serif"/>
              </a:rPr>
              <a:t>С задачей разложения верхней хессенберговой матрицы моя реализация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;serif"/>
                <a:ea typeface="Times New Roman;serif"/>
              </a:rPr>
              <a:t>QR-</a:t>
            </a:r>
            <a:r>
              <a:rPr b="0" lang="ru-RU" sz="1500" strike="noStrike" u="none">
                <a:solidFill>
                  <a:srgbClr val="000000"/>
                </a:solidFill>
                <a:effectLst/>
                <a:uFillTx/>
                <a:latin typeface="Times New Roman;serif"/>
                <a:ea typeface="Times New Roman;serif"/>
              </a:rPr>
              <a:t>разложения методом вращений Гивенса справилась быстрее, так как, по-видимому, </a:t>
            </a: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;serif"/>
                <a:ea typeface="Times New Roman;serif"/>
              </a:rPr>
              <a:t>SciLab </a:t>
            </a:r>
            <a:r>
              <a:rPr b="0" lang="ru-RU" sz="1500" strike="noStrike" u="none">
                <a:solidFill>
                  <a:srgbClr val="000000"/>
                </a:solidFill>
                <a:effectLst/>
                <a:uFillTx/>
                <a:latin typeface="Times New Roman;serif"/>
                <a:ea typeface="Times New Roman;serif"/>
              </a:rPr>
              <a:t>использует метод отражений Хаусхолдера, который не может игнорировать отдельно стоящие пустые значения в столбцах, а вынужден производить отражение и занулять весь столбец целиком, даже не смотря на то, что в нём всего один значащий элемент.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500" strike="noStrike" u="none">
                <a:solidFill>
                  <a:srgbClr val="000000"/>
                </a:solidFill>
                <a:effectLst/>
                <a:uFillTx/>
                <a:latin typeface="Times New Roman;serif"/>
                <a:ea typeface="Times New Roman;serif"/>
              </a:rPr>
              <a:t>С задачей разложения нижней хессенберговой матрицы лучше справилась версия из Scilab, из двух моих алгоритмов немного быстрее справился тот, что использует отражения Хаусхолдера.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Только заголовок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440" cy="132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A0F956A-655F-4F1D-983D-BCADC1CAC601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ED30067-F41F-4C2E-9802-C5BBCDA37E04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ъект с подписью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0120" cy="1598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0040" cy="487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0120" cy="380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6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AF20AFB-81F6-4BA1-885D-7A6C4BD8EABC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с подписью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0120" cy="1598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0040" cy="4871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0120" cy="380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6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3C6176F-0ACD-4CB3-A40A-85F2958D69D2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1840" cy="2385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b="0" lang="ru-RU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0CD2E48-B777-4E22-9E4C-119EA91B9423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Заголовок и вертикальный текс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440" cy="132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3440" cy="434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D084510-8CDB-431B-B3FA-814FB6892CE7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Вертикальный заголовок и текс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6920" cy="580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2080" cy="580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17E003D-51A2-486C-BE4D-A53CCE093C1B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Заголовок и объек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440" cy="132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3440" cy="434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0EFCFF8-3262-4159-A8B8-EF6B8CFA6159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раздела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3440" cy="285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b="0" lang="ru-RU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3440" cy="149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Образец текста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5F43A0E-5BCD-4DF9-92A4-8863A31B6EEA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Два объекта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440" cy="132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79320" cy="434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79320" cy="434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63FE306-C56D-481D-879C-BCE007E94949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авнение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3440" cy="132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ru-RU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Образец заголовка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5560" cy="82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5560" cy="368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1120" cy="82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1120" cy="3682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Образец текста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Четвертый уровень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6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7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26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8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1040" cy="36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945E095-2B9B-41BE-B8C7-7F1C592D4578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8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9.wmf"/><Relationship Id="rId4" Type="http://schemas.openxmlformats.org/officeDocument/2006/relationships/image" Target="../media/image10.wmf"/><Relationship Id="rId5" Type="http://schemas.openxmlformats.org/officeDocument/2006/relationships/image" Target="../media/image11.wmf"/><Relationship Id="rId6" Type="http://schemas.openxmlformats.org/officeDocument/2006/relationships/image" Target="../media/image12.wmf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13.png"/><Relationship Id="rId4" Type="http://schemas.openxmlformats.org/officeDocument/2006/relationships/image" Target="../media/image14.wmf"/><Relationship Id="rId5" Type="http://schemas.openxmlformats.org/officeDocument/2006/relationships/image" Target="../media/image15.wmf"/><Relationship Id="rId6" Type="http://schemas.openxmlformats.org/officeDocument/2006/relationships/image" Target="../media/image16.wmf"/><Relationship Id="rId7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chart" Target="../charts/chart1.xml"/><Relationship Id="rId4" Type="http://schemas.openxmlformats.org/officeDocument/2006/relationships/chart" Target="../charts/chart2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chart" Target="../charts/chart3.xml"/><Relationship Id="rId4" Type="http://schemas.openxmlformats.org/officeDocument/2006/relationships/chart" Target="../charts/chart4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chart" Target="../charts/chart5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17.png"/><Relationship Id="rId4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23.wmf"/><Relationship Id="rId4" Type="http://schemas.openxmlformats.org/officeDocument/2006/relationships/image" Target="../media/image24.wmf"/><Relationship Id="rId5" Type="http://schemas.openxmlformats.org/officeDocument/2006/relationships/image" Target="../media/image25.wmf"/><Relationship Id="rId6" Type="http://schemas.openxmlformats.org/officeDocument/2006/relationships/image" Target="../media/image26.wmf"/><Relationship Id="rId7" Type="http://schemas.openxmlformats.org/officeDocument/2006/relationships/image" Target="../media/image27.wmf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chart" Target="../charts/chart6.xml"/><Relationship Id="rId4" Type="http://schemas.openxmlformats.org/officeDocument/2006/relationships/chart" Target="../charts/chart7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chart" Target="../charts/chart8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chart" Target="../charts/chart9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33.wmf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chart" Target="../charts/chart10.xml"/><Relationship Id="rId4" Type="http://schemas.openxmlformats.org/officeDocument/2006/relationships/chart" Target="../charts/chart1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Прямоугольник 21"/>
          <p:cNvSpPr/>
          <p:nvPr/>
        </p:nvSpPr>
        <p:spPr>
          <a:xfrm>
            <a:off x="0" y="742680"/>
            <a:ext cx="12189960" cy="476676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72000">
                <a:srgbClr val="a5a5a5"/>
              </a:gs>
              <a:gs pos="100000">
                <a:srgbClr val="173c90"/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65" name="Рисунок 9" descr="Изображение выглядит как текст, человек&#10;&#10;Автоматически созданное описание"/>
          <p:cNvPicPr/>
          <p:nvPr/>
        </p:nvPicPr>
        <p:blipFill>
          <a:blip r:embed="rId1"/>
          <a:srcRect l="15600" t="9331" r="40177" b="0"/>
          <a:stretch/>
        </p:blipFill>
        <p:spPr>
          <a:xfrm>
            <a:off x="0" y="718200"/>
            <a:ext cx="3643200" cy="4791240"/>
          </a:xfrm>
          <a:prstGeom prst="rect">
            <a:avLst/>
          </a:prstGeom>
          <a:noFill/>
          <a:ln w="12700">
            <a:noFill/>
          </a:ln>
        </p:spPr>
      </p:pic>
      <p:cxnSp>
        <p:nvCxnSpPr>
          <p:cNvPr id="66" name="Прямая соединительная линия 17"/>
          <p:cNvCxnSpPr/>
          <p:nvPr/>
        </p:nvCxnSpPr>
        <p:spPr>
          <a:xfrm>
            <a:off x="0" y="5509800"/>
            <a:ext cx="12193920" cy="2160"/>
          </a:xfrm>
          <a:prstGeom prst="straightConnector1">
            <a:avLst/>
          </a:prstGeom>
          <a:ln w="19050">
            <a:solidFill>
              <a:srgbClr val="173c90"/>
            </a:solidFill>
            <a:round/>
          </a:ln>
        </p:spPr>
      </p:cxnSp>
      <p:pic>
        <p:nvPicPr>
          <p:cNvPr id="67" name="Рисунок 18" descr="Изображение выглядит как текст&#10;&#10;Автоматически созданное описание"/>
          <p:cNvPicPr/>
          <p:nvPr/>
        </p:nvPicPr>
        <p:blipFill>
          <a:blip r:embed="rId2"/>
          <a:stretch/>
        </p:blipFill>
        <p:spPr>
          <a:xfrm>
            <a:off x="4167360" y="718200"/>
            <a:ext cx="2541960" cy="714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" name="TextBox 10"/>
          <p:cNvSpPr/>
          <p:nvPr/>
        </p:nvSpPr>
        <p:spPr>
          <a:xfrm>
            <a:off x="4167360" y="2345760"/>
            <a:ext cx="6366240" cy="20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ru-RU" sz="42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Параллельная реализация </a:t>
            </a:r>
            <a:endParaRPr b="0" lang="ru-RU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US" sz="42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QR</a:t>
            </a:r>
            <a:r>
              <a:rPr b="1" lang="ru-RU" sz="42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-разложения</a:t>
            </a:r>
            <a:endParaRPr b="0" lang="ru-RU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Прямоугольник 1"/>
          <p:cNvSpPr/>
          <p:nvPr/>
        </p:nvSpPr>
        <p:spPr>
          <a:xfrm>
            <a:off x="8889840" y="5509800"/>
            <a:ext cx="3301920" cy="143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Студентка группы 3824М1Пр1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Коробейникова Алиса Денисовна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Научный руководитель: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Баркалов Константин Александрович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b="0" lang="ru-RU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д.т.н., доц.</a:t>
            </a: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Скругленный прямоугольник 45"/>
          <p:cNvSpPr/>
          <p:nvPr/>
        </p:nvSpPr>
        <p:spPr>
          <a:xfrm>
            <a:off x="295560" y="225360"/>
            <a:ext cx="11598480" cy="7650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9050">
            <a:solidFill>
              <a:srgbClr val="173c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" name="TextBox 10"/>
          <p:cNvSpPr/>
          <p:nvPr/>
        </p:nvSpPr>
        <p:spPr>
          <a:xfrm rot="16200000">
            <a:off x="11179080" y="5500800"/>
            <a:ext cx="11034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400" strike="noStrike" u="none">
                <a:solidFill>
                  <a:srgbClr val="fa4012"/>
                </a:solidFill>
                <a:effectLst/>
                <a:uFillTx/>
                <a:latin typeface="Arial"/>
              </a:rPr>
              <a:t>06.2026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11"/>
          <p:cNvSpPr/>
          <p:nvPr/>
        </p:nvSpPr>
        <p:spPr>
          <a:xfrm>
            <a:off x="11467800" y="6314400"/>
            <a:ext cx="5799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ru-RU" sz="14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2/27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3" name="Прямая соединительная линия 15"/>
          <p:cNvCxnSpPr/>
          <p:nvPr/>
        </p:nvCxnSpPr>
        <p:spPr>
          <a:xfrm>
            <a:off x="11579040" y="6240600"/>
            <a:ext cx="290160" cy="2160"/>
          </a:xfrm>
          <a:prstGeom prst="straightConnector1">
            <a:avLst/>
          </a:prstGeom>
          <a:ln w="19050">
            <a:solidFill>
              <a:srgbClr val="173c90"/>
            </a:solidFill>
            <a:round/>
          </a:ln>
        </p:spPr>
      </p:cxnSp>
      <p:sp>
        <p:nvSpPr>
          <p:cNvPr id="74" name="TextBox 38"/>
          <p:cNvSpPr/>
          <p:nvPr/>
        </p:nvSpPr>
        <p:spPr>
          <a:xfrm>
            <a:off x="375480" y="456480"/>
            <a:ext cx="159768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2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QR-</a:t>
            </a:r>
            <a:r>
              <a:rPr b="1" lang="ru-RU" sz="12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разложение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39"/>
          <p:cNvSpPr/>
          <p:nvPr/>
        </p:nvSpPr>
        <p:spPr>
          <a:xfrm>
            <a:off x="1974960" y="456480"/>
            <a:ext cx="224964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2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Описание разложения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6" name="Прямая соединительная линия 41"/>
          <p:cNvCxnSpPr/>
          <p:nvPr/>
        </p:nvCxnSpPr>
        <p:spPr>
          <a:xfrm>
            <a:off x="4190760" y="607680"/>
            <a:ext cx="2186280" cy="2160"/>
          </a:xfrm>
          <a:prstGeom prst="straightConnector1">
            <a:avLst/>
          </a:prstGeom>
          <a:ln w="19050">
            <a:solidFill>
              <a:srgbClr val="173c90"/>
            </a:solidFill>
            <a:round/>
          </a:ln>
        </p:spPr>
      </p:cxnSp>
      <p:cxnSp>
        <p:nvCxnSpPr>
          <p:cNvPr id="77" name="Прямая соединительная линия 42"/>
          <p:cNvCxnSpPr/>
          <p:nvPr/>
        </p:nvCxnSpPr>
        <p:spPr>
          <a:xfrm>
            <a:off x="6374880" y="466200"/>
            <a:ext cx="2160" cy="290160"/>
          </a:xfrm>
          <a:prstGeom prst="straightConnector1">
            <a:avLst/>
          </a:prstGeom>
          <a:ln w="19050">
            <a:solidFill>
              <a:srgbClr val="173c90"/>
            </a:solidFill>
            <a:round/>
          </a:ln>
        </p:spPr>
      </p:cxnSp>
      <p:cxnSp>
        <p:nvCxnSpPr>
          <p:cNvPr id="78" name="Прямая соединительная линия 46"/>
          <p:cNvCxnSpPr/>
          <p:nvPr/>
        </p:nvCxnSpPr>
        <p:spPr>
          <a:xfrm>
            <a:off x="9295560" y="466200"/>
            <a:ext cx="2160" cy="290160"/>
          </a:xfrm>
          <a:prstGeom prst="straightConnector1">
            <a:avLst/>
          </a:prstGeom>
          <a:ln w="19050">
            <a:solidFill>
              <a:srgbClr val="173c90"/>
            </a:solidFill>
            <a:round/>
          </a:ln>
        </p:spPr>
      </p:cxnSp>
      <p:sp>
        <p:nvSpPr>
          <p:cNvPr id="79" name="TextBox 8"/>
          <p:cNvSpPr/>
          <p:nvPr/>
        </p:nvSpPr>
        <p:spPr>
          <a:xfrm>
            <a:off x="375480" y="1093680"/>
            <a:ext cx="4618080" cy="36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Описание разложения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9"/>
          <p:cNvSpPr/>
          <p:nvPr/>
        </p:nvSpPr>
        <p:spPr>
          <a:xfrm>
            <a:off x="293040" y="1463040"/>
            <a:ext cx="9941400" cy="355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QR</a:t>
            </a: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-разложение матрицы – представление матрицы в виде произведения унитарной Q Q†Q=QQ†=E, где E — единичная (или ортогональной, в вещественном случае,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Q</a:t>
            </a:r>
            <a:r>
              <a:rPr b="0" lang="ru-RU" sz="1800" strike="noStrike" u="none" baseline="33000">
                <a:solidFill>
                  <a:schemeClr val="dk1"/>
                </a:solidFill>
                <a:effectLst/>
                <a:uFillTx/>
                <a:latin typeface="Arial"/>
              </a:rPr>
              <a:t>T</a:t>
            </a: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Q=E) и верхнетреугольной матрицы 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R</a:t>
            </a: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.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Если при этом A невырождена, то QR-разложение единственно и матрица R может быть выбрана так, чтобы её диагональные элементы были положительными вещественными числами. 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1" name="Рисунок 12" descr="Изображение выглядит как текст&#10;&#10;Автоматически созданное описание"/>
          <p:cNvPicPr/>
          <p:nvPr/>
        </p:nvPicPr>
        <p:blipFill>
          <a:blip r:embed="rId1"/>
          <a:stretch/>
        </p:blipFill>
        <p:spPr>
          <a:xfrm>
            <a:off x="7077960" y="389520"/>
            <a:ext cx="1605600" cy="450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2" name="Рисунок 13" descr="Изображение выглядит как текст, красный, знак, оранжевый&#10;&#10;Автоматически созданное описание"/>
          <p:cNvPicPr/>
          <p:nvPr/>
        </p:nvPicPr>
        <p:blipFill>
          <a:blip r:embed="rId2"/>
          <a:stretch/>
        </p:blipFill>
        <p:spPr>
          <a:xfrm>
            <a:off x="9810000" y="476280"/>
            <a:ext cx="1666080" cy="322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3" name="Picture 2" descr="Picture background"/>
          <p:cNvPicPr/>
          <p:nvPr/>
        </p:nvPicPr>
        <p:blipFill>
          <a:blip r:embed="rId3"/>
          <a:srcRect l="0" t="2763" r="3818" b="8002"/>
          <a:stretch/>
        </p:blipFill>
        <p:spPr>
          <a:xfrm>
            <a:off x="5141880" y="4089600"/>
            <a:ext cx="5947920" cy="2729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Скругленный прямоугольник 45"/>
          <p:cNvSpPr/>
          <p:nvPr/>
        </p:nvSpPr>
        <p:spPr>
          <a:xfrm>
            <a:off x="295560" y="225360"/>
            <a:ext cx="11598480" cy="7650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9050">
            <a:solidFill>
              <a:srgbClr val="173c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" name="TextBox 10"/>
          <p:cNvSpPr/>
          <p:nvPr/>
        </p:nvSpPr>
        <p:spPr>
          <a:xfrm rot="16200000">
            <a:off x="11179080" y="5500800"/>
            <a:ext cx="11034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400" strike="noStrike" u="none">
                <a:solidFill>
                  <a:srgbClr val="fa4012"/>
                </a:solidFill>
                <a:effectLst/>
                <a:uFillTx/>
                <a:latin typeface="Arial"/>
              </a:rPr>
              <a:t>06.2026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6" name="Прямая соединительная линия 15"/>
          <p:cNvCxnSpPr/>
          <p:nvPr/>
        </p:nvCxnSpPr>
        <p:spPr>
          <a:xfrm>
            <a:off x="11579040" y="6240600"/>
            <a:ext cx="290160" cy="2160"/>
          </a:xfrm>
          <a:prstGeom prst="straightConnector1">
            <a:avLst/>
          </a:prstGeom>
          <a:ln w="19050">
            <a:solidFill>
              <a:srgbClr val="173c90"/>
            </a:solidFill>
            <a:round/>
          </a:ln>
        </p:spPr>
      </p:cxnSp>
      <p:sp>
        <p:nvSpPr>
          <p:cNvPr id="87" name="TextBox 38"/>
          <p:cNvSpPr/>
          <p:nvPr/>
        </p:nvSpPr>
        <p:spPr>
          <a:xfrm>
            <a:off x="375480" y="456480"/>
            <a:ext cx="159768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2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QR-</a:t>
            </a:r>
            <a:r>
              <a:rPr b="1" lang="ru-RU" sz="12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разложение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39"/>
          <p:cNvSpPr/>
          <p:nvPr/>
        </p:nvSpPr>
        <p:spPr>
          <a:xfrm>
            <a:off x="1974960" y="456480"/>
            <a:ext cx="22496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2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Применение и получение разложения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9" name="Прямая соединительная линия 41"/>
          <p:cNvCxnSpPr/>
          <p:nvPr/>
        </p:nvCxnSpPr>
        <p:spPr>
          <a:xfrm>
            <a:off x="4190760" y="607680"/>
            <a:ext cx="2186280" cy="2160"/>
          </a:xfrm>
          <a:prstGeom prst="straightConnector1">
            <a:avLst/>
          </a:prstGeom>
          <a:ln w="19050">
            <a:solidFill>
              <a:srgbClr val="173c90"/>
            </a:solidFill>
            <a:round/>
          </a:ln>
        </p:spPr>
      </p:cxnSp>
      <p:cxnSp>
        <p:nvCxnSpPr>
          <p:cNvPr id="90" name="Прямая соединительная линия 42"/>
          <p:cNvCxnSpPr/>
          <p:nvPr/>
        </p:nvCxnSpPr>
        <p:spPr>
          <a:xfrm>
            <a:off x="6374880" y="466200"/>
            <a:ext cx="2160" cy="290160"/>
          </a:xfrm>
          <a:prstGeom prst="straightConnector1">
            <a:avLst/>
          </a:prstGeom>
          <a:ln w="19050">
            <a:solidFill>
              <a:srgbClr val="173c90"/>
            </a:solidFill>
            <a:round/>
          </a:ln>
        </p:spPr>
      </p:cxnSp>
      <p:cxnSp>
        <p:nvCxnSpPr>
          <p:cNvPr id="91" name="Прямая соединительная линия 46"/>
          <p:cNvCxnSpPr/>
          <p:nvPr/>
        </p:nvCxnSpPr>
        <p:spPr>
          <a:xfrm>
            <a:off x="9295560" y="466200"/>
            <a:ext cx="2160" cy="290160"/>
          </a:xfrm>
          <a:prstGeom prst="straightConnector1">
            <a:avLst/>
          </a:prstGeom>
          <a:ln w="19050">
            <a:solidFill>
              <a:srgbClr val="173c90"/>
            </a:solidFill>
            <a:round/>
          </a:ln>
        </p:spPr>
      </p:cxnSp>
      <p:sp>
        <p:nvSpPr>
          <p:cNvPr id="92" name="TextBox 8"/>
          <p:cNvSpPr/>
          <p:nvPr/>
        </p:nvSpPr>
        <p:spPr>
          <a:xfrm>
            <a:off x="375480" y="1045440"/>
            <a:ext cx="4618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Применение и получение разложения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9"/>
          <p:cNvSpPr/>
          <p:nvPr/>
        </p:nvSpPr>
        <p:spPr>
          <a:xfrm>
            <a:off x="311400" y="1694520"/>
            <a:ext cx="11583000" cy="450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QR-разложение является основой одного из методов поиска собственных векторов и чисел матрицы — QR-алгоритма. С помощью разложения можно решить линейную задачу наименьших квадратов.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Также с помощью QR-разложения можно решать СЛАУ Ax = b: если известно QR-разложение матрицы, исходная система может быть записана как QRx=b. Решением этой задачи является решение треугольной системы Rx=Q</a:t>
            </a:r>
            <a:r>
              <a:rPr b="0" lang="ru-RU" sz="1800" strike="noStrike" u="none" baseline="33000">
                <a:solidFill>
                  <a:schemeClr val="dk1"/>
                </a:solidFill>
                <a:effectLst/>
                <a:uFillTx/>
                <a:latin typeface="Arial"/>
              </a:rPr>
              <a:t>T</a:t>
            </a: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b. Эта система может быть решена с помощью обратной подстановки, поскольку R – верхняя треугольная матрица.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QR-разложение может быть получено различными методами. Проще всего оно может быть вычислено в процессе ортогонализации Грама-Шмидта. Другие методы QR-разложения основаны на отражениях Хаусхолдера и вращениях Гивенса. Все перечисленные методы имеют ряд ограничений для применения.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4" name="Рисунок 12" descr="Изображение выглядит как текст&#10;&#10;Автоматически созданное описание"/>
          <p:cNvPicPr/>
          <p:nvPr/>
        </p:nvPicPr>
        <p:blipFill>
          <a:blip r:embed="rId1"/>
          <a:stretch/>
        </p:blipFill>
        <p:spPr>
          <a:xfrm>
            <a:off x="7077960" y="389520"/>
            <a:ext cx="1605600" cy="450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5" name="Рисунок 13" descr="Изображение выглядит как текст, красный, знак, оранжевый&#10;&#10;Автоматически созданное описание"/>
          <p:cNvPicPr/>
          <p:nvPr/>
        </p:nvPicPr>
        <p:blipFill>
          <a:blip r:embed="rId2"/>
          <a:stretch/>
        </p:blipFill>
        <p:spPr>
          <a:xfrm>
            <a:off x="9810000" y="476280"/>
            <a:ext cx="1666080" cy="32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" name="TextBox 121"/>
          <p:cNvSpPr/>
          <p:nvPr/>
        </p:nvSpPr>
        <p:spPr>
          <a:xfrm>
            <a:off x="11467800" y="6314400"/>
            <a:ext cx="5799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ru-RU" sz="14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3/27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Скругленный прямоугольник 10"/>
          <p:cNvSpPr/>
          <p:nvPr/>
        </p:nvSpPr>
        <p:spPr>
          <a:xfrm>
            <a:off x="295560" y="225360"/>
            <a:ext cx="11598480" cy="7650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9050">
            <a:solidFill>
              <a:srgbClr val="173c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" name="TextBox 59"/>
          <p:cNvSpPr/>
          <p:nvPr/>
        </p:nvSpPr>
        <p:spPr>
          <a:xfrm rot="16200000">
            <a:off x="11179080" y="5500800"/>
            <a:ext cx="11034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400" strike="noStrike" u="none">
                <a:solidFill>
                  <a:srgbClr val="fa4012"/>
                </a:solidFill>
                <a:effectLst/>
                <a:uFillTx/>
                <a:latin typeface="Arial"/>
              </a:rPr>
              <a:t>06.2026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9" name="Прямая соединительная линия 35"/>
          <p:cNvCxnSpPr/>
          <p:nvPr/>
        </p:nvCxnSpPr>
        <p:spPr>
          <a:xfrm>
            <a:off x="11579040" y="6240600"/>
            <a:ext cx="290160" cy="2160"/>
          </a:xfrm>
          <a:prstGeom prst="straightConnector1">
            <a:avLst/>
          </a:prstGeom>
          <a:ln w="19050">
            <a:solidFill>
              <a:srgbClr val="173c90"/>
            </a:solidFill>
            <a:round/>
          </a:ln>
        </p:spPr>
      </p:cxnSp>
      <p:sp>
        <p:nvSpPr>
          <p:cNvPr id="100" name="TextBox 60"/>
          <p:cNvSpPr/>
          <p:nvPr/>
        </p:nvSpPr>
        <p:spPr>
          <a:xfrm>
            <a:off x="375480" y="456480"/>
            <a:ext cx="15976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2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QR-</a:t>
            </a:r>
            <a:r>
              <a:rPr b="1" lang="ru-RU" sz="12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разложение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61"/>
          <p:cNvSpPr/>
          <p:nvPr/>
        </p:nvSpPr>
        <p:spPr>
          <a:xfrm>
            <a:off x="1974960" y="456480"/>
            <a:ext cx="22496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2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Обзор методов получения разложения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2" name="Прямая соединительная линия 36"/>
          <p:cNvCxnSpPr/>
          <p:nvPr/>
        </p:nvCxnSpPr>
        <p:spPr>
          <a:xfrm>
            <a:off x="4190760" y="607680"/>
            <a:ext cx="2186280" cy="2160"/>
          </a:xfrm>
          <a:prstGeom prst="straightConnector1">
            <a:avLst/>
          </a:prstGeom>
          <a:ln w="19050">
            <a:solidFill>
              <a:srgbClr val="173c90"/>
            </a:solidFill>
            <a:round/>
          </a:ln>
        </p:spPr>
      </p:cxnSp>
      <p:cxnSp>
        <p:nvCxnSpPr>
          <p:cNvPr id="103" name="Прямая соединительная линия 37"/>
          <p:cNvCxnSpPr/>
          <p:nvPr/>
        </p:nvCxnSpPr>
        <p:spPr>
          <a:xfrm>
            <a:off x="6374880" y="466200"/>
            <a:ext cx="2160" cy="290160"/>
          </a:xfrm>
          <a:prstGeom prst="straightConnector1">
            <a:avLst/>
          </a:prstGeom>
          <a:ln w="19050">
            <a:solidFill>
              <a:srgbClr val="173c90"/>
            </a:solidFill>
            <a:round/>
          </a:ln>
        </p:spPr>
      </p:cxnSp>
      <p:cxnSp>
        <p:nvCxnSpPr>
          <p:cNvPr id="104" name="Прямая соединительная линия 38"/>
          <p:cNvCxnSpPr/>
          <p:nvPr/>
        </p:nvCxnSpPr>
        <p:spPr>
          <a:xfrm>
            <a:off x="9295560" y="466200"/>
            <a:ext cx="2160" cy="290160"/>
          </a:xfrm>
          <a:prstGeom prst="straightConnector1">
            <a:avLst/>
          </a:prstGeom>
          <a:ln w="19050">
            <a:solidFill>
              <a:srgbClr val="173c90"/>
            </a:solidFill>
            <a:round/>
          </a:ln>
        </p:spPr>
      </p:cxnSp>
      <p:sp>
        <p:nvSpPr>
          <p:cNvPr id="105" name="TextBox 62"/>
          <p:cNvSpPr/>
          <p:nvPr/>
        </p:nvSpPr>
        <p:spPr>
          <a:xfrm>
            <a:off x="375480" y="1045440"/>
            <a:ext cx="4618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Обзор методов получения разложения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63"/>
          <p:cNvSpPr/>
          <p:nvPr/>
        </p:nvSpPr>
        <p:spPr>
          <a:xfrm>
            <a:off x="311400" y="1694520"/>
            <a:ext cx="11583000" cy="426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50000"/>
              </a:lnSpc>
              <a:spcBef>
                <a:spcPts val="1735"/>
              </a:spcBef>
              <a:spcAft>
                <a:spcPts val="1735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Процесс ортогонализации Грама-Шмидта: сложность O(N</a:t>
            </a:r>
            <a:r>
              <a:rPr b="0" lang="ru-RU" sz="1800" strike="noStrike" u="none" baseline="33000">
                <a:solidFill>
                  <a:schemeClr val="dk1"/>
                </a:solidFill>
                <a:effectLst/>
                <a:uFillTx/>
                <a:latin typeface="Arial"/>
              </a:rPr>
              <a:t>3</a:t>
            </a: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); практически не поддаётся распараллеливанию; требует явного хранения Q; численно неустойчив, в большинстве случаев приводит к нарушению ортогональности.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50000"/>
              </a:lnSpc>
              <a:spcBef>
                <a:spcPts val="1735"/>
              </a:spcBef>
              <a:spcAft>
                <a:spcPts val="1735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Отражения Хаусхолдера имеют сложность приблизительно O(N³); численно устойчив. Является основным методом для разложения плотных матриц общего вида. Из-за действий над целыми столбцами неэффективен для разреженных матриц, так как не учитывает уже занулённые значения.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50000"/>
              </a:lnSpc>
              <a:spcBef>
                <a:spcPts val="1735"/>
              </a:spcBef>
              <a:spcAft>
                <a:spcPts val="1735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Microsoft YaHei"/>
              </a:rPr>
              <a:t>Вращения Гивенса имеют сложность O(N³); численно устойчив; лучше всего подходит для разреженных и ленточных матриц, так как позволяет обнулять отдельные элементы, не затрагивая другие. 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7" name="Рисунок 22" descr="Изображение выглядит как текст&#10;&#10;Автоматически созданное описание"/>
          <p:cNvPicPr/>
          <p:nvPr/>
        </p:nvPicPr>
        <p:blipFill>
          <a:blip r:embed="rId1"/>
          <a:stretch/>
        </p:blipFill>
        <p:spPr>
          <a:xfrm>
            <a:off x="7077960" y="389520"/>
            <a:ext cx="1605600" cy="450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8" name="Рисунок 23" descr="Изображение выглядит как текст, красный, знак, оранжевый&#10;&#10;Автоматически созданное описание"/>
          <p:cNvPicPr/>
          <p:nvPr/>
        </p:nvPicPr>
        <p:blipFill>
          <a:blip r:embed="rId2"/>
          <a:stretch/>
        </p:blipFill>
        <p:spPr>
          <a:xfrm>
            <a:off x="9810000" y="476280"/>
            <a:ext cx="1666080" cy="32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TextBox 64"/>
          <p:cNvSpPr/>
          <p:nvPr/>
        </p:nvSpPr>
        <p:spPr>
          <a:xfrm>
            <a:off x="11467800" y="6314400"/>
            <a:ext cx="5799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ru-RU" sz="14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4/27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Скругленный прямоугольник 45"/>
          <p:cNvSpPr/>
          <p:nvPr/>
        </p:nvSpPr>
        <p:spPr>
          <a:xfrm>
            <a:off x="295560" y="225360"/>
            <a:ext cx="11598480" cy="7650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9050">
            <a:solidFill>
              <a:srgbClr val="173c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1" name="TextBox 10"/>
          <p:cNvSpPr/>
          <p:nvPr/>
        </p:nvSpPr>
        <p:spPr>
          <a:xfrm rot="16200000">
            <a:off x="11179080" y="5500800"/>
            <a:ext cx="11034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400" strike="noStrike" u="none">
                <a:solidFill>
                  <a:srgbClr val="fa4012"/>
                </a:solidFill>
                <a:effectLst/>
                <a:uFillTx/>
                <a:latin typeface="Arial"/>
              </a:rPr>
              <a:t>06.2026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2" name="Прямая соединительная линия 15"/>
          <p:cNvCxnSpPr/>
          <p:nvPr/>
        </p:nvCxnSpPr>
        <p:spPr>
          <a:xfrm>
            <a:off x="11579040" y="6240600"/>
            <a:ext cx="290160" cy="2160"/>
          </a:xfrm>
          <a:prstGeom prst="straightConnector1">
            <a:avLst/>
          </a:prstGeom>
          <a:ln w="19050">
            <a:solidFill>
              <a:srgbClr val="173c90"/>
            </a:solidFill>
            <a:round/>
          </a:ln>
        </p:spPr>
      </p:cxnSp>
      <p:sp>
        <p:nvSpPr>
          <p:cNvPr id="113" name="TextBox 38"/>
          <p:cNvSpPr/>
          <p:nvPr/>
        </p:nvSpPr>
        <p:spPr>
          <a:xfrm>
            <a:off x="375480" y="456480"/>
            <a:ext cx="15976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2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QR-</a:t>
            </a:r>
            <a:r>
              <a:rPr b="1" lang="ru-RU" sz="12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разложение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39"/>
          <p:cNvSpPr/>
          <p:nvPr/>
        </p:nvSpPr>
        <p:spPr>
          <a:xfrm>
            <a:off x="1974960" y="456480"/>
            <a:ext cx="22496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2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Постановка задачи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5" name="Прямая соединительная линия 41"/>
          <p:cNvCxnSpPr/>
          <p:nvPr/>
        </p:nvCxnSpPr>
        <p:spPr>
          <a:xfrm>
            <a:off x="4190760" y="607680"/>
            <a:ext cx="2186280" cy="2160"/>
          </a:xfrm>
          <a:prstGeom prst="straightConnector1">
            <a:avLst/>
          </a:prstGeom>
          <a:ln w="19050">
            <a:solidFill>
              <a:srgbClr val="173c90"/>
            </a:solidFill>
            <a:round/>
          </a:ln>
        </p:spPr>
      </p:cxnSp>
      <p:cxnSp>
        <p:nvCxnSpPr>
          <p:cNvPr id="116" name="Прямая соединительная линия 42"/>
          <p:cNvCxnSpPr/>
          <p:nvPr/>
        </p:nvCxnSpPr>
        <p:spPr>
          <a:xfrm>
            <a:off x="6374880" y="466200"/>
            <a:ext cx="2160" cy="290160"/>
          </a:xfrm>
          <a:prstGeom prst="straightConnector1">
            <a:avLst/>
          </a:prstGeom>
          <a:ln w="19050">
            <a:solidFill>
              <a:srgbClr val="173c90"/>
            </a:solidFill>
            <a:round/>
          </a:ln>
        </p:spPr>
      </p:cxnSp>
      <p:cxnSp>
        <p:nvCxnSpPr>
          <p:cNvPr id="117" name="Прямая соединительная линия 46"/>
          <p:cNvCxnSpPr/>
          <p:nvPr/>
        </p:nvCxnSpPr>
        <p:spPr>
          <a:xfrm>
            <a:off x="9295560" y="466200"/>
            <a:ext cx="2160" cy="290160"/>
          </a:xfrm>
          <a:prstGeom prst="straightConnector1">
            <a:avLst/>
          </a:prstGeom>
          <a:ln w="19050">
            <a:solidFill>
              <a:srgbClr val="173c90"/>
            </a:solidFill>
            <a:round/>
          </a:ln>
        </p:spPr>
      </p:cxnSp>
      <p:sp>
        <p:nvSpPr>
          <p:cNvPr id="118" name="TextBox 8"/>
          <p:cNvSpPr/>
          <p:nvPr/>
        </p:nvSpPr>
        <p:spPr>
          <a:xfrm>
            <a:off x="375480" y="1045440"/>
            <a:ext cx="76003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Постановка задачи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9" name="Рисунок 12" descr="Изображение выглядит как текст&#10;&#10;Автоматически созданное описание"/>
          <p:cNvPicPr/>
          <p:nvPr/>
        </p:nvPicPr>
        <p:blipFill>
          <a:blip r:embed="rId1"/>
          <a:stretch/>
        </p:blipFill>
        <p:spPr>
          <a:xfrm>
            <a:off x="7077960" y="389520"/>
            <a:ext cx="1605600" cy="450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0" name="Рисунок 13" descr="Изображение выглядит как текст, красный, знак, оранжевый&#10;&#10;Автоматически созданное описание"/>
          <p:cNvPicPr/>
          <p:nvPr/>
        </p:nvPicPr>
        <p:blipFill>
          <a:blip r:embed="rId2"/>
          <a:stretch/>
        </p:blipFill>
        <p:spPr>
          <a:xfrm>
            <a:off x="9810000" y="476280"/>
            <a:ext cx="1666080" cy="32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" name="TextBox 1"/>
          <p:cNvSpPr/>
          <p:nvPr/>
        </p:nvSpPr>
        <p:spPr>
          <a:xfrm>
            <a:off x="311400" y="1694520"/>
            <a:ext cx="11583000" cy="425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Необходимо реализовать эффективные программные алгоритмы QR-разложения квадратной матрицы A с помощью методов отражений Хаусхолдера и вращений Гивенса, используя различные аппаратные оптимизации, а также применяя, где это возможно, параллелизм. Разработать несколько версий, сравнить их работу друг с другом.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Для разработки использовать язык Си++ и технологии OpenMP для обеспечения параллельного исполнения кода.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В качестве примера приложения QR-разложения на практике выполнить решение задачи QR-разложения хессенберговых матриц, верхней и нижней.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Сравнить работу алгоритма с известными реализациями в сторонних библиотеках.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Box 122"/>
          <p:cNvSpPr/>
          <p:nvPr/>
        </p:nvSpPr>
        <p:spPr>
          <a:xfrm>
            <a:off x="11467800" y="6314400"/>
            <a:ext cx="5799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ru-RU" sz="14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5/27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Скругленный прямоугольник 45"/>
          <p:cNvSpPr/>
          <p:nvPr/>
        </p:nvSpPr>
        <p:spPr>
          <a:xfrm>
            <a:off x="295560" y="225360"/>
            <a:ext cx="11598480" cy="7650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9050">
            <a:solidFill>
              <a:srgbClr val="173c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" name="TextBox 10"/>
          <p:cNvSpPr/>
          <p:nvPr/>
        </p:nvSpPr>
        <p:spPr>
          <a:xfrm rot="16200000">
            <a:off x="11179080" y="5500800"/>
            <a:ext cx="11034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400" strike="noStrike" u="none">
                <a:solidFill>
                  <a:srgbClr val="fa4012"/>
                </a:solidFill>
                <a:effectLst/>
                <a:uFillTx/>
                <a:latin typeface="Arial"/>
              </a:rPr>
              <a:t>06.2025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5" name="Прямая соединительная линия 15"/>
          <p:cNvCxnSpPr/>
          <p:nvPr/>
        </p:nvCxnSpPr>
        <p:spPr>
          <a:xfrm>
            <a:off x="11579040" y="6240600"/>
            <a:ext cx="290160" cy="2160"/>
          </a:xfrm>
          <a:prstGeom prst="straightConnector1">
            <a:avLst/>
          </a:prstGeom>
          <a:ln w="19050">
            <a:solidFill>
              <a:srgbClr val="173c90"/>
            </a:solidFill>
            <a:round/>
          </a:ln>
        </p:spPr>
      </p:cxnSp>
      <p:sp>
        <p:nvSpPr>
          <p:cNvPr id="126" name="TextBox 38"/>
          <p:cNvSpPr/>
          <p:nvPr/>
        </p:nvSpPr>
        <p:spPr>
          <a:xfrm>
            <a:off x="375480" y="456480"/>
            <a:ext cx="15976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2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QR-</a:t>
            </a:r>
            <a:r>
              <a:rPr b="1" lang="ru-RU" sz="12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разложение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Box 39"/>
          <p:cNvSpPr/>
          <p:nvPr/>
        </p:nvSpPr>
        <p:spPr>
          <a:xfrm>
            <a:off x="1762560" y="456480"/>
            <a:ext cx="2462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2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Проверка корректности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8" name="Прямая соединительная линия 41"/>
          <p:cNvCxnSpPr/>
          <p:nvPr/>
        </p:nvCxnSpPr>
        <p:spPr>
          <a:xfrm>
            <a:off x="4190760" y="607680"/>
            <a:ext cx="2186280" cy="2160"/>
          </a:xfrm>
          <a:prstGeom prst="straightConnector1">
            <a:avLst/>
          </a:prstGeom>
          <a:ln w="19050">
            <a:solidFill>
              <a:srgbClr val="173c90"/>
            </a:solidFill>
            <a:round/>
          </a:ln>
        </p:spPr>
      </p:cxnSp>
      <p:cxnSp>
        <p:nvCxnSpPr>
          <p:cNvPr id="129" name="Прямая соединительная линия 42"/>
          <p:cNvCxnSpPr/>
          <p:nvPr/>
        </p:nvCxnSpPr>
        <p:spPr>
          <a:xfrm>
            <a:off x="6374880" y="466200"/>
            <a:ext cx="2160" cy="290160"/>
          </a:xfrm>
          <a:prstGeom prst="straightConnector1">
            <a:avLst/>
          </a:prstGeom>
          <a:ln w="19050">
            <a:solidFill>
              <a:srgbClr val="173c90"/>
            </a:solidFill>
            <a:round/>
          </a:ln>
        </p:spPr>
      </p:cxnSp>
      <p:cxnSp>
        <p:nvCxnSpPr>
          <p:cNvPr id="130" name="Прямая соединительная линия 46"/>
          <p:cNvCxnSpPr/>
          <p:nvPr/>
        </p:nvCxnSpPr>
        <p:spPr>
          <a:xfrm>
            <a:off x="9295560" y="466200"/>
            <a:ext cx="2160" cy="290160"/>
          </a:xfrm>
          <a:prstGeom prst="straightConnector1">
            <a:avLst/>
          </a:prstGeom>
          <a:ln w="19050">
            <a:solidFill>
              <a:srgbClr val="173c90"/>
            </a:solidFill>
            <a:round/>
          </a:ln>
        </p:spPr>
      </p:cxnSp>
      <p:sp>
        <p:nvSpPr>
          <p:cNvPr id="131" name="TextBox 8"/>
          <p:cNvSpPr/>
          <p:nvPr/>
        </p:nvSpPr>
        <p:spPr>
          <a:xfrm>
            <a:off x="375480" y="1045440"/>
            <a:ext cx="76003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Проверка корректности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Box 9"/>
          <p:cNvSpPr/>
          <p:nvPr/>
        </p:nvSpPr>
        <p:spPr>
          <a:xfrm>
            <a:off x="801000" y="1772280"/>
            <a:ext cx="10588320" cy="417744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ru-RU" sz="1800" strike="noStrike" u="none">
                <a:solidFill>
                  <a:srgbClr val="ffffff">
                    <a:alpha val="1000"/>
                  </a:srgbClr>
                </a:solidFill>
                <a:effectLst/>
                <a:uFillTx/>
                <a:latin typeface="Calibri"/>
              </a:rPr>
              <a:t> 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3" name="Рисунок 12" descr="Изображение выглядит как текст&#10;&#10;Автоматически созданное описание"/>
          <p:cNvPicPr/>
          <p:nvPr/>
        </p:nvPicPr>
        <p:blipFill>
          <a:blip r:embed="rId2"/>
          <a:stretch/>
        </p:blipFill>
        <p:spPr>
          <a:xfrm>
            <a:off x="7077960" y="389520"/>
            <a:ext cx="1605600" cy="450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4" name="Рисунок 13" descr="Изображение выглядит как текст, красный, знак, оранжевый&#10;&#10;Автоматически созданное описание"/>
          <p:cNvPicPr/>
          <p:nvPr/>
        </p:nvPicPr>
        <p:blipFill>
          <a:blip r:embed="rId3"/>
          <a:stretch/>
        </p:blipFill>
        <p:spPr>
          <a:xfrm>
            <a:off x="9810000" y="476280"/>
            <a:ext cx="1666080" cy="32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5" name="TextBox 123"/>
          <p:cNvSpPr/>
          <p:nvPr/>
        </p:nvSpPr>
        <p:spPr>
          <a:xfrm>
            <a:off x="11467800" y="6314400"/>
            <a:ext cx="5799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ru-RU" sz="14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6/27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Скругленный прямоугольник 45"/>
          <p:cNvSpPr/>
          <p:nvPr/>
        </p:nvSpPr>
        <p:spPr>
          <a:xfrm>
            <a:off x="295560" y="225360"/>
            <a:ext cx="11598480" cy="7650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9050">
            <a:solidFill>
              <a:srgbClr val="173c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" name="TextBox 10"/>
          <p:cNvSpPr/>
          <p:nvPr/>
        </p:nvSpPr>
        <p:spPr>
          <a:xfrm rot="16200000">
            <a:off x="11179080" y="5500800"/>
            <a:ext cx="11034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400" strike="noStrike" u="none">
                <a:solidFill>
                  <a:srgbClr val="fa4012"/>
                </a:solidFill>
                <a:effectLst/>
                <a:uFillTx/>
                <a:latin typeface="Arial"/>
              </a:rPr>
              <a:t>06.2026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8" name="Прямая соединительная линия 15"/>
          <p:cNvCxnSpPr/>
          <p:nvPr/>
        </p:nvCxnSpPr>
        <p:spPr>
          <a:xfrm>
            <a:off x="11579040" y="6240600"/>
            <a:ext cx="290160" cy="2160"/>
          </a:xfrm>
          <a:prstGeom prst="straightConnector1">
            <a:avLst/>
          </a:prstGeom>
          <a:ln w="19050">
            <a:solidFill>
              <a:srgbClr val="173c90"/>
            </a:solidFill>
            <a:round/>
          </a:ln>
        </p:spPr>
      </p:cxnSp>
      <p:sp>
        <p:nvSpPr>
          <p:cNvPr id="139" name="TextBox 38"/>
          <p:cNvSpPr/>
          <p:nvPr/>
        </p:nvSpPr>
        <p:spPr>
          <a:xfrm>
            <a:off x="375480" y="456480"/>
            <a:ext cx="159768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2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QR-</a:t>
            </a:r>
            <a:r>
              <a:rPr b="1" lang="ru-RU" sz="12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разложение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Box 39"/>
          <p:cNvSpPr/>
          <p:nvPr/>
        </p:nvSpPr>
        <p:spPr>
          <a:xfrm>
            <a:off x="1974960" y="456480"/>
            <a:ext cx="22496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2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Метод отражений Хаусхолдера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1" name="Прямая соединительная линия 41"/>
          <p:cNvCxnSpPr/>
          <p:nvPr/>
        </p:nvCxnSpPr>
        <p:spPr>
          <a:xfrm>
            <a:off x="4190760" y="607680"/>
            <a:ext cx="2186280" cy="2160"/>
          </a:xfrm>
          <a:prstGeom prst="straightConnector1">
            <a:avLst/>
          </a:prstGeom>
          <a:ln w="19050">
            <a:solidFill>
              <a:srgbClr val="173c90"/>
            </a:solidFill>
            <a:round/>
          </a:ln>
        </p:spPr>
      </p:cxnSp>
      <p:cxnSp>
        <p:nvCxnSpPr>
          <p:cNvPr id="142" name="Прямая соединительная линия 42"/>
          <p:cNvCxnSpPr/>
          <p:nvPr/>
        </p:nvCxnSpPr>
        <p:spPr>
          <a:xfrm>
            <a:off x="6374880" y="466200"/>
            <a:ext cx="2160" cy="290160"/>
          </a:xfrm>
          <a:prstGeom prst="straightConnector1">
            <a:avLst/>
          </a:prstGeom>
          <a:ln w="19050">
            <a:solidFill>
              <a:srgbClr val="173c90"/>
            </a:solidFill>
            <a:round/>
          </a:ln>
        </p:spPr>
      </p:cxnSp>
      <p:cxnSp>
        <p:nvCxnSpPr>
          <p:cNvPr id="143" name="Прямая соединительная линия 46"/>
          <p:cNvCxnSpPr/>
          <p:nvPr/>
        </p:nvCxnSpPr>
        <p:spPr>
          <a:xfrm>
            <a:off x="9295560" y="466200"/>
            <a:ext cx="2160" cy="290160"/>
          </a:xfrm>
          <a:prstGeom prst="straightConnector1">
            <a:avLst/>
          </a:prstGeom>
          <a:ln w="19050">
            <a:solidFill>
              <a:srgbClr val="173c90"/>
            </a:solidFill>
            <a:round/>
          </a:ln>
        </p:spPr>
      </p:cxnSp>
      <p:sp>
        <p:nvSpPr>
          <p:cNvPr id="144" name="TextBox 8"/>
          <p:cNvSpPr/>
          <p:nvPr/>
        </p:nvSpPr>
        <p:spPr>
          <a:xfrm>
            <a:off x="375480" y="1045440"/>
            <a:ext cx="4618080" cy="36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Метод отражений Хаусхолдера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Box 9"/>
          <p:cNvSpPr/>
          <p:nvPr/>
        </p:nvSpPr>
        <p:spPr>
          <a:xfrm>
            <a:off x="801000" y="1741680"/>
            <a:ext cx="10588320" cy="433368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ru-RU" sz="1800" strike="noStrike" u="none">
                <a:solidFill>
                  <a:srgbClr val="ffffff">
                    <a:alpha val="1000"/>
                  </a:srgbClr>
                </a:solidFill>
                <a:effectLst/>
                <a:uFillTx/>
                <a:latin typeface="Calibri"/>
              </a:rPr>
              <a:t> 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6" name="Рисунок 12" descr="Изображение выглядит как текст&#10;&#10;Автоматически созданное описание"/>
          <p:cNvPicPr/>
          <p:nvPr/>
        </p:nvPicPr>
        <p:blipFill>
          <a:blip r:embed="rId2"/>
          <a:stretch/>
        </p:blipFill>
        <p:spPr>
          <a:xfrm>
            <a:off x="7077960" y="389520"/>
            <a:ext cx="1605600" cy="450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7" name="Рисунок 13" descr="Изображение выглядит как текст, красный, знак, оранжевый&#10;&#10;Автоматически созданное описание"/>
          <p:cNvPicPr/>
          <p:nvPr/>
        </p:nvPicPr>
        <p:blipFill>
          <a:blip r:embed="rId3"/>
          <a:stretch/>
        </p:blipFill>
        <p:spPr>
          <a:xfrm>
            <a:off x="9810000" y="476280"/>
            <a:ext cx="1666080" cy="32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8" name="TextBox 124"/>
          <p:cNvSpPr/>
          <p:nvPr/>
        </p:nvSpPr>
        <p:spPr>
          <a:xfrm>
            <a:off x="11467800" y="6314400"/>
            <a:ext cx="5799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ru-RU" sz="14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7/27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Скругленный прямоугольник 45"/>
          <p:cNvSpPr/>
          <p:nvPr/>
        </p:nvSpPr>
        <p:spPr>
          <a:xfrm>
            <a:off x="295560" y="225360"/>
            <a:ext cx="11598480" cy="7650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9050">
            <a:solidFill>
              <a:srgbClr val="173c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0" name="TextBox 10"/>
          <p:cNvSpPr/>
          <p:nvPr/>
        </p:nvSpPr>
        <p:spPr>
          <a:xfrm rot="16200000">
            <a:off x="11179080" y="5500800"/>
            <a:ext cx="11034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400" strike="noStrike" u="none">
                <a:solidFill>
                  <a:srgbClr val="fa4012"/>
                </a:solidFill>
                <a:effectLst/>
                <a:uFillTx/>
                <a:latin typeface="Arial"/>
              </a:rPr>
              <a:t>06.2026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51" name="Прямая соединительная линия 15"/>
          <p:cNvCxnSpPr/>
          <p:nvPr/>
        </p:nvCxnSpPr>
        <p:spPr>
          <a:xfrm>
            <a:off x="11579040" y="6240600"/>
            <a:ext cx="290160" cy="2160"/>
          </a:xfrm>
          <a:prstGeom prst="straightConnector1">
            <a:avLst/>
          </a:prstGeom>
          <a:ln w="19050">
            <a:solidFill>
              <a:srgbClr val="173c90"/>
            </a:solidFill>
            <a:round/>
          </a:ln>
        </p:spPr>
      </p:cxnSp>
      <p:sp>
        <p:nvSpPr>
          <p:cNvPr id="152" name="TextBox 38"/>
          <p:cNvSpPr/>
          <p:nvPr/>
        </p:nvSpPr>
        <p:spPr>
          <a:xfrm>
            <a:off x="375480" y="456480"/>
            <a:ext cx="159768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2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QR-</a:t>
            </a:r>
            <a:r>
              <a:rPr b="1" lang="ru-RU" sz="12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разложение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Box 39"/>
          <p:cNvSpPr/>
          <p:nvPr/>
        </p:nvSpPr>
        <p:spPr>
          <a:xfrm>
            <a:off x="1974960" y="308520"/>
            <a:ext cx="22496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2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Применение отражений Хаусхолдера для QR-разложения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54" name="Прямая соединительная линия 41"/>
          <p:cNvCxnSpPr/>
          <p:nvPr/>
        </p:nvCxnSpPr>
        <p:spPr>
          <a:xfrm>
            <a:off x="4190760" y="607680"/>
            <a:ext cx="2186280" cy="2160"/>
          </a:xfrm>
          <a:prstGeom prst="straightConnector1">
            <a:avLst/>
          </a:prstGeom>
          <a:ln w="19050">
            <a:solidFill>
              <a:srgbClr val="173c90"/>
            </a:solidFill>
            <a:round/>
          </a:ln>
        </p:spPr>
      </p:cxnSp>
      <p:cxnSp>
        <p:nvCxnSpPr>
          <p:cNvPr id="155" name="Прямая соединительная линия 42"/>
          <p:cNvCxnSpPr/>
          <p:nvPr/>
        </p:nvCxnSpPr>
        <p:spPr>
          <a:xfrm>
            <a:off x="6374880" y="466200"/>
            <a:ext cx="2160" cy="290160"/>
          </a:xfrm>
          <a:prstGeom prst="straightConnector1">
            <a:avLst/>
          </a:prstGeom>
          <a:ln w="19050">
            <a:solidFill>
              <a:srgbClr val="173c90"/>
            </a:solidFill>
            <a:round/>
          </a:ln>
        </p:spPr>
      </p:cxnSp>
      <p:cxnSp>
        <p:nvCxnSpPr>
          <p:cNvPr id="156" name="Прямая соединительная линия 46"/>
          <p:cNvCxnSpPr/>
          <p:nvPr/>
        </p:nvCxnSpPr>
        <p:spPr>
          <a:xfrm>
            <a:off x="9295560" y="466200"/>
            <a:ext cx="2160" cy="290160"/>
          </a:xfrm>
          <a:prstGeom prst="straightConnector1">
            <a:avLst/>
          </a:prstGeom>
          <a:ln w="19050">
            <a:solidFill>
              <a:srgbClr val="173c90"/>
            </a:solidFill>
            <a:round/>
          </a:ln>
        </p:spPr>
      </p:cxnSp>
      <p:sp>
        <p:nvSpPr>
          <p:cNvPr id="157" name="TextBox 8"/>
          <p:cNvSpPr/>
          <p:nvPr/>
        </p:nvSpPr>
        <p:spPr>
          <a:xfrm>
            <a:off x="375480" y="1045440"/>
            <a:ext cx="7600320" cy="36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Применение отражений Хаусхолдера для </a:t>
            </a: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QR-</a:t>
            </a:r>
            <a:r>
              <a:rPr b="1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разложения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Box 9"/>
          <p:cNvSpPr/>
          <p:nvPr/>
        </p:nvSpPr>
        <p:spPr>
          <a:xfrm>
            <a:off x="801000" y="1440720"/>
            <a:ext cx="10588320" cy="510228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ru-RU" sz="1800" strike="noStrike" u="none">
                <a:solidFill>
                  <a:srgbClr val="ffffff">
                    <a:alpha val="1000"/>
                  </a:srgbClr>
                </a:solidFill>
                <a:effectLst/>
                <a:uFillTx/>
                <a:latin typeface="Calibri"/>
              </a:rPr>
              <a:t> 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9" name="Рисунок 12" descr="Изображение выглядит как текст&#10;&#10;Автоматически созданное описание"/>
          <p:cNvPicPr/>
          <p:nvPr/>
        </p:nvPicPr>
        <p:blipFill>
          <a:blip r:embed="rId2"/>
          <a:stretch/>
        </p:blipFill>
        <p:spPr>
          <a:xfrm>
            <a:off x="7077960" y="389520"/>
            <a:ext cx="1605600" cy="450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0" name="Рисунок 13" descr="Изображение выглядит как текст, красный, знак, оранжевый&#10;&#10;Автоматически созданное описание"/>
          <p:cNvPicPr/>
          <p:nvPr/>
        </p:nvPicPr>
        <p:blipFill>
          <a:blip r:embed="rId3"/>
          <a:stretch/>
        </p:blipFill>
        <p:spPr>
          <a:xfrm>
            <a:off x="9810000" y="476280"/>
            <a:ext cx="1666080" cy="32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1" name="TextBox 125"/>
          <p:cNvSpPr/>
          <p:nvPr/>
        </p:nvSpPr>
        <p:spPr>
          <a:xfrm>
            <a:off x="11467800" y="6314400"/>
            <a:ext cx="5799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ru-RU" sz="14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8/27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Скругленный прямоугольник 45"/>
          <p:cNvSpPr/>
          <p:nvPr/>
        </p:nvSpPr>
        <p:spPr>
          <a:xfrm>
            <a:off x="295560" y="225360"/>
            <a:ext cx="11598480" cy="7650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9050">
            <a:solidFill>
              <a:srgbClr val="173c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3" name="TextBox 10"/>
          <p:cNvSpPr/>
          <p:nvPr/>
        </p:nvSpPr>
        <p:spPr>
          <a:xfrm rot="16200000">
            <a:off x="11179080" y="5500800"/>
            <a:ext cx="11034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400" strike="noStrike" u="none">
                <a:solidFill>
                  <a:srgbClr val="fa4012"/>
                </a:solidFill>
                <a:effectLst/>
                <a:uFillTx/>
                <a:latin typeface="Arial"/>
              </a:rPr>
              <a:t>06.2026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64" name="Прямая соединительная линия 15"/>
          <p:cNvCxnSpPr/>
          <p:nvPr/>
        </p:nvCxnSpPr>
        <p:spPr>
          <a:xfrm>
            <a:off x="11579040" y="6240600"/>
            <a:ext cx="290160" cy="2160"/>
          </a:xfrm>
          <a:prstGeom prst="straightConnector1">
            <a:avLst/>
          </a:prstGeom>
          <a:ln w="19050">
            <a:solidFill>
              <a:srgbClr val="173c90"/>
            </a:solidFill>
            <a:round/>
          </a:ln>
        </p:spPr>
      </p:cxnSp>
      <p:sp>
        <p:nvSpPr>
          <p:cNvPr id="165" name="TextBox 38"/>
          <p:cNvSpPr/>
          <p:nvPr/>
        </p:nvSpPr>
        <p:spPr>
          <a:xfrm>
            <a:off x="375480" y="456480"/>
            <a:ext cx="159768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2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QR-</a:t>
            </a:r>
            <a:r>
              <a:rPr b="1" lang="ru-RU" sz="12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разложение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Box 39"/>
          <p:cNvSpPr/>
          <p:nvPr/>
        </p:nvSpPr>
        <p:spPr>
          <a:xfrm>
            <a:off x="1762560" y="456480"/>
            <a:ext cx="246204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2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Описание первой реализации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67" name="Прямая соединительная линия 41"/>
          <p:cNvCxnSpPr/>
          <p:nvPr/>
        </p:nvCxnSpPr>
        <p:spPr>
          <a:xfrm>
            <a:off x="4190760" y="607680"/>
            <a:ext cx="2186280" cy="2160"/>
          </a:xfrm>
          <a:prstGeom prst="straightConnector1">
            <a:avLst/>
          </a:prstGeom>
          <a:ln w="19050">
            <a:solidFill>
              <a:srgbClr val="173c90"/>
            </a:solidFill>
            <a:round/>
          </a:ln>
        </p:spPr>
      </p:cxnSp>
      <p:cxnSp>
        <p:nvCxnSpPr>
          <p:cNvPr id="168" name="Прямая соединительная линия 42"/>
          <p:cNvCxnSpPr/>
          <p:nvPr/>
        </p:nvCxnSpPr>
        <p:spPr>
          <a:xfrm>
            <a:off x="6374880" y="466200"/>
            <a:ext cx="2160" cy="290160"/>
          </a:xfrm>
          <a:prstGeom prst="straightConnector1">
            <a:avLst/>
          </a:prstGeom>
          <a:ln w="19050">
            <a:solidFill>
              <a:srgbClr val="173c90"/>
            </a:solidFill>
            <a:round/>
          </a:ln>
        </p:spPr>
      </p:cxnSp>
      <p:cxnSp>
        <p:nvCxnSpPr>
          <p:cNvPr id="169" name="Прямая соединительная линия 46"/>
          <p:cNvCxnSpPr/>
          <p:nvPr/>
        </p:nvCxnSpPr>
        <p:spPr>
          <a:xfrm>
            <a:off x="9295560" y="466200"/>
            <a:ext cx="2160" cy="290160"/>
          </a:xfrm>
          <a:prstGeom prst="straightConnector1">
            <a:avLst/>
          </a:prstGeom>
          <a:ln w="19050">
            <a:solidFill>
              <a:srgbClr val="173c90"/>
            </a:solidFill>
            <a:round/>
          </a:ln>
        </p:spPr>
      </p:cxnSp>
      <p:sp>
        <p:nvSpPr>
          <p:cNvPr id="170" name="TextBox 8"/>
          <p:cNvSpPr/>
          <p:nvPr/>
        </p:nvSpPr>
        <p:spPr>
          <a:xfrm>
            <a:off x="375480" y="1045440"/>
            <a:ext cx="7600320" cy="36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Описание первой реализации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1" name="Рисунок 12" descr="Изображение выглядит как текст&#10;&#10;Автоматически созданное описание"/>
          <p:cNvPicPr/>
          <p:nvPr/>
        </p:nvPicPr>
        <p:blipFill>
          <a:blip r:embed="rId1"/>
          <a:stretch/>
        </p:blipFill>
        <p:spPr>
          <a:xfrm>
            <a:off x="7077960" y="389520"/>
            <a:ext cx="1605600" cy="450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2" name="Рисунок 13" descr="Изображение выглядит как текст, красный, знак, оранжевый&#10;&#10;Автоматически созданное описание"/>
          <p:cNvPicPr/>
          <p:nvPr/>
        </p:nvPicPr>
        <p:blipFill>
          <a:blip r:embed="rId2"/>
          <a:stretch/>
        </p:blipFill>
        <p:spPr>
          <a:xfrm>
            <a:off x="9810000" y="476280"/>
            <a:ext cx="1666080" cy="32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3" name="TextBox 126"/>
          <p:cNvSpPr/>
          <p:nvPr/>
        </p:nvSpPr>
        <p:spPr>
          <a:xfrm>
            <a:off x="11467800" y="6314400"/>
            <a:ext cx="5799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ru-RU" sz="14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9/27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4" name="" descr=""/>
          <p:cNvPicPr/>
          <p:nvPr/>
        </p:nvPicPr>
        <p:blipFill>
          <a:blip r:embed="rId3"/>
          <a:stretch/>
        </p:blipFill>
        <p:spPr>
          <a:xfrm>
            <a:off x="801360" y="1413000"/>
            <a:ext cx="10236240" cy="5306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Скругленный прямоугольник 1"/>
          <p:cNvSpPr/>
          <p:nvPr/>
        </p:nvSpPr>
        <p:spPr>
          <a:xfrm>
            <a:off x="295560" y="225360"/>
            <a:ext cx="11598480" cy="7650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9050">
            <a:solidFill>
              <a:srgbClr val="173c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6" name="TextBox 2"/>
          <p:cNvSpPr/>
          <p:nvPr/>
        </p:nvSpPr>
        <p:spPr>
          <a:xfrm rot="16200000">
            <a:off x="11179080" y="5500800"/>
            <a:ext cx="11034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400" strike="noStrike" u="none">
                <a:solidFill>
                  <a:srgbClr val="fa4012"/>
                </a:solidFill>
                <a:effectLst/>
                <a:uFillTx/>
                <a:latin typeface="Arial"/>
              </a:rPr>
              <a:t>06.2026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77" name="Прямая соединительная линия 1"/>
          <p:cNvCxnSpPr/>
          <p:nvPr/>
        </p:nvCxnSpPr>
        <p:spPr>
          <a:xfrm>
            <a:off x="11579040" y="6240600"/>
            <a:ext cx="290160" cy="2160"/>
          </a:xfrm>
          <a:prstGeom prst="straightConnector1">
            <a:avLst/>
          </a:prstGeom>
          <a:ln w="19050">
            <a:solidFill>
              <a:srgbClr val="173c90"/>
            </a:solidFill>
            <a:round/>
          </a:ln>
        </p:spPr>
      </p:cxnSp>
      <p:sp>
        <p:nvSpPr>
          <p:cNvPr id="178" name="TextBox 5"/>
          <p:cNvSpPr/>
          <p:nvPr/>
        </p:nvSpPr>
        <p:spPr>
          <a:xfrm>
            <a:off x="375480" y="456480"/>
            <a:ext cx="15976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2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QR-</a:t>
            </a:r>
            <a:r>
              <a:rPr b="1" lang="ru-RU" sz="12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разложение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Box 6"/>
          <p:cNvSpPr/>
          <p:nvPr/>
        </p:nvSpPr>
        <p:spPr>
          <a:xfrm>
            <a:off x="1762560" y="456480"/>
            <a:ext cx="2462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2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Возможные оптимизации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80" name="Прямая соединительная линия 2"/>
          <p:cNvCxnSpPr/>
          <p:nvPr/>
        </p:nvCxnSpPr>
        <p:spPr>
          <a:xfrm>
            <a:off x="4190760" y="607680"/>
            <a:ext cx="2186280" cy="2160"/>
          </a:xfrm>
          <a:prstGeom prst="straightConnector1">
            <a:avLst/>
          </a:prstGeom>
          <a:ln w="19050">
            <a:solidFill>
              <a:srgbClr val="173c90"/>
            </a:solidFill>
            <a:round/>
          </a:ln>
        </p:spPr>
      </p:cxnSp>
      <p:cxnSp>
        <p:nvCxnSpPr>
          <p:cNvPr id="181" name="Прямая соединительная линия 3"/>
          <p:cNvCxnSpPr/>
          <p:nvPr/>
        </p:nvCxnSpPr>
        <p:spPr>
          <a:xfrm>
            <a:off x="6374880" y="466200"/>
            <a:ext cx="2160" cy="290160"/>
          </a:xfrm>
          <a:prstGeom prst="straightConnector1">
            <a:avLst/>
          </a:prstGeom>
          <a:ln w="19050">
            <a:solidFill>
              <a:srgbClr val="173c90"/>
            </a:solidFill>
            <a:round/>
          </a:ln>
        </p:spPr>
      </p:cxnSp>
      <p:cxnSp>
        <p:nvCxnSpPr>
          <p:cNvPr id="182" name="Прямая соединительная линия 4"/>
          <p:cNvCxnSpPr/>
          <p:nvPr/>
        </p:nvCxnSpPr>
        <p:spPr>
          <a:xfrm>
            <a:off x="9295560" y="466200"/>
            <a:ext cx="2160" cy="290160"/>
          </a:xfrm>
          <a:prstGeom prst="straightConnector1">
            <a:avLst/>
          </a:prstGeom>
          <a:ln w="19050">
            <a:solidFill>
              <a:srgbClr val="173c90"/>
            </a:solidFill>
            <a:round/>
          </a:ln>
        </p:spPr>
      </p:cxnSp>
      <p:sp>
        <p:nvSpPr>
          <p:cNvPr id="183" name="TextBox 7"/>
          <p:cNvSpPr/>
          <p:nvPr/>
        </p:nvSpPr>
        <p:spPr>
          <a:xfrm>
            <a:off x="375480" y="1045440"/>
            <a:ext cx="76003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Возможные оптимизации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4" name="Рисунок 1" descr="Изображение выглядит как текст&#10;&#10;Автоматически созданное описание"/>
          <p:cNvPicPr/>
          <p:nvPr/>
        </p:nvPicPr>
        <p:blipFill>
          <a:blip r:embed="rId1"/>
          <a:stretch/>
        </p:blipFill>
        <p:spPr>
          <a:xfrm>
            <a:off x="7077960" y="389520"/>
            <a:ext cx="1605600" cy="450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5" name="Рисунок 2" descr="Изображение выглядит как текст, красный, знак, оранжевый&#10;&#10;Автоматически созданное описание"/>
          <p:cNvPicPr/>
          <p:nvPr/>
        </p:nvPicPr>
        <p:blipFill>
          <a:blip r:embed="rId2"/>
          <a:stretch/>
        </p:blipFill>
        <p:spPr>
          <a:xfrm>
            <a:off x="9810000" y="476280"/>
            <a:ext cx="1666080" cy="32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6" name="TextBox 12"/>
          <p:cNvSpPr/>
          <p:nvPr/>
        </p:nvSpPr>
        <p:spPr>
          <a:xfrm>
            <a:off x="311400" y="1461600"/>
            <a:ext cx="11583000" cy="380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Самая очевидная реализация имеет недостатки: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5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Microsoft YaHei"/>
              </a:rPr>
              <a:t>2 матричных умножения матриц NxN на каждую из (N-1) итераций цикла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5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Microsoft YaHei"/>
              </a:rPr>
              <a:t>отдельное хранение матриц отражения H (NxN элементов, (N-1) штук) для вычисления Q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Microsoft YaHei"/>
              </a:rPr>
              <a:t>В связи с выявленными недостатками возможны следующие оптимизации: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5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Microsoft YaHei"/>
              </a:rPr>
              <a:t>Избавление от матричных умножений: подсчёт H</a:t>
            </a:r>
            <a:r>
              <a:rPr b="0" lang="ru-RU" sz="1600" strike="noStrike" u="none" baseline="-8000">
                <a:solidFill>
                  <a:schemeClr val="dk1"/>
                </a:solidFill>
                <a:effectLst/>
                <a:uFillTx/>
                <a:latin typeface="Arial"/>
                <a:ea typeface="Microsoft YaHei"/>
              </a:rPr>
              <a:t>k</a:t>
            </a: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Microsoft YaHei"/>
              </a:rPr>
              <a:t>A</a:t>
            </a:r>
            <a:r>
              <a:rPr b="0" lang="ru-RU" sz="1600" strike="noStrike" u="none" baseline="-8000">
                <a:solidFill>
                  <a:schemeClr val="dk1"/>
                </a:solidFill>
                <a:effectLst/>
                <a:uFillTx/>
                <a:latin typeface="Arial"/>
                <a:ea typeface="Microsoft YaHei"/>
              </a:rPr>
              <a:t>k</a:t>
            </a:r>
            <a:r>
              <a:rPr b="0" lang="ru-RU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Microsoft YaHei"/>
              </a:rPr>
              <a:t> и </a:t>
            </a: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Microsoft YaHei"/>
              </a:rPr>
              <a:t>Q по-другому: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"/>
          <p:cNvSpPr/>
          <p:nvPr/>
        </p:nvSpPr>
        <p:spPr>
          <a:xfrm>
            <a:off x="446040" y="5792760"/>
            <a:ext cx="107679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914400">
              <a:lnSpc>
                <a:spcPct val="15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Не хранить </a:t>
            </a: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Microsoft YaHei"/>
              </a:rPr>
              <a:t>явно матрицы Хаусхолдера H</a:t>
            </a:r>
            <a:r>
              <a:rPr b="0" lang="ru-RU" sz="1800" strike="noStrike" u="none" baseline="-8000">
                <a:solidFill>
                  <a:schemeClr val="dk1"/>
                </a:solidFill>
                <a:effectLst/>
                <a:uFillTx/>
                <a:latin typeface="Arial"/>
                <a:ea typeface="Microsoft YaHei"/>
              </a:rPr>
              <a:t>k</a:t>
            </a: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Microsoft YaHei"/>
              </a:rPr>
              <a:t>, достаточно на каждом шаге алгоритма k сохранить вектор длины (N-k), k∈[1;N-1].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Box 3"/>
          <p:cNvSpPr/>
          <p:nvPr/>
        </p:nvSpPr>
        <p:spPr>
          <a:xfrm>
            <a:off x="11363400" y="6314400"/>
            <a:ext cx="684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ru-RU" sz="14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10/27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"/>
          <p:cNvSpPr/>
          <p:nvPr/>
        </p:nvSpPr>
        <p:spPr>
          <a:xfrm>
            <a:off x="964800" y="5113080"/>
            <a:ext cx="3939480" cy="39672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"/>
          <p:cNvSpPr/>
          <p:nvPr/>
        </p:nvSpPr>
        <p:spPr>
          <a:xfrm>
            <a:off x="8197200" y="4785120"/>
            <a:ext cx="876960" cy="321840"/>
          </a:xfrm>
          <a:prstGeom prst="rect">
            <a:avLst/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"/>
          <p:cNvSpPr/>
          <p:nvPr/>
        </p:nvSpPr>
        <p:spPr>
          <a:xfrm>
            <a:off x="6140880" y="5094000"/>
            <a:ext cx="5025240" cy="396720"/>
          </a:xfrm>
          <a:prstGeom prst="rect">
            <a:avLst/>
          </a:pr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"/>
          <p:cNvSpPr/>
          <p:nvPr/>
        </p:nvSpPr>
        <p:spPr>
          <a:xfrm>
            <a:off x="8256960" y="5572800"/>
            <a:ext cx="678600" cy="321840"/>
          </a:xfrm>
          <a:prstGeom prst="rect">
            <a:avLst/>
          </a:pr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Скругленный прямоугольник 13"/>
          <p:cNvSpPr/>
          <p:nvPr/>
        </p:nvSpPr>
        <p:spPr>
          <a:xfrm>
            <a:off x="295560" y="225360"/>
            <a:ext cx="11598480" cy="7650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9050">
            <a:solidFill>
              <a:srgbClr val="173c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4" name="TextBox 79"/>
          <p:cNvSpPr/>
          <p:nvPr/>
        </p:nvSpPr>
        <p:spPr>
          <a:xfrm rot="16200000">
            <a:off x="11179080" y="5500800"/>
            <a:ext cx="11034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400" strike="noStrike" u="none">
                <a:solidFill>
                  <a:srgbClr val="fa4012"/>
                </a:solidFill>
                <a:effectLst/>
                <a:uFillTx/>
                <a:latin typeface="Arial"/>
              </a:rPr>
              <a:t>06.2026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95" name="Прямая соединительная линия 50"/>
          <p:cNvCxnSpPr/>
          <p:nvPr/>
        </p:nvCxnSpPr>
        <p:spPr>
          <a:xfrm>
            <a:off x="11579040" y="6240600"/>
            <a:ext cx="290160" cy="2160"/>
          </a:xfrm>
          <a:prstGeom prst="straightConnector1">
            <a:avLst/>
          </a:prstGeom>
          <a:ln w="19050">
            <a:solidFill>
              <a:srgbClr val="173c90"/>
            </a:solidFill>
            <a:round/>
          </a:ln>
        </p:spPr>
      </p:cxnSp>
      <p:sp>
        <p:nvSpPr>
          <p:cNvPr id="196" name="TextBox 81"/>
          <p:cNvSpPr/>
          <p:nvPr/>
        </p:nvSpPr>
        <p:spPr>
          <a:xfrm>
            <a:off x="375480" y="456480"/>
            <a:ext cx="15976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2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QR-</a:t>
            </a:r>
            <a:r>
              <a:rPr b="1" lang="ru-RU" sz="12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разложение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Box 82"/>
          <p:cNvSpPr/>
          <p:nvPr/>
        </p:nvSpPr>
        <p:spPr>
          <a:xfrm>
            <a:off x="1762560" y="456480"/>
            <a:ext cx="2462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2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Возможные оптимизации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98" name="Прямая соединительная линия 51"/>
          <p:cNvCxnSpPr/>
          <p:nvPr/>
        </p:nvCxnSpPr>
        <p:spPr>
          <a:xfrm>
            <a:off x="4190760" y="607680"/>
            <a:ext cx="2186280" cy="2160"/>
          </a:xfrm>
          <a:prstGeom prst="straightConnector1">
            <a:avLst/>
          </a:prstGeom>
          <a:ln w="19050">
            <a:solidFill>
              <a:srgbClr val="173c90"/>
            </a:solidFill>
            <a:round/>
          </a:ln>
        </p:spPr>
      </p:cxnSp>
      <p:cxnSp>
        <p:nvCxnSpPr>
          <p:cNvPr id="199" name="Прямая соединительная линия 52"/>
          <p:cNvCxnSpPr/>
          <p:nvPr/>
        </p:nvCxnSpPr>
        <p:spPr>
          <a:xfrm>
            <a:off x="6374880" y="466200"/>
            <a:ext cx="2160" cy="290160"/>
          </a:xfrm>
          <a:prstGeom prst="straightConnector1">
            <a:avLst/>
          </a:prstGeom>
          <a:ln w="19050">
            <a:solidFill>
              <a:srgbClr val="173c90"/>
            </a:solidFill>
            <a:round/>
          </a:ln>
        </p:spPr>
      </p:cxnSp>
      <p:cxnSp>
        <p:nvCxnSpPr>
          <p:cNvPr id="200" name="Прямая соединительная линия 53"/>
          <p:cNvCxnSpPr/>
          <p:nvPr/>
        </p:nvCxnSpPr>
        <p:spPr>
          <a:xfrm>
            <a:off x="9295560" y="466200"/>
            <a:ext cx="2160" cy="290160"/>
          </a:xfrm>
          <a:prstGeom prst="straightConnector1">
            <a:avLst/>
          </a:prstGeom>
          <a:ln w="19050">
            <a:solidFill>
              <a:srgbClr val="173c90"/>
            </a:solidFill>
            <a:round/>
          </a:ln>
        </p:spPr>
      </p:cxnSp>
      <p:sp>
        <p:nvSpPr>
          <p:cNvPr id="201" name="TextBox 83"/>
          <p:cNvSpPr/>
          <p:nvPr/>
        </p:nvSpPr>
        <p:spPr>
          <a:xfrm>
            <a:off x="375480" y="1045440"/>
            <a:ext cx="76003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Возможные оптимизации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2" name="Рисунок 28" descr="Изображение выглядит как текст&#10;&#10;Автоматически созданное описание"/>
          <p:cNvPicPr/>
          <p:nvPr/>
        </p:nvPicPr>
        <p:blipFill>
          <a:blip r:embed="rId1"/>
          <a:stretch/>
        </p:blipFill>
        <p:spPr>
          <a:xfrm>
            <a:off x="7077960" y="389520"/>
            <a:ext cx="1605600" cy="450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3" name="Рисунок 29" descr="Изображение выглядит как текст, красный, знак, оранжевый&#10;&#10;Автоматически созданное описание"/>
          <p:cNvPicPr/>
          <p:nvPr/>
        </p:nvPicPr>
        <p:blipFill>
          <a:blip r:embed="rId2"/>
          <a:stretch/>
        </p:blipFill>
        <p:spPr>
          <a:xfrm>
            <a:off x="9810000" y="476280"/>
            <a:ext cx="1666080" cy="32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4" name="TextBox 84"/>
          <p:cNvSpPr/>
          <p:nvPr/>
        </p:nvSpPr>
        <p:spPr>
          <a:xfrm>
            <a:off x="311400" y="1461600"/>
            <a:ext cx="11583000" cy="196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В связи с выявленными недостатками возможны следующие оптимизации: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5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Microsoft YaHei"/>
              </a:rPr>
              <a:t>Работать с нормированными векторами Хаусхолдера v</a:t>
            </a:r>
            <a:r>
              <a:rPr b="0" lang="ru-RU" sz="1800" strike="noStrike" u="none" baseline="-8000">
                <a:solidFill>
                  <a:schemeClr val="dk1"/>
                </a:solidFill>
                <a:effectLst/>
                <a:uFillTx/>
                <a:latin typeface="Arial"/>
                <a:ea typeface="Microsoft YaHei"/>
              </a:rPr>
              <a:t>k </a:t>
            </a: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Microsoft YaHei"/>
              </a:rPr>
              <a:t>(v</a:t>
            </a:r>
            <a:r>
              <a:rPr b="0" lang="ru-RU" sz="1800" strike="noStrike" u="none" baseline="-8000">
                <a:solidFill>
                  <a:schemeClr val="dk1"/>
                </a:solidFill>
                <a:effectLst/>
                <a:uFillTx/>
                <a:latin typeface="Arial"/>
                <a:ea typeface="Microsoft YaHei"/>
              </a:rPr>
              <a:t>ko</a:t>
            </a: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Microsoft YaHei"/>
              </a:rPr>
              <a:t> будет равен 1), что сократит их длину, и сохранять их в R под диагональю, без выделения дополнительной памяти: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5" name="" descr=""/>
          <p:cNvPicPr/>
          <p:nvPr/>
        </p:nvPicPr>
        <p:blipFill>
          <a:blip r:embed="rId3"/>
          <a:stretch/>
        </p:blipFill>
        <p:spPr>
          <a:xfrm>
            <a:off x="3039840" y="4619520"/>
            <a:ext cx="5429520" cy="2166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6" name="TextBox 80"/>
          <p:cNvSpPr/>
          <p:nvPr/>
        </p:nvSpPr>
        <p:spPr>
          <a:xfrm>
            <a:off x="11372760" y="6314400"/>
            <a:ext cx="6750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ru-RU" sz="14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11/27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"/>
          <p:cNvSpPr/>
          <p:nvPr/>
        </p:nvSpPr>
        <p:spPr>
          <a:xfrm>
            <a:off x="2686320" y="3137760"/>
            <a:ext cx="2184480" cy="371880"/>
          </a:xfrm>
          <a:prstGeom prst="rect">
            <a:avLst/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"/>
          <p:cNvSpPr/>
          <p:nvPr/>
        </p:nvSpPr>
        <p:spPr>
          <a:xfrm>
            <a:off x="5686560" y="3137400"/>
            <a:ext cx="4761720" cy="625680"/>
          </a:xfrm>
          <a:prstGeom prst="rect">
            <a:avLst/>
          </a:pr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"/>
          <p:cNvSpPr/>
          <p:nvPr/>
        </p:nvSpPr>
        <p:spPr>
          <a:xfrm>
            <a:off x="4527360" y="3839760"/>
            <a:ext cx="3054960" cy="638640"/>
          </a:xfrm>
          <a:prstGeom prst="rect">
            <a:avLst/>
          </a:pr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Скругленный прямоугольник 6"/>
          <p:cNvSpPr/>
          <p:nvPr/>
        </p:nvSpPr>
        <p:spPr>
          <a:xfrm>
            <a:off x="295560" y="225360"/>
            <a:ext cx="11598480" cy="7650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9050">
            <a:solidFill>
              <a:srgbClr val="173c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1" name="TextBox 33"/>
          <p:cNvSpPr/>
          <p:nvPr/>
        </p:nvSpPr>
        <p:spPr>
          <a:xfrm rot="16200000">
            <a:off x="11179080" y="5500800"/>
            <a:ext cx="11034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400" strike="noStrike" u="none">
                <a:solidFill>
                  <a:srgbClr val="fa4012"/>
                </a:solidFill>
                <a:effectLst/>
                <a:uFillTx/>
                <a:latin typeface="Arial"/>
              </a:rPr>
              <a:t>06.2026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12" name="Прямая соединительная линия 19"/>
          <p:cNvCxnSpPr/>
          <p:nvPr/>
        </p:nvCxnSpPr>
        <p:spPr>
          <a:xfrm>
            <a:off x="11579040" y="6240600"/>
            <a:ext cx="290160" cy="2160"/>
          </a:xfrm>
          <a:prstGeom prst="straightConnector1">
            <a:avLst/>
          </a:prstGeom>
          <a:ln w="19050">
            <a:solidFill>
              <a:srgbClr val="173c90"/>
            </a:solidFill>
            <a:round/>
          </a:ln>
        </p:spPr>
      </p:cxnSp>
      <p:sp>
        <p:nvSpPr>
          <p:cNvPr id="213" name="TextBox 35"/>
          <p:cNvSpPr/>
          <p:nvPr/>
        </p:nvSpPr>
        <p:spPr>
          <a:xfrm>
            <a:off x="375480" y="456480"/>
            <a:ext cx="15976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2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QR-</a:t>
            </a:r>
            <a:r>
              <a:rPr b="1" lang="ru-RU" sz="12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разложение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Box 36"/>
          <p:cNvSpPr/>
          <p:nvPr/>
        </p:nvSpPr>
        <p:spPr>
          <a:xfrm>
            <a:off x="1762560" y="456480"/>
            <a:ext cx="24620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2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Сравнение трёх полученных реализаций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15" name="Прямая соединительная линия 20"/>
          <p:cNvCxnSpPr/>
          <p:nvPr/>
        </p:nvCxnSpPr>
        <p:spPr>
          <a:xfrm>
            <a:off x="4190760" y="607680"/>
            <a:ext cx="2186280" cy="2160"/>
          </a:xfrm>
          <a:prstGeom prst="straightConnector1">
            <a:avLst/>
          </a:prstGeom>
          <a:ln w="19050">
            <a:solidFill>
              <a:srgbClr val="173c90"/>
            </a:solidFill>
            <a:round/>
          </a:ln>
        </p:spPr>
      </p:cxnSp>
      <p:cxnSp>
        <p:nvCxnSpPr>
          <p:cNvPr id="216" name="Прямая соединительная линия 21"/>
          <p:cNvCxnSpPr/>
          <p:nvPr/>
        </p:nvCxnSpPr>
        <p:spPr>
          <a:xfrm>
            <a:off x="6374880" y="466200"/>
            <a:ext cx="2160" cy="290160"/>
          </a:xfrm>
          <a:prstGeom prst="straightConnector1">
            <a:avLst/>
          </a:prstGeom>
          <a:ln w="19050">
            <a:solidFill>
              <a:srgbClr val="173c90"/>
            </a:solidFill>
            <a:round/>
          </a:ln>
        </p:spPr>
      </p:cxnSp>
      <p:cxnSp>
        <p:nvCxnSpPr>
          <p:cNvPr id="217" name="Прямая соединительная линия 22"/>
          <p:cNvCxnSpPr/>
          <p:nvPr/>
        </p:nvCxnSpPr>
        <p:spPr>
          <a:xfrm>
            <a:off x="9295560" y="466200"/>
            <a:ext cx="2160" cy="290160"/>
          </a:xfrm>
          <a:prstGeom prst="straightConnector1">
            <a:avLst/>
          </a:prstGeom>
          <a:ln w="19050">
            <a:solidFill>
              <a:srgbClr val="173c90"/>
            </a:solidFill>
            <a:round/>
          </a:ln>
        </p:spPr>
      </p:cxnSp>
      <p:sp>
        <p:nvSpPr>
          <p:cNvPr id="218" name="TextBox 37"/>
          <p:cNvSpPr/>
          <p:nvPr/>
        </p:nvSpPr>
        <p:spPr>
          <a:xfrm>
            <a:off x="375480" y="1045440"/>
            <a:ext cx="76003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Сравнение трёх полученных реализаций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9" name="Рисунок 11" descr="Изображение выглядит как текст&#10;&#10;Автоматически созданное описание"/>
          <p:cNvPicPr/>
          <p:nvPr/>
        </p:nvPicPr>
        <p:blipFill>
          <a:blip r:embed="rId1"/>
          <a:stretch/>
        </p:blipFill>
        <p:spPr>
          <a:xfrm>
            <a:off x="7077960" y="389520"/>
            <a:ext cx="1605600" cy="450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0" name="Рисунок 14" descr="Изображение выглядит как текст, красный, знак, оранжевый&#10;&#10;Автоматически созданное описание"/>
          <p:cNvPicPr/>
          <p:nvPr/>
        </p:nvPicPr>
        <p:blipFill>
          <a:blip r:embed="rId2"/>
          <a:stretch/>
        </p:blipFill>
        <p:spPr>
          <a:xfrm>
            <a:off x="9810000" y="476280"/>
            <a:ext cx="1666080" cy="32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1" name="TextBox 72"/>
          <p:cNvSpPr/>
          <p:nvPr/>
        </p:nvSpPr>
        <p:spPr>
          <a:xfrm>
            <a:off x="311400" y="1461600"/>
            <a:ext cx="11583000" cy="14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С учётом оптимизаций, ниже представлены замеры однопоточного и параллельного исполнения для трёх программных реализаций: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22" name=""/>
          <p:cNvGraphicFramePr/>
          <p:nvPr/>
        </p:nvGraphicFramePr>
        <p:xfrm>
          <a:off x="5871240" y="2662560"/>
          <a:ext cx="5707080" cy="3736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3" name="TextBox 73"/>
          <p:cNvSpPr/>
          <p:nvPr/>
        </p:nvSpPr>
        <p:spPr>
          <a:xfrm>
            <a:off x="878040" y="6441120"/>
            <a:ext cx="39610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ru-RU" sz="1500" strike="noStrike" u="none">
                <a:solidFill>
                  <a:srgbClr val="000000"/>
                </a:solidFill>
                <a:effectLst/>
                <a:uFillTx/>
                <a:latin typeface="Times New Roman;serif"/>
                <a:ea typeface="Times New Roman;serif"/>
              </a:rPr>
              <a:t>Запуск на одном потоке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24" name=""/>
          <p:cNvGraphicFramePr/>
          <p:nvPr/>
        </p:nvGraphicFramePr>
        <p:xfrm>
          <a:off x="157320" y="2594880"/>
          <a:ext cx="5707080" cy="3736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25" name="TextBox 74"/>
          <p:cNvSpPr/>
          <p:nvPr/>
        </p:nvSpPr>
        <p:spPr>
          <a:xfrm>
            <a:off x="6750720" y="6400440"/>
            <a:ext cx="39610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ru-RU" sz="1500" strike="noStrike" u="none">
                <a:solidFill>
                  <a:srgbClr val="000000"/>
                </a:solidFill>
                <a:effectLst/>
                <a:uFillTx/>
                <a:latin typeface="Times New Roman;serif"/>
                <a:ea typeface="Times New Roman;serif"/>
              </a:rPr>
              <a:t>Запуск на восьми потоках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Box 34"/>
          <p:cNvSpPr/>
          <p:nvPr/>
        </p:nvSpPr>
        <p:spPr>
          <a:xfrm>
            <a:off x="11401200" y="6314400"/>
            <a:ext cx="6465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ru-RU" sz="14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12/27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Скругленный прямоугольник 12"/>
          <p:cNvSpPr/>
          <p:nvPr/>
        </p:nvSpPr>
        <p:spPr>
          <a:xfrm>
            <a:off x="295560" y="225360"/>
            <a:ext cx="11598480" cy="7650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9050">
            <a:solidFill>
              <a:srgbClr val="173c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8" name="TextBox 75"/>
          <p:cNvSpPr/>
          <p:nvPr/>
        </p:nvSpPr>
        <p:spPr>
          <a:xfrm rot="16200000">
            <a:off x="11179080" y="5500800"/>
            <a:ext cx="11034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400" strike="noStrike" u="none">
                <a:solidFill>
                  <a:srgbClr val="fa4012"/>
                </a:solidFill>
                <a:effectLst/>
                <a:uFillTx/>
                <a:latin typeface="Arial"/>
              </a:rPr>
              <a:t>06.2026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29" name="Прямая соединительная линия 45"/>
          <p:cNvCxnSpPr/>
          <p:nvPr/>
        </p:nvCxnSpPr>
        <p:spPr>
          <a:xfrm>
            <a:off x="11579040" y="6240600"/>
            <a:ext cx="290160" cy="2160"/>
          </a:xfrm>
          <a:prstGeom prst="straightConnector1">
            <a:avLst/>
          </a:prstGeom>
          <a:ln w="19050">
            <a:solidFill>
              <a:srgbClr val="173c90"/>
            </a:solidFill>
            <a:round/>
          </a:ln>
        </p:spPr>
      </p:cxnSp>
      <p:sp>
        <p:nvSpPr>
          <p:cNvPr id="230" name="TextBox 77"/>
          <p:cNvSpPr/>
          <p:nvPr/>
        </p:nvSpPr>
        <p:spPr>
          <a:xfrm>
            <a:off x="375480" y="456480"/>
            <a:ext cx="15976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2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QR-</a:t>
            </a:r>
            <a:r>
              <a:rPr b="1" lang="ru-RU" sz="12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разложение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Box 78"/>
          <p:cNvSpPr/>
          <p:nvPr/>
        </p:nvSpPr>
        <p:spPr>
          <a:xfrm>
            <a:off x="1762560" y="456480"/>
            <a:ext cx="24620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2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Сравнение трёх полученных реализаций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32" name="Прямая соединительная линия 47"/>
          <p:cNvCxnSpPr/>
          <p:nvPr/>
        </p:nvCxnSpPr>
        <p:spPr>
          <a:xfrm>
            <a:off x="4190760" y="607680"/>
            <a:ext cx="2186280" cy="2160"/>
          </a:xfrm>
          <a:prstGeom prst="straightConnector1">
            <a:avLst/>
          </a:prstGeom>
          <a:ln w="19050">
            <a:solidFill>
              <a:srgbClr val="173c90"/>
            </a:solidFill>
            <a:round/>
          </a:ln>
        </p:spPr>
      </p:cxnSp>
      <p:cxnSp>
        <p:nvCxnSpPr>
          <p:cNvPr id="233" name="Прямая соединительная линия 48"/>
          <p:cNvCxnSpPr/>
          <p:nvPr/>
        </p:nvCxnSpPr>
        <p:spPr>
          <a:xfrm>
            <a:off x="6374880" y="466200"/>
            <a:ext cx="2160" cy="290160"/>
          </a:xfrm>
          <a:prstGeom prst="straightConnector1">
            <a:avLst/>
          </a:prstGeom>
          <a:ln w="19050">
            <a:solidFill>
              <a:srgbClr val="173c90"/>
            </a:solidFill>
            <a:round/>
          </a:ln>
        </p:spPr>
      </p:cxnSp>
      <p:cxnSp>
        <p:nvCxnSpPr>
          <p:cNvPr id="234" name="Прямая соединительная линия 49"/>
          <p:cNvCxnSpPr/>
          <p:nvPr/>
        </p:nvCxnSpPr>
        <p:spPr>
          <a:xfrm>
            <a:off x="9295560" y="466200"/>
            <a:ext cx="2160" cy="290160"/>
          </a:xfrm>
          <a:prstGeom prst="straightConnector1">
            <a:avLst/>
          </a:prstGeom>
          <a:ln w="19050">
            <a:solidFill>
              <a:srgbClr val="173c90"/>
            </a:solidFill>
            <a:round/>
          </a:ln>
        </p:spPr>
      </p:cxnSp>
      <p:sp>
        <p:nvSpPr>
          <p:cNvPr id="235" name="TextBox 85"/>
          <p:cNvSpPr/>
          <p:nvPr/>
        </p:nvSpPr>
        <p:spPr>
          <a:xfrm>
            <a:off x="375480" y="1045440"/>
            <a:ext cx="76003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Сравнение трёх полученных реализаций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6" name="Рисунок 26" descr="Изображение выглядит как текст&#10;&#10;Автоматически созданное описание"/>
          <p:cNvPicPr/>
          <p:nvPr/>
        </p:nvPicPr>
        <p:blipFill>
          <a:blip r:embed="rId1"/>
          <a:stretch/>
        </p:blipFill>
        <p:spPr>
          <a:xfrm>
            <a:off x="7077960" y="389520"/>
            <a:ext cx="1605600" cy="450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7" name="Рисунок 27" descr="Изображение выглядит как текст, красный, знак, оранжевый&#10;&#10;Автоматически созданное описание"/>
          <p:cNvPicPr/>
          <p:nvPr/>
        </p:nvPicPr>
        <p:blipFill>
          <a:blip r:embed="rId2"/>
          <a:stretch/>
        </p:blipFill>
        <p:spPr>
          <a:xfrm>
            <a:off x="9810000" y="476280"/>
            <a:ext cx="1666080" cy="32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8" name="TextBox 87"/>
          <p:cNvSpPr/>
          <p:nvPr/>
        </p:nvSpPr>
        <p:spPr>
          <a:xfrm>
            <a:off x="1168920" y="6087960"/>
            <a:ext cx="39610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ru-RU" sz="1500" strike="noStrike" u="none">
                <a:solidFill>
                  <a:srgbClr val="000000"/>
                </a:solidFill>
                <a:effectLst/>
                <a:uFillTx/>
                <a:latin typeface="Times New Roman;serif"/>
                <a:ea typeface="Times New Roman;serif"/>
              </a:rPr>
              <a:t>Запуск на одном потоке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39" name=""/>
          <p:cNvGraphicFramePr/>
          <p:nvPr/>
        </p:nvGraphicFramePr>
        <p:xfrm>
          <a:off x="448200" y="2241720"/>
          <a:ext cx="5707080" cy="3736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40" name="TextBox 88"/>
          <p:cNvSpPr/>
          <p:nvPr/>
        </p:nvSpPr>
        <p:spPr>
          <a:xfrm>
            <a:off x="7041600" y="6047280"/>
            <a:ext cx="39610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ru-RU" sz="1500" strike="noStrike" u="none">
                <a:solidFill>
                  <a:srgbClr val="000000"/>
                </a:solidFill>
                <a:effectLst/>
                <a:uFillTx/>
                <a:latin typeface="Times New Roman;serif"/>
                <a:ea typeface="Times New Roman;serif"/>
              </a:rPr>
              <a:t>Запуск на восьми потоках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Box 86"/>
          <p:cNvSpPr/>
          <p:nvPr/>
        </p:nvSpPr>
        <p:spPr>
          <a:xfrm>
            <a:off x="311400" y="1461600"/>
            <a:ext cx="11583000" cy="98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Благодаря более быстрой работе можно запустить на данных более 1000x1000 элементов: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42" name=""/>
          <p:cNvGraphicFramePr/>
          <p:nvPr/>
        </p:nvGraphicFramePr>
        <p:xfrm>
          <a:off x="6120360" y="2242080"/>
          <a:ext cx="5707080" cy="3736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43" name="TextBox 76"/>
          <p:cNvSpPr/>
          <p:nvPr/>
        </p:nvSpPr>
        <p:spPr>
          <a:xfrm>
            <a:off x="11391840" y="6314400"/>
            <a:ext cx="655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ru-RU" sz="14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13/27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Скругленный прямоугольник 14"/>
          <p:cNvSpPr/>
          <p:nvPr/>
        </p:nvSpPr>
        <p:spPr>
          <a:xfrm>
            <a:off x="295560" y="225360"/>
            <a:ext cx="11598480" cy="7650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9050">
            <a:solidFill>
              <a:srgbClr val="173c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5" name="TextBox 89"/>
          <p:cNvSpPr/>
          <p:nvPr/>
        </p:nvSpPr>
        <p:spPr>
          <a:xfrm rot="16200000">
            <a:off x="11179080" y="5500800"/>
            <a:ext cx="11034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400" strike="noStrike" u="none">
                <a:solidFill>
                  <a:srgbClr val="fa4012"/>
                </a:solidFill>
                <a:effectLst/>
                <a:uFillTx/>
                <a:latin typeface="Arial"/>
              </a:rPr>
              <a:t>06.2026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46" name="Прямая соединительная линия 54"/>
          <p:cNvCxnSpPr/>
          <p:nvPr/>
        </p:nvCxnSpPr>
        <p:spPr>
          <a:xfrm>
            <a:off x="11579040" y="6240600"/>
            <a:ext cx="290160" cy="2160"/>
          </a:xfrm>
          <a:prstGeom prst="straightConnector1">
            <a:avLst/>
          </a:prstGeom>
          <a:ln w="19050">
            <a:solidFill>
              <a:srgbClr val="173c90"/>
            </a:solidFill>
            <a:round/>
          </a:ln>
        </p:spPr>
      </p:cxnSp>
      <p:sp>
        <p:nvSpPr>
          <p:cNvPr id="247" name="TextBox 91"/>
          <p:cNvSpPr/>
          <p:nvPr/>
        </p:nvSpPr>
        <p:spPr>
          <a:xfrm>
            <a:off x="375480" y="456480"/>
            <a:ext cx="15976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2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QR-</a:t>
            </a:r>
            <a:r>
              <a:rPr b="1" lang="ru-RU" sz="12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разложение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Box 92"/>
          <p:cNvSpPr/>
          <p:nvPr/>
        </p:nvSpPr>
        <p:spPr>
          <a:xfrm>
            <a:off x="1762560" y="456480"/>
            <a:ext cx="2462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2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Сравнение с библиотекой scilab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49" name="Прямая соединительная линия 55"/>
          <p:cNvCxnSpPr/>
          <p:nvPr/>
        </p:nvCxnSpPr>
        <p:spPr>
          <a:xfrm>
            <a:off x="4190760" y="607680"/>
            <a:ext cx="2186280" cy="2160"/>
          </a:xfrm>
          <a:prstGeom prst="straightConnector1">
            <a:avLst/>
          </a:prstGeom>
          <a:ln w="19050">
            <a:solidFill>
              <a:srgbClr val="173c90"/>
            </a:solidFill>
            <a:round/>
          </a:ln>
        </p:spPr>
      </p:cxnSp>
      <p:cxnSp>
        <p:nvCxnSpPr>
          <p:cNvPr id="250" name="Прямая соединительная линия 56"/>
          <p:cNvCxnSpPr/>
          <p:nvPr/>
        </p:nvCxnSpPr>
        <p:spPr>
          <a:xfrm>
            <a:off x="6374880" y="466200"/>
            <a:ext cx="2160" cy="290160"/>
          </a:xfrm>
          <a:prstGeom prst="straightConnector1">
            <a:avLst/>
          </a:prstGeom>
          <a:ln w="19050">
            <a:solidFill>
              <a:srgbClr val="173c90"/>
            </a:solidFill>
            <a:round/>
          </a:ln>
        </p:spPr>
      </p:cxnSp>
      <p:cxnSp>
        <p:nvCxnSpPr>
          <p:cNvPr id="251" name="Прямая соединительная линия 57"/>
          <p:cNvCxnSpPr/>
          <p:nvPr/>
        </p:nvCxnSpPr>
        <p:spPr>
          <a:xfrm>
            <a:off x="9295560" y="466200"/>
            <a:ext cx="2160" cy="290160"/>
          </a:xfrm>
          <a:prstGeom prst="straightConnector1">
            <a:avLst/>
          </a:prstGeom>
          <a:ln w="19050">
            <a:solidFill>
              <a:srgbClr val="173c90"/>
            </a:solidFill>
            <a:round/>
          </a:ln>
        </p:spPr>
      </p:cxnSp>
      <p:sp>
        <p:nvSpPr>
          <p:cNvPr id="252" name="TextBox 93"/>
          <p:cNvSpPr/>
          <p:nvPr/>
        </p:nvSpPr>
        <p:spPr>
          <a:xfrm>
            <a:off x="375480" y="1045440"/>
            <a:ext cx="76003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Сравнение с библиотекой scilab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3" name="Рисунок 30" descr="Изображение выглядит как текст&#10;&#10;Автоматически созданное описание"/>
          <p:cNvPicPr/>
          <p:nvPr/>
        </p:nvPicPr>
        <p:blipFill>
          <a:blip r:embed="rId1"/>
          <a:stretch/>
        </p:blipFill>
        <p:spPr>
          <a:xfrm>
            <a:off x="7077960" y="389520"/>
            <a:ext cx="1605600" cy="450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4" name="Рисунок 31" descr="Изображение выглядит как текст, красный, знак, оранжевый&#10;&#10;Автоматически созданное описание"/>
          <p:cNvPicPr/>
          <p:nvPr/>
        </p:nvPicPr>
        <p:blipFill>
          <a:blip r:embed="rId2"/>
          <a:stretch/>
        </p:blipFill>
        <p:spPr>
          <a:xfrm>
            <a:off x="9810000" y="476280"/>
            <a:ext cx="1666080" cy="32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5" name="TextBox 96"/>
          <p:cNvSpPr/>
          <p:nvPr/>
        </p:nvSpPr>
        <p:spPr>
          <a:xfrm>
            <a:off x="311400" y="1461600"/>
            <a:ext cx="1158300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Microsoft YaHei"/>
              </a:rPr>
              <a:t>Ниже приведено сравнение работы двух оптимальных версий, исполняющихся на восьми потоках, с реализацией QR-разложения в библиотеке scilab: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56" name=""/>
          <p:cNvGraphicFramePr/>
          <p:nvPr/>
        </p:nvGraphicFramePr>
        <p:xfrm>
          <a:off x="469800" y="2515320"/>
          <a:ext cx="7660080" cy="434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7" name="TextBox 94"/>
          <p:cNvSpPr/>
          <p:nvPr/>
        </p:nvSpPr>
        <p:spPr>
          <a:xfrm>
            <a:off x="8130960" y="3183840"/>
            <a:ext cx="4060080" cy="22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marL="216000" indent="-21600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ru-RU" sz="1300" strike="noStrike" u="none">
                <a:solidFill>
                  <a:schemeClr val="dk1"/>
                </a:solidFill>
                <a:effectLst/>
                <a:uFillTx/>
                <a:latin typeface="Arial"/>
                <a:ea typeface="Microsoft YaHei"/>
              </a:rPr>
              <a:t>Scilab использует LAPACK, Linear Algebra PACK — библиотеку, написанную на Fortran с: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ru-RU" sz="1300" strike="noStrike" u="none">
                <a:solidFill>
                  <a:schemeClr val="dk1"/>
                </a:solidFill>
                <a:effectLst/>
                <a:uFillTx/>
                <a:latin typeface="Arial"/>
                <a:ea typeface="Microsoft YaHei"/>
              </a:rPr>
              <a:t>блочными алгоритмами (более оптимальное использование кэша)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ru-RU" sz="1300" strike="noStrike" u="none">
                <a:solidFill>
                  <a:schemeClr val="dk1"/>
                </a:solidFill>
                <a:effectLst/>
                <a:uFillTx/>
                <a:latin typeface="Arial"/>
                <a:ea typeface="Microsoft YaHei"/>
              </a:rPr>
              <a:t>высокооптимизированными многопоточными BLAS — Basic Linear Algebra Subprograms</a:t>
            </a:r>
            <a:br>
              <a:rPr sz="1300"/>
            </a:br>
            <a:r>
              <a:rPr b="0" lang="ru-RU" sz="1300" strike="noStrike" u="none">
                <a:solidFill>
                  <a:schemeClr val="dk1"/>
                </a:solidFill>
                <a:effectLst/>
                <a:uFillTx/>
                <a:latin typeface="Arial"/>
                <a:ea typeface="Microsoft YaHei"/>
              </a:rPr>
              <a:t>(Intel MKL/OpenBLAS)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ru-RU" sz="1300" strike="noStrike" u="none">
                <a:solidFill>
                  <a:schemeClr val="dk1"/>
                </a:solidFill>
                <a:effectLst/>
                <a:uFillTx/>
                <a:latin typeface="Arial"/>
                <a:ea typeface="Microsoft YaHei"/>
              </a:rPr>
              <a:t>ручной векторизацией и ассемблерными вставками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Box 90"/>
          <p:cNvSpPr/>
          <p:nvPr/>
        </p:nvSpPr>
        <p:spPr>
          <a:xfrm>
            <a:off x="11391840" y="6314400"/>
            <a:ext cx="655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ru-RU" sz="14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14/27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Скругленный прямоугольник 3"/>
          <p:cNvSpPr/>
          <p:nvPr/>
        </p:nvSpPr>
        <p:spPr>
          <a:xfrm>
            <a:off x="295560" y="225360"/>
            <a:ext cx="11598480" cy="7650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9050">
            <a:solidFill>
              <a:srgbClr val="173c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0" name="TextBox 13"/>
          <p:cNvSpPr/>
          <p:nvPr/>
        </p:nvSpPr>
        <p:spPr>
          <a:xfrm rot="16200000">
            <a:off x="11179080" y="5500800"/>
            <a:ext cx="11034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400" strike="noStrike" u="none">
                <a:solidFill>
                  <a:srgbClr val="fa4012"/>
                </a:solidFill>
                <a:effectLst/>
                <a:uFillTx/>
                <a:latin typeface="Arial"/>
              </a:rPr>
              <a:t>06.2026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61" name="Прямая соединительная линия 5"/>
          <p:cNvCxnSpPr/>
          <p:nvPr/>
        </p:nvCxnSpPr>
        <p:spPr>
          <a:xfrm>
            <a:off x="11579040" y="6240600"/>
            <a:ext cx="290160" cy="2160"/>
          </a:xfrm>
          <a:prstGeom prst="straightConnector1">
            <a:avLst/>
          </a:prstGeom>
          <a:ln w="19050">
            <a:solidFill>
              <a:srgbClr val="173c90"/>
            </a:solidFill>
            <a:round/>
          </a:ln>
        </p:spPr>
      </p:cxnSp>
      <p:sp>
        <p:nvSpPr>
          <p:cNvPr id="262" name="TextBox 15"/>
          <p:cNvSpPr/>
          <p:nvPr/>
        </p:nvSpPr>
        <p:spPr>
          <a:xfrm>
            <a:off x="375480" y="456480"/>
            <a:ext cx="15976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2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QR-</a:t>
            </a:r>
            <a:r>
              <a:rPr b="1" lang="ru-RU" sz="12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разложение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Box 16"/>
          <p:cNvSpPr/>
          <p:nvPr/>
        </p:nvSpPr>
        <p:spPr>
          <a:xfrm>
            <a:off x="1974960" y="456480"/>
            <a:ext cx="22496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2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Метод вращений Гивенса 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64" name="Прямая соединительная линия 6"/>
          <p:cNvCxnSpPr/>
          <p:nvPr/>
        </p:nvCxnSpPr>
        <p:spPr>
          <a:xfrm>
            <a:off x="4190760" y="607680"/>
            <a:ext cx="2186280" cy="2160"/>
          </a:xfrm>
          <a:prstGeom prst="straightConnector1">
            <a:avLst/>
          </a:prstGeom>
          <a:ln w="19050">
            <a:solidFill>
              <a:srgbClr val="173c90"/>
            </a:solidFill>
            <a:round/>
          </a:ln>
        </p:spPr>
      </p:cxnSp>
      <p:cxnSp>
        <p:nvCxnSpPr>
          <p:cNvPr id="265" name="Прямая соединительная линия 7"/>
          <p:cNvCxnSpPr/>
          <p:nvPr/>
        </p:nvCxnSpPr>
        <p:spPr>
          <a:xfrm>
            <a:off x="6374880" y="466200"/>
            <a:ext cx="2160" cy="290160"/>
          </a:xfrm>
          <a:prstGeom prst="straightConnector1">
            <a:avLst/>
          </a:prstGeom>
          <a:ln w="19050">
            <a:solidFill>
              <a:srgbClr val="173c90"/>
            </a:solidFill>
            <a:round/>
          </a:ln>
        </p:spPr>
      </p:cxnSp>
      <p:cxnSp>
        <p:nvCxnSpPr>
          <p:cNvPr id="266" name="Прямая соединительная линия 8"/>
          <p:cNvCxnSpPr/>
          <p:nvPr/>
        </p:nvCxnSpPr>
        <p:spPr>
          <a:xfrm>
            <a:off x="9295560" y="466200"/>
            <a:ext cx="2160" cy="290160"/>
          </a:xfrm>
          <a:prstGeom prst="straightConnector1">
            <a:avLst/>
          </a:prstGeom>
          <a:ln w="19050">
            <a:solidFill>
              <a:srgbClr val="173c90"/>
            </a:solidFill>
            <a:round/>
          </a:ln>
        </p:spPr>
      </p:cxnSp>
      <p:sp>
        <p:nvSpPr>
          <p:cNvPr id="267" name="TextBox 18"/>
          <p:cNvSpPr/>
          <p:nvPr/>
        </p:nvSpPr>
        <p:spPr>
          <a:xfrm>
            <a:off x="375480" y="1045440"/>
            <a:ext cx="4618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Метод вращений Гивенса 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8" name="Рисунок 4" descr="Изображение выглядит как текст&#10;&#10;Автоматически созданное описание"/>
          <p:cNvPicPr/>
          <p:nvPr/>
        </p:nvPicPr>
        <p:blipFill>
          <a:blip r:embed="rId1"/>
          <a:stretch/>
        </p:blipFill>
        <p:spPr>
          <a:xfrm>
            <a:off x="7077960" y="389520"/>
            <a:ext cx="1605600" cy="450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9" name="Рисунок 5" descr="Изображение выглядит как текст, красный, знак, оранжевый&#10;&#10;Автоматически созданное описание"/>
          <p:cNvPicPr/>
          <p:nvPr/>
        </p:nvPicPr>
        <p:blipFill>
          <a:blip r:embed="rId2"/>
          <a:stretch/>
        </p:blipFill>
        <p:spPr>
          <a:xfrm>
            <a:off x="9810000" y="476280"/>
            <a:ext cx="1666080" cy="32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0" name="TextBox 19"/>
          <p:cNvSpPr/>
          <p:nvPr/>
        </p:nvSpPr>
        <p:spPr>
          <a:xfrm>
            <a:off x="311400" y="1440000"/>
            <a:ext cx="1158300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Поворот Гивенса — линейный оператор поворота вектора на некоторый заданный угол.</a:t>
            </a:r>
            <a:br>
              <a:rPr sz="1800"/>
            </a:b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Матрица вращения (Гивенса) G задаётся позициями столбцов i и j и параметрами cos и sin вращения: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Box 20"/>
          <p:cNvSpPr/>
          <p:nvPr/>
        </p:nvSpPr>
        <p:spPr>
          <a:xfrm>
            <a:off x="247320" y="5346360"/>
            <a:ext cx="11583000" cy="127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ru-RU" sz="1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Это преобразование используется для преобразования матриц или векторов с целью приведения их к определённому виду. 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ru-RU" sz="1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В данном случае, параметр такого преобразования будет подбираться для двух строк матрицы так, чтобы один из поддиагональных элементов преобразуемой матрицы стал нулевым.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2" name="" descr=""/>
          <p:cNvPicPr/>
          <p:nvPr/>
        </p:nvPicPr>
        <p:blipFill>
          <a:blip r:embed="rId3"/>
          <a:stretch/>
        </p:blipFill>
        <p:spPr>
          <a:xfrm>
            <a:off x="4433760" y="2353320"/>
            <a:ext cx="4484520" cy="3101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3" name="TextBox 14"/>
          <p:cNvSpPr/>
          <p:nvPr/>
        </p:nvSpPr>
        <p:spPr>
          <a:xfrm>
            <a:off x="11391840" y="6314400"/>
            <a:ext cx="655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ru-RU" sz="14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15/27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Скругленный прямоугольник 4"/>
          <p:cNvSpPr/>
          <p:nvPr/>
        </p:nvSpPr>
        <p:spPr>
          <a:xfrm>
            <a:off x="295560" y="225360"/>
            <a:ext cx="11598480" cy="7650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9050">
            <a:solidFill>
              <a:srgbClr val="173c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5" name="TextBox 21"/>
          <p:cNvSpPr/>
          <p:nvPr/>
        </p:nvSpPr>
        <p:spPr>
          <a:xfrm rot="16200000">
            <a:off x="11179080" y="5500800"/>
            <a:ext cx="11034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400" strike="noStrike" u="none">
                <a:solidFill>
                  <a:srgbClr val="fa4012"/>
                </a:solidFill>
                <a:effectLst/>
                <a:uFillTx/>
                <a:latin typeface="Arial"/>
              </a:rPr>
              <a:t>06.2026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76" name="Прямая соединительная линия 9"/>
          <p:cNvCxnSpPr/>
          <p:nvPr/>
        </p:nvCxnSpPr>
        <p:spPr>
          <a:xfrm>
            <a:off x="11579040" y="6240600"/>
            <a:ext cx="290160" cy="2160"/>
          </a:xfrm>
          <a:prstGeom prst="straightConnector1">
            <a:avLst/>
          </a:prstGeom>
          <a:ln w="19050">
            <a:solidFill>
              <a:srgbClr val="173c90"/>
            </a:solidFill>
            <a:round/>
          </a:ln>
        </p:spPr>
      </p:cxnSp>
      <p:sp>
        <p:nvSpPr>
          <p:cNvPr id="277" name="TextBox 23"/>
          <p:cNvSpPr/>
          <p:nvPr/>
        </p:nvSpPr>
        <p:spPr>
          <a:xfrm>
            <a:off x="375480" y="456480"/>
            <a:ext cx="15976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2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QR-</a:t>
            </a:r>
            <a:r>
              <a:rPr b="1" lang="ru-RU" sz="12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разложение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Box 24"/>
          <p:cNvSpPr/>
          <p:nvPr/>
        </p:nvSpPr>
        <p:spPr>
          <a:xfrm>
            <a:off x="1974960" y="308520"/>
            <a:ext cx="22496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2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Применение вращений Гивенса для QR-разложения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79" name="Прямая соединительная линия 10"/>
          <p:cNvCxnSpPr/>
          <p:nvPr/>
        </p:nvCxnSpPr>
        <p:spPr>
          <a:xfrm>
            <a:off x="4190760" y="607680"/>
            <a:ext cx="2186280" cy="2160"/>
          </a:xfrm>
          <a:prstGeom prst="straightConnector1">
            <a:avLst/>
          </a:prstGeom>
          <a:ln w="19050">
            <a:solidFill>
              <a:srgbClr val="173c90"/>
            </a:solidFill>
            <a:round/>
          </a:ln>
        </p:spPr>
      </p:cxnSp>
      <p:cxnSp>
        <p:nvCxnSpPr>
          <p:cNvPr id="280" name="Прямая соединительная линия 11"/>
          <p:cNvCxnSpPr/>
          <p:nvPr/>
        </p:nvCxnSpPr>
        <p:spPr>
          <a:xfrm>
            <a:off x="6374880" y="466200"/>
            <a:ext cx="2160" cy="290160"/>
          </a:xfrm>
          <a:prstGeom prst="straightConnector1">
            <a:avLst/>
          </a:prstGeom>
          <a:ln w="19050">
            <a:solidFill>
              <a:srgbClr val="173c90"/>
            </a:solidFill>
            <a:round/>
          </a:ln>
        </p:spPr>
      </p:cxnSp>
      <p:cxnSp>
        <p:nvCxnSpPr>
          <p:cNvPr id="281" name="Прямая соединительная линия 12"/>
          <p:cNvCxnSpPr/>
          <p:nvPr/>
        </p:nvCxnSpPr>
        <p:spPr>
          <a:xfrm>
            <a:off x="9295560" y="466200"/>
            <a:ext cx="2160" cy="290160"/>
          </a:xfrm>
          <a:prstGeom prst="straightConnector1">
            <a:avLst/>
          </a:prstGeom>
          <a:ln w="19050">
            <a:solidFill>
              <a:srgbClr val="173c90"/>
            </a:solidFill>
            <a:round/>
          </a:ln>
        </p:spPr>
      </p:cxnSp>
      <p:sp>
        <p:nvSpPr>
          <p:cNvPr id="282" name="TextBox 25"/>
          <p:cNvSpPr/>
          <p:nvPr/>
        </p:nvSpPr>
        <p:spPr>
          <a:xfrm>
            <a:off x="375480" y="1045440"/>
            <a:ext cx="76003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Применение вращений Гивенса для </a:t>
            </a: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QR-</a:t>
            </a:r>
            <a:r>
              <a:rPr b="1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разложения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3" name="Рисунок 6" descr="Изображение выглядит как текст&#10;&#10;Автоматически созданное описание"/>
          <p:cNvPicPr/>
          <p:nvPr/>
        </p:nvPicPr>
        <p:blipFill>
          <a:blip r:embed="rId1"/>
          <a:stretch/>
        </p:blipFill>
        <p:spPr>
          <a:xfrm>
            <a:off x="7077960" y="389520"/>
            <a:ext cx="1605600" cy="450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4" name="Рисунок 7" descr="Изображение выглядит как текст, красный, знак, оранжевый&#10;&#10;Автоматически созданное описание"/>
          <p:cNvPicPr/>
          <p:nvPr/>
        </p:nvPicPr>
        <p:blipFill>
          <a:blip r:embed="rId2"/>
          <a:stretch/>
        </p:blipFill>
        <p:spPr>
          <a:xfrm>
            <a:off x="9810000" y="476280"/>
            <a:ext cx="1666080" cy="32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5" name="TextBox 26"/>
          <p:cNvSpPr/>
          <p:nvPr/>
        </p:nvSpPr>
        <p:spPr>
          <a:xfrm>
            <a:off x="311400" y="1440000"/>
            <a:ext cx="11583000" cy="22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Суть алгоритма QR-разложения, реализованного с помощью вращений Гивенса – в последовательном занулении всех поддиагональных элементов, с целью получения верхнетреугольной матрицы R как побочного продукта и Q с помощью явных перемножений матриц вращения в простейшем случае.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На каждом шаге алгоритма для зануления элемента с индексами (i,j) получаем  вращение G</a:t>
            </a:r>
            <a:r>
              <a:rPr b="0" lang="ru-RU" sz="1800" strike="noStrike" u="none" baseline="-8000">
                <a:solidFill>
                  <a:schemeClr val="dk1"/>
                </a:solidFill>
                <a:effectLst/>
                <a:uFillTx/>
                <a:latin typeface="Arial"/>
              </a:rPr>
              <a:t>ji</a:t>
            </a: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, домножая на него матрицу A слева получаем , в которой элементы под главной диагональю, левее (i,j), занулены: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6" name="" descr=""/>
          <p:cNvPicPr/>
          <p:nvPr/>
        </p:nvPicPr>
        <p:blipFill>
          <a:blip r:embed="rId3"/>
          <a:stretch/>
        </p:blipFill>
        <p:spPr>
          <a:xfrm>
            <a:off x="1863360" y="4139280"/>
            <a:ext cx="1914840" cy="1297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7" name="" descr=""/>
          <p:cNvPicPr/>
          <p:nvPr/>
        </p:nvPicPr>
        <p:blipFill>
          <a:blip r:embed="rId4"/>
          <a:stretch/>
        </p:blipFill>
        <p:spPr>
          <a:xfrm>
            <a:off x="4635720" y="4148280"/>
            <a:ext cx="2233440" cy="1290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8" name="" descr=""/>
          <p:cNvPicPr/>
          <p:nvPr/>
        </p:nvPicPr>
        <p:blipFill>
          <a:blip r:embed="rId5"/>
          <a:stretch/>
        </p:blipFill>
        <p:spPr>
          <a:xfrm>
            <a:off x="7568640" y="4101840"/>
            <a:ext cx="2545560" cy="1303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9" name="" descr=""/>
          <p:cNvPicPr/>
          <p:nvPr/>
        </p:nvPicPr>
        <p:blipFill>
          <a:blip r:embed="rId6"/>
          <a:stretch/>
        </p:blipFill>
        <p:spPr>
          <a:xfrm>
            <a:off x="3847320" y="5790240"/>
            <a:ext cx="4637160" cy="273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0" name="" descr=""/>
          <p:cNvPicPr/>
          <p:nvPr/>
        </p:nvPicPr>
        <p:blipFill>
          <a:blip r:embed="rId7"/>
          <a:stretch/>
        </p:blipFill>
        <p:spPr>
          <a:xfrm>
            <a:off x="1799280" y="6193440"/>
            <a:ext cx="9223200" cy="321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1" name="TextBox 22"/>
          <p:cNvSpPr/>
          <p:nvPr/>
        </p:nvSpPr>
        <p:spPr>
          <a:xfrm>
            <a:off x="11391840" y="6314400"/>
            <a:ext cx="655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ru-RU" sz="14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16/27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Скругленный прямоугольник 19"/>
          <p:cNvSpPr/>
          <p:nvPr/>
        </p:nvSpPr>
        <p:spPr>
          <a:xfrm>
            <a:off x="295560" y="225360"/>
            <a:ext cx="11598480" cy="7650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9050">
            <a:solidFill>
              <a:srgbClr val="173c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3" name="TextBox 127"/>
          <p:cNvSpPr/>
          <p:nvPr/>
        </p:nvSpPr>
        <p:spPr>
          <a:xfrm rot="16200000">
            <a:off x="11179080" y="5500800"/>
            <a:ext cx="11034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400" strike="noStrike" u="none">
                <a:solidFill>
                  <a:srgbClr val="fa4012"/>
                </a:solidFill>
                <a:effectLst/>
                <a:uFillTx/>
                <a:latin typeface="Arial"/>
              </a:rPr>
              <a:t>06.2026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94" name="Прямая соединительная линия 74"/>
          <p:cNvCxnSpPr/>
          <p:nvPr/>
        </p:nvCxnSpPr>
        <p:spPr>
          <a:xfrm>
            <a:off x="11579040" y="6240600"/>
            <a:ext cx="290160" cy="2160"/>
          </a:xfrm>
          <a:prstGeom prst="straightConnector1">
            <a:avLst/>
          </a:prstGeom>
          <a:ln w="19050">
            <a:solidFill>
              <a:srgbClr val="173c90"/>
            </a:solidFill>
            <a:round/>
          </a:ln>
        </p:spPr>
      </p:cxnSp>
      <p:sp>
        <p:nvSpPr>
          <p:cNvPr id="295" name="TextBox 128"/>
          <p:cNvSpPr/>
          <p:nvPr/>
        </p:nvSpPr>
        <p:spPr>
          <a:xfrm>
            <a:off x="375480" y="456480"/>
            <a:ext cx="15976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2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QR-</a:t>
            </a:r>
            <a:r>
              <a:rPr b="1" lang="ru-RU" sz="12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разложение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Box 129"/>
          <p:cNvSpPr/>
          <p:nvPr/>
        </p:nvSpPr>
        <p:spPr>
          <a:xfrm>
            <a:off x="1974960" y="308520"/>
            <a:ext cx="22496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200" strike="noStrike" u="none">
                <a:solidFill>
                  <a:srgbClr val="173c90"/>
                </a:solidFill>
                <a:effectLst/>
                <a:uFillTx/>
                <a:latin typeface="Arial"/>
                <a:ea typeface="Arial"/>
              </a:rPr>
              <a:t>Описание первой реализации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97" name="Прямая соединительная линия 75"/>
          <p:cNvCxnSpPr/>
          <p:nvPr/>
        </p:nvCxnSpPr>
        <p:spPr>
          <a:xfrm>
            <a:off x="4190760" y="607680"/>
            <a:ext cx="2186280" cy="2160"/>
          </a:xfrm>
          <a:prstGeom prst="straightConnector1">
            <a:avLst/>
          </a:prstGeom>
          <a:ln w="19050">
            <a:solidFill>
              <a:srgbClr val="173c90"/>
            </a:solidFill>
            <a:round/>
          </a:ln>
        </p:spPr>
      </p:cxnSp>
      <p:cxnSp>
        <p:nvCxnSpPr>
          <p:cNvPr id="298" name="Прямая соединительная линия 76"/>
          <p:cNvCxnSpPr/>
          <p:nvPr/>
        </p:nvCxnSpPr>
        <p:spPr>
          <a:xfrm>
            <a:off x="6374880" y="466200"/>
            <a:ext cx="2160" cy="290160"/>
          </a:xfrm>
          <a:prstGeom prst="straightConnector1">
            <a:avLst/>
          </a:prstGeom>
          <a:ln w="19050">
            <a:solidFill>
              <a:srgbClr val="173c90"/>
            </a:solidFill>
            <a:round/>
          </a:ln>
        </p:spPr>
      </p:cxnSp>
      <p:cxnSp>
        <p:nvCxnSpPr>
          <p:cNvPr id="299" name="Прямая соединительная линия 77"/>
          <p:cNvCxnSpPr/>
          <p:nvPr/>
        </p:nvCxnSpPr>
        <p:spPr>
          <a:xfrm>
            <a:off x="9295560" y="466200"/>
            <a:ext cx="2160" cy="290160"/>
          </a:xfrm>
          <a:prstGeom prst="straightConnector1">
            <a:avLst/>
          </a:prstGeom>
          <a:ln w="19050">
            <a:solidFill>
              <a:srgbClr val="173c90"/>
            </a:solidFill>
            <a:round/>
          </a:ln>
        </p:spPr>
      </p:cxnSp>
      <p:sp>
        <p:nvSpPr>
          <p:cNvPr id="300" name="TextBox 130"/>
          <p:cNvSpPr/>
          <p:nvPr/>
        </p:nvSpPr>
        <p:spPr>
          <a:xfrm>
            <a:off x="375480" y="1045440"/>
            <a:ext cx="76003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Описание первой реализации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1" name="Рисунок 40" descr="Изображение выглядит как текст&#10;&#10;Автоматически созданное описание"/>
          <p:cNvPicPr/>
          <p:nvPr/>
        </p:nvPicPr>
        <p:blipFill>
          <a:blip r:embed="rId1"/>
          <a:stretch/>
        </p:blipFill>
        <p:spPr>
          <a:xfrm>
            <a:off x="7077960" y="389520"/>
            <a:ext cx="1605600" cy="450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2" name="Рисунок 41" descr="Изображение выглядит как текст, красный, знак, оранжевый&#10;&#10;Автоматически созданное описание"/>
          <p:cNvPicPr/>
          <p:nvPr/>
        </p:nvPicPr>
        <p:blipFill>
          <a:blip r:embed="rId2"/>
          <a:stretch/>
        </p:blipFill>
        <p:spPr>
          <a:xfrm>
            <a:off x="9810000" y="476280"/>
            <a:ext cx="1666080" cy="32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3" name="TextBox 131"/>
          <p:cNvSpPr/>
          <p:nvPr/>
        </p:nvSpPr>
        <p:spPr>
          <a:xfrm>
            <a:off x="311400" y="1296000"/>
            <a:ext cx="11583000" cy="188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Базовый алгоритм разложения матрицы A на верхнетреугольную R и ортогональную Q будет заключаться в следующем: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Microsoft YaHei"/>
              </a:rPr>
              <a:t>    1. для всех поддиагональных элементов (i, j) по очереди слева направо сверху вниз вычисляется параметр вращения: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Box 132"/>
          <p:cNvSpPr/>
          <p:nvPr/>
        </p:nvSpPr>
        <p:spPr>
          <a:xfrm>
            <a:off x="11391840" y="6314400"/>
            <a:ext cx="655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ru-RU" sz="14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17/27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"/>
          <p:cNvSpPr/>
          <p:nvPr/>
        </p:nvSpPr>
        <p:spPr>
          <a:xfrm>
            <a:off x="4280400" y="2840760"/>
            <a:ext cx="4161600" cy="74376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Box 133"/>
          <p:cNvSpPr/>
          <p:nvPr/>
        </p:nvSpPr>
        <p:spPr>
          <a:xfrm>
            <a:off x="216360" y="4020120"/>
            <a:ext cx="1158300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   2. матрица A домножается слева на матрицу вращения Gji. Изменяются только строки</a:t>
            </a: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Microsoft YaHei"/>
              </a:rPr>
              <a:t> Aj и Ai: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"/>
          <p:cNvSpPr/>
          <p:nvPr/>
        </p:nvSpPr>
        <p:spPr>
          <a:xfrm>
            <a:off x="1592640" y="4811400"/>
            <a:ext cx="1898640" cy="321840"/>
          </a:xfrm>
          <a:prstGeom prst="rect">
            <a:avLst/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"/>
          <p:cNvSpPr/>
          <p:nvPr/>
        </p:nvSpPr>
        <p:spPr>
          <a:xfrm>
            <a:off x="4097160" y="4815000"/>
            <a:ext cx="1880280" cy="321840"/>
          </a:xfrm>
          <a:prstGeom prst="rect">
            <a:avLst/>
          </a:pr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Box 134"/>
          <p:cNvSpPr/>
          <p:nvPr/>
        </p:nvSpPr>
        <p:spPr>
          <a:xfrm>
            <a:off x="299160" y="5334480"/>
            <a:ext cx="1158300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   3. матрица Q домножается справа на матрицу вращения Gij. Изменяются только столбцы Qj и Qi: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"/>
          <p:cNvSpPr/>
          <p:nvPr/>
        </p:nvSpPr>
        <p:spPr>
          <a:xfrm>
            <a:off x="6415560" y="4757760"/>
            <a:ext cx="5890320" cy="60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Microsoft YaHei"/>
              </a:rPr>
              <a:t>k ∈ [j; N-1], (изменения только правее j-го столбца)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"/>
          <p:cNvSpPr/>
          <p:nvPr/>
        </p:nvSpPr>
        <p:spPr>
          <a:xfrm>
            <a:off x="1655280" y="6023880"/>
            <a:ext cx="1827360" cy="321840"/>
          </a:xfrm>
          <a:prstGeom prst="rect">
            <a:avLst/>
          </a:pr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"/>
          <p:cNvSpPr/>
          <p:nvPr/>
        </p:nvSpPr>
        <p:spPr>
          <a:xfrm>
            <a:off x="4048560" y="6004440"/>
            <a:ext cx="1874520" cy="321840"/>
          </a:xfrm>
          <a:prstGeom prst="rect">
            <a:avLst/>
          </a:prstGeom>
          <a:blipFill rotWithShape="0">
            <a:blip r:embed="rId7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"/>
          <p:cNvSpPr/>
          <p:nvPr/>
        </p:nvSpPr>
        <p:spPr>
          <a:xfrm>
            <a:off x="6441840" y="6015600"/>
            <a:ext cx="1838880" cy="60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Microsoft YaHei"/>
              </a:rPr>
              <a:t>k ∈ [0; N-1]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Скругленный прямоугольник 5"/>
          <p:cNvSpPr/>
          <p:nvPr/>
        </p:nvSpPr>
        <p:spPr>
          <a:xfrm>
            <a:off x="295560" y="225360"/>
            <a:ext cx="11598480" cy="7650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9050">
            <a:solidFill>
              <a:srgbClr val="173c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5" name="TextBox 27"/>
          <p:cNvSpPr/>
          <p:nvPr/>
        </p:nvSpPr>
        <p:spPr>
          <a:xfrm rot="16200000">
            <a:off x="11179080" y="5500800"/>
            <a:ext cx="11034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400" strike="noStrike" u="none">
                <a:solidFill>
                  <a:srgbClr val="fa4012"/>
                </a:solidFill>
                <a:effectLst/>
                <a:uFillTx/>
                <a:latin typeface="Arial"/>
              </a:rPr>
              <a:t>06.2026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16" name="Прямая соединительная линия 13"/>
          <p:cNvCxnSpPr/>
          <p:nvPr/>
        </p:nvCxnSpPr>
        <p:spPr>
          <a:xfrm>
            <a:off x="11579040" y="6240600"/>
            <a:ext cx="290160" cy="2160"/>
          </a:xfrm>
          <a:prstGeom prst="straightConnector1">
            <a:avLst/>
          </a:prstGeom>
          <a:ln w="19050">
            <a:solidFill>
              <a:srgbClr val="173c90"/>
            </a:solidFill>
            <a:round/>
          </a:ln>
        </p:spPr>
      </p:cxnSp>
      <p:sp>
        <p:nvSpPr>
          <p:cNvPr id="317" name="TextBox 29"/>
          <p:cNvSpPr/>
          <p:nvPr/>
        </p:nvSpPr>
        <p:spPr>
          <a:xfrm>
            <a:off x="375480" y="456480"/>
            <a:ext cx="15976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2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QR-</a:t>
            </a:r>
            <a:r>
              <a:rPr b="1" lang="ru-RU" sz="12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разложение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Box 30"/>
          <p:cNvSpPr/>
          <p:nvPr/>
        </p:nvSpPr>
        <p:spPr>
          <a:xfrm>
            <a:off x="1762560" y="456480"/>
            <a:ext cx="2462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2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Возможные оптимизации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19" name="Прямая соединительная линия 14"/>
          <p:cNvCxnSpPr/>
          <p:nvPr/>
        </p:nvCxnSpPr>
        <p:spPr>
          <a:xfrm>
            <a:off x="4190760" y="607680"/>
            <a:ext cx="2186280" cy="2160"/>
          </a:xfrm>
          <a:prstGeom prst="straightConnector1">
            <a:avLst/>
          </a:prstGeom>
          <a:ln w="19050">
            <a:solidFill>
              <a:srgbClr val="173c90"/>
            </a:solidFill>
            <a:round/>
          </a:ln>
        </p:spPr>
      </p:cxnSp>
      <p:cxnSp>
        <p:nvCxnSpPr>
          <p:cNvPr id="320" name="Прямая соединительная линия 16"/>
          <p:cNvCxnSpPr/>
          <p:nvPr/>
        </p:nvCxnSpPr>
        <p:spPr>
          <a:xfrm>
            <a:off x="6374880" y="466200"/>
            <a:ext cx="2160" cy="290160"/>
          </a:xfrm>
          <a:prstGeom prst="straightConnector1">
            <a:avLst/>
          </a:prstGeom>
          <a:ln w="19050">
            <a:solidFill>
              <a:srgbClr val="173c90"/>
            </a:solidFill>
            <a:round/>
          </a:ln>
        </p:spPr>
      </p:cxnSp>
      <p:cxnSp>
        <p:nvCxnSpPr>
          <p:cNvPr id="321" name="Прямая соединительная линия 18"/>
          <p:cNvCxnSpPr/>
          <p:nvPr/>
        </p:nvCxnSpPr>
        <p:spPr>
          <a:xfrm>
            <a:off x="9295560" y="466200"/>
            <a:ext cx="2160" cy="290160"/>
          </a:xfrm>
          <a:prstGeom prst="straightConnector1">
            <a:avLst/>
          </a:prstGeom>
          <a:ln w="19050">
            <a:solidFill>
              <a:srgbClr val="173c90"/>
            </a:solidFill>
            <a:round/>
          </a:ln>
        </p:spPr>
      </p:cxnSp>
      <p:sp>
        <p:nvSpPr>
          <p:cNvPr id="322" name="TextBox 31"/>
          <p:cNvSpPr/>
          <p:nvPr/>
        </p:nvSpPr>
        <p:spPr>
          <a:xfrm>
            <a:off x="375480" y="1045440"/>
            <a:ext cx="76003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Возможные оптимизации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3" name="Рисунок 8" descr="Изображение выглядит как текст&#10;&#10;Автоматически созданное описание"/>
          <p:cNvPicPr/>
          <p:nvPr/>
        </p:nvPicPr>
        <p:blipFill>
          <a:blip r:embed="rId1"/>
          <a:stretch/>
        </p:blipFill>
        <p:spPr>
          <a:xfrm>
            <a:off x="7077960" y="389520"/>
            <a:ext cx="1605600" cy="450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4" name="Рисунок 10" descr="Изображение выглядит как текст, красный, знак, оранжевый&#10;&#10;Автоматически созданное описание"/>
          <p:cNvPicPr/>
          <p:nvPr/>
        </p:nvPicPr>
        <p:blipFill>
          <a:blip r:embed="rId2"/>
          <a:stretch/>
        </p:blipFill>
        <p:spPr>
          <a:xfrm>
            <a:off x="9810000" y="476280"/>
            <a:ext cx="1666080" cy="32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5" name="TextBox 32"/>
          <p:cNvSpPr/>
          <p:nvPr/>
        </p:nvSpPr>
        <p:spPr>
          <a:xfrm>
            <a:off x="311400" y="1461600"/>
            <a:ext cx="11583000" cy="447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 defTabSz="914400">
              <a:lnSpc>
                <a:spcPct val="15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Для эффективной работы с памятью матрицу Q нужно хранить транспонированной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5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Сравнить два подхода вычисления Q и R: в рамках одного цикла и раздельно, сохраняя параметры вращения в отдельной структуре либо в матрице R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5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Попробовать хранить Q и R в одной структуре для улучшения локальности кэша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5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Можно не выполнять вращение строки при вычислении матрицы R целиком, поскольку слева от текущего столбца элементы вращаемых строк равны 0.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50000"/>
              </a:lnSpc>
              <a:spcBef>
                <a:spcPts val="601"/>
              </a:spcBef>
              <a:spcAft>
                <a:spcPts val="601"/>
              </a:spcAft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Можно ещё эффективнее обращаться к памяти, выполняя вычисления сразу над несколькими последовательно лежащими элементами, применив векторизацию вычислений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Box 28"/>
          <p:cNvSpPr/>
          <p:nvPr/>
        </p:nvSpPr>
        <p:spPr>
          <a:xfrm>
            <a:off x="11391840" y="6314400"/>
            <a:ext cx="655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ru-RU" sz="14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18/27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Скругленный прямоугольник 15"/>
          <p:cNvSpPr/>
          <p:nvPr/>
        </p:nvSpPr>
        <p:spPr>
          <a:xfrm>
            <a:off x="295560" y="225360"/>
            <a:ext cx="11598480" cy="7650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9050">
            <a:solidFill>
              <a:srgbClr val="173c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8" name="TextBox 17"/>
          <p:cNvSpPr/>
          <p:nvPr/>
        </p:nvSpPr>
        <p:spPr>
          <a:xfrm rot="16200000">
            <a:off x="11179080" y="5500800"/>
            <a:ext cx="11034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400" strike="noStrike" u="none">
                <a:solidFill>
                  <a:srgbClr val="fa4012"/>
                </a:solidFill>
                <a:effectLst/>
                <a:uFillTx/>
                <a:latin typeface="Arial"/>
              </a:rPr>
              <a:t>06.2026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29" name="Прямая соединительная линия 58"/>
          <p:cNvCxnSpPr/>
          <p:nvPr/>
        </p:nvCxnSpPr>
        <p:spPr>
          <a:xfrm>
            <a:off x="11579040" y="6240600"/>
            <a:ext cx="290160" cy="2160"/>
          </a:xfrm>
          <a:prstGeom prst="straightConnector1">
            <a:avLst/>
          </a:prstGeom>
          <a:ln w="19050">
            <a:solidFill>
              <a:srgbClr val="173c90"/>
            </a:solidFill>
            <a:round/>
          </a:ln>
        </p:spPr>
      </p:cxnSp>
      <p:sp>
        <p:nvSpPr>
          <p:cNvPr id="330" name="TextBox 97"/>
          <p:cNvSpPr/>
          <p:nvPr/>
        </p:nvSpPr>
        <p:spPr>
          <a:xfrm>
            <a:off x="375480" y="456480"/>
            <a:ext cx="15976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2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QR-</a:t>
            </a:r>
            <a:r>
              <a:rPr b="1" lang="ru-RU" sz="12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разложение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Box 98"/>
          <p:cNvSpPr/>
          <p:nvPr/>
        </p:nvSpPr>
        <p:spPr>
          <a:xfrm>
            <a:off x="1762560" y="456480"/>
            <a:ext cx="24620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2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Сравнение трёх полученных реализаций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32" name="Прямая соединительная линия 59"/>
          <p:cNvCxnSpPr/>
          <p:nvPr/>
        </p:nvCxnSpPr>
        <p:spPr>
          <a:xfrm>
            <a:off x="4190760" y="607680"/>
            <a:ext cx="2186280" cy="2160"/>
          </a:xfrm>
          <a:prstGeom prst="straightConnector1">
            <a:avLst/>
          </a:prstGeom>
          <a:ln w="19050">
            <a:solidFill>
              <a:srgbClr val="173c90"/>
            </a:solidFill>
            <a:round/>
          </a:ln>
        </p:spPr>
      </p:cxnSp>
      <p:cxnSp>
        <p:nvCxnSpPr>
          <p:cNvPr id="333" name="Прямая соединительная линия 60"/>
          <p:cNvCxnSpPr/>
          <p:nvPr/>
        </p:nvCxnSpPr>
        <p:spPr>
          <a:xfrm>
            <a:off x="6374880" y="466200"/>
            <a:ext cx="2160" cy="290160"/>
          </a:xfrm>
          <a:prstGeom prst="straightConnector1">
            <a:avLst/>
          </a:prstGeom>
          <a:ln w="19050">
            <a:solidFill>
              <a:srgbClr val="173c90"/>
            </a:solidFill>
            <a:round/>
          </a:ln>
        </p:spPr>
      </p:cxnSp>
      <p:cxnSp>
        <p:nvCxnSpPr>
          <p:cNvPr id="334" name="Прямая соединительная линия 61"/>
          <p:cNvCxnSpPr/>
          <p:nvPr/>
        </p:nvCxnSpPr>
        <p:spPr>
          <a:xfrm>
            <a:off x="9295560" y="466200"/>
            <a:ext cx="2160" cy="290160"/>
          </a:xfrm>
          <a:prstGeom prst="straightConnector1">
            <a:avLst/>
          </a:prstGeom>
          <a:ln w="19050">
            <a:solidFill>
              <a:srgbClr val="173c90"/>
            </a:solidFill>
            <a:round/>
          </a:ln>
        </p:spPr>
      </p:cxnSp>
      <p:sp>
        <p:nvSpPr>
          <p:cNvPr id="335" name="TextBox 99"/>
          <p:cNvSpPr/>
          <p:nvPr/>
        </p:nvSpPr>
        <p:spPr>
          <a:xfrm>
            <a:off x="375480" y="1045440"/>
            <a:ext cx="76003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Сравнение трёх полученных реализаций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6" name="Рисунок 32" descr="Изображение выглядит как текст&#10;&#10;Автоматически созданное описание"/>
          <p:cNvPicPr/>
          <p:nvPr/>
        </p:nvPicPr>
        <p:blipFill>
          <a:blip r:embed="rId1"/>
          <a:stretch/>
        </p:blipFill>
        <p:spPr>
          <a:xfrm>
            <a:off x="7077960" y="389520"/>
            <a:ext cx="1605600" cy="450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7" name="Рисунок 33" descr="Изображение выглядит как текст, красный, знак, оранжевый&#10;&#10;Автоматически созданное описание"/>
          <p:cNvPicPr/>
          <p:nvPr/>
        </p:nvPicPr>
        <p:blipFill>
          <a:blip r:embed="rId2"/>
          <a:stretch/>
        </p:blipFill>
        <p:spPr>
          <a:xfrm>
            <a:off x="9810000" y="476280"/>
            <a:ext cx="1666080" cy="32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8" name="TextBox 100"/>
          <p:cNvSpPr/>
          <p:nvPr/>
        </p:nvSpPr>
        <p:spPr>
          <a:xfrm>
            <a:off x="311400" y="1461600"/>
            <a:ext cx="11583000" cy="140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С учётом оптимизаций, ниже представлены замеры однопоточного и параллельного исполнения для трёх программных реализаций: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Box 101"/>
          <p:cNvSpPr/>
          <p:nvPr/>
        </p:nvSpPr>
        <p:spPr>
          <a:xfrm>
            <a:off x="878040" y="6441120"/>
            <a:ext cx="39610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ru-RU" sz="1500" strike="noStrike" u="none">
                <a:solidFill>
                  <a:srgbClr val="000000"/>
                </a:solidFill>
                <a:effectLst/>
                <a:uFillTx/>
                <a:latin typeface="Times New Roman;serif"/>
                <a:ea typeface="Times New Roman;serif"/>
              </a:rPr>
              <a:t>Запуск на одном потоке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40" name=""/>
          <p:cNvGraphicFramePr/>
          <p:nvPr/>
        </p:nvGraphicFramePr>
        <p:xfrm>
          <a:off x="157320" y="2594880"/>
          <a:ext cx="5707080" cy="3736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41" name="TextBox 102"/>
          <p:cNvSpPr/>
          <p:nvPr/>
        </p:nvSpPr>
        <p:spPr>
          <a:xfrm>
            <a:off x="6750720" y="6400440"/>
            <a:ext cx="39610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ru-RU" sz="1500" strike="noStrike" u="none">
                <a:solidFill>
                  <a:srgbClr val="000000"/>
                </a:solidFill>
                <a:effectLst/>
                <a:uFillTx/>
                <a:latin typeface="Times New Roman;serif"/>
                <a:ea typeface="Times New Roman;serif"/>
              </a:rPr>
              <a:t>Запуск на восьми потоках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42" name=""/>
          <p:cNvGraphicFramePr/>
          <p:nvPr/>
        </p:nvGraphicFramePr>
        <p:xfrm>
          <a:off x="6036840" y="2595240"/>
          <a:ext cx="5707080" cy="3736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43" name="TextBox 95"/>
          <p:cNvSpPr/>
          <p:nvPr/>
        </p:nvSpPr>
        <p:spPr>
          <a:xfrm>
            <a:off x="11391840" y="6314400"/>
            <a:ext cx="655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ru-RU" sz="14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19/27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Скругленный прямоугольник 17"/>
          <p:cNvSpPr/>
          <p:nvPr/>
        </p:nvSpPr>
        <p:spPr>
          <a:xfrm>
            <a:off x="295560" y="225360"/>
            <a:ext cx="11598480" cy="7650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9050">
            <a:solidFill>
              <a:srgbClr val="173c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5" name="TextBox 111"/>
          <p:cNvSpPr/>
          <p:nvPr/>
        </p:nvSpPr>
        <p:spPr>
          <a:xfrm rot="16200000">
            <a:off x="11179080" y="5500800"/>
            <a:ext cx="11034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400" strike="noStrike" u="none">
                <a:solidFill>
                  <a:srgbClr val="fa4012"/>
                </a:solidFill>
                <a:effectLst/>
                <a:uFillTx/>
                <a:latin typeface="Arial"/>
              </a:rPr>
              <a:t>06.2026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46" name="Прямая соединительная линия 66"/>
          <p:cNvCxnSpPr/>
          <p:nvPr/>
        </p:nvCxnSpPr>
        <p:spPr>
          <a:xfrm>
            <a:off x="11579040" y="6240600"/>
            <a:ext cx="290160" cy="2160"/>
          </a:xfrm>
          <a:prstGeom prst="straightConnector1">
            <a:avLst/>
          </a:prstGeom>
          <a:ln w="19050">
            <a:solidFill>
              <a:srgbClr val="173c90"/>
            </a:solidFill>
            <a:round/>
          </a:ln>
        </p:spPr>
      </p:cxnSp>
      <p:sp>
        <p:nvSpPr>
          <p:cNvPr id="347" name="TextBox 113"/>
          <p:cNvSpPr/>
          <p:nvPr/>
        </p:nvSpPr>
        <p:spPr>
          <a:xfrm>
            <a:off x="375480" y="456480"/>
            <a:ext cx="15976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2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QR-</a:t>
            </a:r>
            <a:r>
              <a:rPr b="1" lang="ru-RU" sz="12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разложение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Box 114"/>
          <p:cNvSpPr/>
          <p:nvPr/>
        </p:nvSpPr>
        <p:spPr>
          <a:xfrm>
            <a:off x="1762560" y="456480"/>
            <a:ext cx="2462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2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Сравнение с библиотекой scilab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49" name="Прямая соединительная линия 67"/>
          <p:cNvCxnSpPr/>
          <p:nvPr/>
        </p:nvCxnSpPr>
        <p:spPr>
          <a:xfrm>
            <a:off x="4190760" y="607680"/>
            <a:ext cx="2186280" cy="2160"/>
          </a:xfrm>
          <a:prstGeom prst="straightConnector1">
            <a:avLst/>
          </a:prstGeom>
          <a:ln w="19050">
            <a:solidFill>
              <a:srgbClr val="173c90"/>
            </a:solidFill>
            <a:round/>
          </a:ln>
        </p:spPr>
      </p:cxnSp>
      <p:cxnSp>
        <p:nvCxnSpPr>
          <p:cNvPr id="350" name="Прямая соединительная линия 68"/>
          <p:cNvCxnSpPr/>
          <p:nvPr/>
        </p:nvCxnSpPr>
        <p:spPr>
          <a:xfrm>
            <a:off x="6374880" y="466200"/>
            <a:ext cx="2160" cy="290160"/>
          </a:xfrm>
          <a:prstGeom prst="straightConnector1">
            <a:avLst/>
          </a:prstGeom>
          <a:ln w="19050">
            <a:solidFill>
              <a:srgbClr val="173c90"/>
            </a:solidFill>
            <a:round/>
          </a:ln>
        </p:spPr>
      </p:cxnSp>
      <p:cxnSp>
        <p:nvCxnSpPr>
          <p:cNvPr id="351" name="Прямая соединительная линия 69"/>
          <p:cNvCxnSpPr/>
          <p:nvPr/>
        </p:nvCxnSpPr>
        <p:spPr>
          <a:xfrm>
            <a:off x="9295560" y="466200"/>
            <a:ext cx="2160" cy="290160"/>
          </a:xfrm>
          <a:prstGeom prst="straightConnector1">
            <a:avLst/>
          </a:prstGeom>
          <a:ln w="19050">
            <a:solidFill>
              <a:srgbClr val="173c90"/>
            </a:solidFill>
            <a:round/>
          </a:ln>
        </p:spPr>
      </p:cxnSp>
      <p:sp>
        <p:nvSpPr>
          <p:cNvPr id="352" name="TextBox 115"/>
          <p:cNvSpPr/>
          <p:nvPr/>
        </p:nvSpPr>
        <p:spPr>
          <a:xfrm>
            <a:off x="375480" y="1045440"/>
            <a:ext cx="76003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Сравнение с библиотекой scilab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3" name="Рисунок 36" descr="Изображение выглядит как текст&#10;&#10;Автоматически созданное описание"/>
          <p:cNvPicPr/>
          <p:nvPr/>
        </p:nvPicPr>
        <p:blipFill>
          <a:blip r:embed="rId1"/>
          <a:stretch/>
        </p:blipFill>
        <p:spPr>
          <a:xfrm>
            <a:off x="7077960" y="389520"/>
            <a:ext cx="1605600" cy="450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4" name="Рисунок 37" descr="Изображение выглядит как текст, красный, знак, оранжевый&#10;&#10;Автоматически созданное описание"/>
          <p:cNvPicPr/>
          <p:nvPr/>
        </p:nvPicPr>
        <p:blipFill>
          <a:blip r:embed="rId2"/>
          <a:stretch/>
        </p:blipFill>
        <p:spPr>
          <a:xfrm>
            <a:off x="9810000" y="476280"/>
            <a:ext cx="1666080" cy="32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5" name="TextBox 116"/>
          <p:cNvSpPr/>
          <p:nvPr/>
        </p:nvSpPr>
        <p:spPr>
          <a:xfrm>
            <a:off x="311400" y="1461600"/>
            <a:ext cx="1158300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Microsoft YaHei"/>
              </a:rPr>
              <a:t>Ниже приведено сравнение работы двух оптимальных версий, исполняющихся на восьми потоках, с реализацией QR-разложения в библиотеке scilab: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Box 117"/>
          <p:cNvSpPr/>
          <p:nvPr/>
        </p:nvSpPr>
        <p:spPr>
          <a:xfrm>
            <a:off x="7686720" y="2972880"/>
            <a:ext cx="4504320" cy="192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marL="216000" indent="-21600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ru-RU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Microsoft YaHei"/>
              </a:rPr>
              <a:t>Scilab использует отражения Хаусхолдера для зануления целых столбцов, в то время как метод Гивенса лучше работает для разреженных матриц.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ru-RU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Microsoft YaHei"/>
              </a:rPr>
              <a:t>Игнорирование нулевых отдельно стоящих значений позволит выполнить QR разложение быстрее.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57" name=""/>
          <p:cNvGraphicFramePr/>
          <p:nvPr/>
        </p:nvGraphicFramePr>
        <p:xfrm>
          <a:off x="467640" y="2595600"/>
          <a:ext cx="7458840" cy="4085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58" name="TextBox 112"/>
          <p:cNvSpPr/>
          <p:nvPr/>
        </p:nvSpPr>
        <p:spPr>
          <a:xfrm>
            <a:off x="11391840" y="6314400"/>
            <a:ext cx="655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ru-RU" sz="14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20/27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Скругленный прямоугольник 16"/>
          <p:cNvSpPr/>
          <p:nvPr/>
        </p:nvSpPr>
        <p:spPr>
          <a:xfrm>
            <a:off x="295560" y="225360"/>
            <a:ext cx="11598480" cy="7650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9050">
            <a:solidFill>
              <a:srgbClr val="173c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0" name="TextBox 103"/>
          <p:cNvSpPr/>
          <p:nvPr/>
        </p:nvSpPr>
        <p:spPr>
          <a:xfrm rot="16200000">
            <a:off x="11179080" y="5500800"/>
            <a:ext cx="11034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400" strike="noStrike" u="none">
                <a:solidFill>
                  <a:srgbClr val="fa4012"/>
                </a:solidFill>
                <a:effectLst/>
                <a:uFillTx/>
                <a:latin typeface="Arial"/>
              </a:rPr>
              <a:t>06.2026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61" name="Прямая соединительная линия 62"/>
          <p:cNvCxnSpPr/>
          <p:nvPr/>
        </p:nvCxnSpPr>
        <p:spPr>
          <a:xfrm>
            <a:off x="11579040" y="6240600"/>
            <a:ext cx="290160" cy="2160"/>
          </a:xfrm>
          <a:prstGeom prst="straightConnector1">
            <a:avLst/>
          </a:prstGeom>
          <a:ln w="19050">
            <a:solidFill>
              <a:srgbClr val="173c90"/>
            </a:solidFill>
            <a:round/>
          </a:ln>
        </p:spPr>
      </p:cxnSp>
      <p:sp>
        <p:nvSpPr>
          <p:cNvPr id="362" name="TextBox 105"/>
          <p:cNvSpPr/>
          <p:nvPr/>
        </p:nvSpPr>
        <p:spPr>
          <a:xfrm>
            <a:off x="375480" y="456480"/>
            <a:ext cx="15976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2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QR-</a:t>
            </a:r>
            <a:r>
              <a:rPr b="1" lang="ru-RU" sz="12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разложение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Box 106"/>
          <p:cNvSpPr/>
          <p:nvPr/>
        </p:nvSpPr>
        <p:spPr>
          <a:xfrm>
            <a:off x="1762560" y="456480"/>
            <a:ext cx="2462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2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Сравнение трёх реализаций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64" name="Прямая соединительная линия 63"/>
          <p:cNvCxnSpPr/>
          <p:nvPr/>
        </p:nvCxnSpPr>
        <p:spPr>
          <a:xfrm>
            <a:off x="4190760" y="607680"/>
            <a:ext cx="2186280" cy="2160"/>
          </a:xfrm>
          <a:prstGeom prst="straightConnector1">
            <a:avLst/>
          </a:prstGeom>
          <a:ln w="19050">
            <a:solidFill>
              <a:srgbClr val="173c90"/>
            </a:solidFill>
            <a:round/>
          </a:ln>
        </p:spPr>
      </p:cxnSp>
      <p:cxnSp>
        <p:nvCxnSpPr>
          <p:cNvPr id="365" name="Прямая соединительная линия 64"/>
          <p:cNvCxnSpPr/>
          <p:nvPr/>
        </p:nvCxnSpPr>
        <p:spPr>
          <a:xfrm>
            <a:off x="6374880" y="466200"/>
            <a:ext cx="2160" cy="290160"/>
          </a:xfrm>
          <a:prstGeom prst="straightConnector1">
            <a:avLst/>
          </a:prstGeom>
          <a:ln w="19050">
            <a:solidFill>
              <a:srgbClr val="173c90"/>
            </a:solidFill>
            <a:round/>
          </a:ln>
        </p:spPr>
      </p:cxnSp>
      <p:cxnSp>
        <p:nvCxnSpPr>
          <p:cNvPr id="366" name="Прямая соединительная линия 65"/>
          <p:cNvCxnSpPr/>
          <p:nvPr/>
        </p:nvCxnSpPr>
        <p:spPr>
          <a:xfrm>
            <a:off x="9295560" y="466200"/>
            <a:ext cx="2160" cy="290160"/>
          </a:xfrm>
          <a:prstGeom prst="straightConnector1">
            <a:avLst/>
          </a:prstGeom>
          <a:ln w="19050">
            <a:solidFill>
              <a:srgbClr val="173c90"/>
            </a:solidFill>
            <a:round/>
          </a:ln>
        </p:spPr>
      </p:cxnSp>
      <p:sp>
        <p:nvSpPr>
          <p:cNvPr id="367" name="TextBox 107"/>
          <p:cNvSpPr/>
          <p:nvPr/>
        </p:nvSpPr>
        <p:spPr>
          <a:xfrm>
            <a:off x="375480" y="1045440"/>
            <a:ext cx="76003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Сравнение трёх реализаций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8" name="Рисунок 34" descr="Изображение выглядит как текст&#10;&#10;Автоматически созданное описание"/>
          <p:cNvPicPr/>
          <p:nvPr/>
        </p:nvPicPr>
        <p:blipFill>
          <a:blip r:embed="rId1"/>
          <a:stretch/>
        </p:blipFill>
        <p:spPr>
          <a:xfrm>
            <a:off x="7077960" y="389520"/>
            <a:ext cx="1605600" cy="450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9" name="Рисунок 35" descr="Изображение выглядит как текст, красный, знак, оранжевый&#10;&#10;Автоматически созданное описание"/>
          <p:cNvPicPr/>
          <p:nvPr/>
        </p:nvPicPr>
        <p:blipFill>
          <a:blip r:embed="rId2"/>
          <a:stretch/>
        </p:blipFill>
        <p:spPr>
          <a:xfrm>
            <a:off x="9810000" y="476280"/>
            <a:ext cx="1666080" cy="32256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370" name=""/>
          <p:cNvGraphicFramePr/>
          <p:nvPr/>
        </p:nvGraphicFramePr>
        <p:xfrm>
          <a:off x="1965600" y="1662120"/>
          <a:ext cx="9170640" cy="502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71" name="TextBox 104"/>
          <p:cNvSpPr/>
          <p:nvPr/>
        </p:nvSpPr>
        <p:spPr>
          <a:xfrm>
            <a:off x="11391840" y="6314400"/>
            <a:ext cx="655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ru-RU" sz="14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21/27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Скругленный прямоугольник 7"/>
          <p:cNvSpPr/>
          <p:nvPr/>
        </p:nvSpPr>
        <p:spPr>
          <a:xfrm>
            <a:off x="295560" y="225360"/>
            <a:ext cx="11598480" cy="7650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9050">
            <a:solidFill>
              <a:srgbClr val="173c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3" name="TextBox 40"/>
          <p:cNvSpPr/>
          <p:nvPr/>
        </p:nvSpPr>
        <p:spPr>
          <a:xfrm rot="16200000">
            <a:off x="11179080" y="5500800"/>
            <a:ext cx="11034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400" strike="noStrike" u="none">
                <a:solidFill>
                  <a:srgbClr val="fa4012"/>
                </a:solidFill>
                <a:effectLst/>
                <a:uFillTx/>
                <a:latin typeface="Arial"/>
              </a:rPr>
              <a:t>06.2026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74" name="Прямая соединительная линия 23"/>
          <p:cNvCxnSpPr/>
          <p:nvPr/>
        </p:nvCxnSpPr>
        <p:spPr>
          <a:xfrm>
            <a:off x="11579040" y="6240600"/>
            <a:ext cx="290160" cy="2160"/>
          </a:xfrm>
          <a:prstGeom prst="straightConnector1">
            <a:avLst/>
          </a:prstGeom>
          <a:ln w="19050">
            <a:solidFill>
              <a:srgbClr val="173c90"/>
            </a:solidFill>
            <a:round/>
          </a:ln>
        </p:spPr>
      </p:cxnSp>
      <p:sp>
        <p:nvSpPr>
          <p:cNvPr id="375" name="TextBox 42"/>
          <p:cNvSpPr/>
          <p:nvPr/>
        </p:nvSpPr>
        <p:spPr>
          <a:xfrm>
            <a:off x="375480" y="456480"/>
            <a:ext cx="15976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2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QR-</a:t>
            </a:r>
            <a:r>
              <a:rPr b="1" lang="ru-RU" sz="12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разложение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Box 43"/>
          <p:cNvSpPr/>
          <p:nvPr/>
        </p:nvSpPr>
        <p:spPr>
          <a:xfrm>
            <a:off x="1974960" y="441000"/>
            <a:ext cx="22496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5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Матрица Хессенберга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77" name="Прямая соединительная линия 24"/>
          <p:cNvCxnSpPr/>
          <p:nvPr/>
        </p:nvCxnSpPr>
        <p:spPr>
          <a:xfrm>
            <a:off x="4190760" y="607680"/>
            <a:ext cx="2186280" cy="2160"/>
          </a:xfrm>
          <a:prstGeom prst="straightConnector1">
            <a:avLst/>
          </a:prstGeom>
          <a:ln w="19050">
            <a:solidFill>
              <a:srgbClr val="173c90"/>
            </a:solidFill>
            <a:round/>
          </a:ln>
        </p:spPr>
      </p:cxnSp>
      <p:cxnSp>
        <p:nvCxnSpPr>
          <p:cNvPr id="378" name="Прямая соединительная линия 25"/>
          <p:cNvCxnSpPr/>
          <p:nvPr/>
        </p:nvCxnSpPr>
        <p:spPr>
          <a:xfrm>
            <a:off x="6374880" y="466200"/>
            <a:ext cx="2160" cy="290160"/>
          </a:xfrm>
          <a:prstGeom prst="straightConnector1">
            <a:avLst/>
          </a:prstGeom>
          <a:ln w="19050">
            <a:solidFill>
              <a:srgbClr val="173c90"/>
            </a:solidFill>
            <a:round/>
          </a:ln>
        </p:spPr>
      </p:cxnSp>
      <p:cxnSp>
        <p:nvCxnSpPr>
          <p:cNvPr id="379" name="Прямая соединительная линия 26"/>
          <p:cNvCxnSpPr/>
          <p:nvPr/>
        </p:nvCxnSpPr>
        <p:spPr>
          <a:xfrm>
            <a:off x="9295560" y="466200"/>
            <a:ext cx="2160" cy="290160"/>
          </a:xfrm>
          <a:prstGeom prst="straightConnector1">
            <a:avLst/>
          </a:prstGeom>
          <a:ln w="19050">
            <a:solidFill>
              <a:srgbClr val="173c90"/>
            </a:solidFill>
            <a:round/>
          </a:ln>
        </p:spPr>
      </p:cxnSp>
      <p:sp>
        <p:nvSpPr>
          <p:cNvPr id="380" name="TextBox 44"/>
          <p:cNvSpPr/>
          <p:nvPr/>
        </p:nvSpPr>
        <p:spPr>
          <a:xfrm>
            <a:off x="375480" y="1045440"/>
            <a:ext cx="76003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Матрица Хессенберга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1" name="Рисунок 15" descr="Изображение выглядит как текст&#10;&#10;Автоматически созданное описание"/>
          <p:cNvPicPr/>
          <p:nvPr/>
        </p:nvPicPr>
        <p:blipFill>
          <a:blip r:embed="rId1"/>
          <a:stretch/>
        </p:blipFill>
        <p:spPr>
          <a:xfrm>
            <a:off x="7077960" y="389520"/>
            <a:ext cx="1605600" cy="450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2" name="Рисунок 16" descr="Изображение выглядит как текст, красный, знак, оранжевый&#10;&#10;Автоматически созданное описание"/>
          <p:cNvPicPr/>
          <p:nvPr/>
        </p:nvPicPr>
        <p:blipFill>
          <a:blip r:embed="rId2"/>
          <a:stretch/>
        </p:blipFill>
        <p:spPr>
          <a:xfrm>
            <a:off x="9810000" y="476280"/>
            <a:ext cx="1666080" cy="32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3" name="TextBox 45"/>
          <p:cNvSpPr/>
          <p:nvPr/>
        </p:nvSpPr>
        <p:spPr>
          <a:xfrm>
            <a:off x="311400" y="1440000"/>
            <a:ext cx="11583000" cy="188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Матрица Хессенберга — вид квадратной матрицы, обобщающий треугольные матрицы. Названа так в честь немецкого математика, Карла Хессенберга.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Верхняя матрица Хессенберга — это квадратная матрица, все элементы ниже побочной диагонали которой равны нулю: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Box 46"/>
          <p:cNvSpPr/>
          <p:nvPr/>
        </p:nvSpPr>
        <p:spPr>
          <a:xfrm>
            <a:off x="302040" y="5545080"/>
            <a:ext cx="1158300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Аналогично определяется нижняя матрица Хессенберга, при транспонировании которой получается верхняя матрица Хессенберга.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5" name="" descr=""/>
          <p:cNvPicPr/>
          <p:nvPr/>
        </p:nvPicPr>
        <p:blipFill>
          <a:blip r:embed="rId3"/>
          <a:stretch/>
        </p:blipFill>
        <p:spPr>
          <a:xfrm>
            <a:off x="1388880" y="3311280"/>
            <a:ext cx="3922560" cy="1912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6" name="" descr=""/>
          <p:cNvPicPr/>
          <p:nvPr/>
        </p:nvPicPr>
        <p:blipFill>
          <a:blip r:embed="rId4"/>
          <a:stretch/>
        </p:blipFill>
        <p:spPr>
          <a:xfrm>
            <a:off x="6382080" y="3367800"/>
            <a:ext cx="3779640" cy="194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7" name="TextBox 41"/>
          <p:cNvSpPr/>
          <p:nvPr/>
        </p:nvSpPr>
        <p:spPr>
          <a:xfrm>
            <a:off x="11391840" y="6314400"/>
            <a:ext cx="655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ru-RU" sz="14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22/27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Скругленный прямоугольник 8"/>
          <p:cNvSpPr/>
          <p:nvPr/>
        </p:nvSpPr>
        <p:spPr>
          <a:xfrm>
            <a:off x="295560" y="225360"/>
            <a:ext cx="11598480" cy="7650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9050">
            <a:solidFill>
              <a:srgbClr val="173c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9" name="TextBox 47"/>
          <p:cNvSpPr/>
          <p:nvPr/>
        </p:nvSpPr>
        <p:spPr>
          <a:xfrm rot="16200000">
            <a:off x="11179080" y="5500800"/>
            <a:ext cx="11034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400" strike="noStrike" u="none">
                <a:solidFill>
                  <a:srgbClr val="fa4012"/>
                </a:solidFill>
                <a:effectLst/>
                <a:uFillTx/>
                <a:latin typeface="Arial"/>
              </a:rPr>
              <a:t>06.2026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90" name="Прямая соединительная линия 27"/>
          <p:cNvCxnSpPr/>
          <p:nvPr/>
        </p:nvCxnSpPr>
        <p:spPr>
          <a:xfrm>
            <a:off x="11579040" y="6240600"/>
            <a:ext cx="290160" cy="2160"/>
          </a:xfrm>
          <a:prstGeom prst="straightConnector1">
            <a:avLst/>
          </a:prstGeom>
          <a:ln w="19050">
            <a:solidFill>
              <a:srgbClr val="173c90"/>
            </a:solidFill>
            <a:round/>
          </a:ln>
        </p:spPr>
      </p:cxnSp>
      <p:sp>
        <p:nvSpPr>
          <p:cNvPr id="391" name="TextBox 49"/>
          <p:cNvSpPr/>
          <p:nvPr/>
        </p:nvSpPr>
        <p:spPr>
          <a:xfrm>
            <a:off x="375480" y="456480"/>
            <a:ext cx="15976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2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QR-</a:t>
            </a:r>
            <a:r>
              <a:rPr b="1" lang="ru-RU" sz="12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разложение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Box 50"/>
          <p:cNvSpPr/>
          <p:nvPr/>
        </p:nvSpPr>
        <p:spPr>
          <a:xfrm>
            <a:off x="1728720" y="441000"/>
            <a:ext cx="249588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5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QR-разложение верхней матрицы Хессенберга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93" name="Прямая соединительная линия 28"/>
          <p:cNvCxnSpPr/>
          <p:nvPr/>
        </p:nvCxnSpPr>
        <p:spPr>
          <a:xfrm>
            <a:off x="4190760" y="607680"/>
            <a:ext cx="2186280" cy="2160"/>
          </a:xfrm>
          <a:prstGeom prst="straightConnector1">
            <a:avLst/>
          </a:prstGeom>
          <a:ln w="19050">
            <a:solidFill>
              <a:srgbClr val="173c90"/>
            </a:solidFill>
            <a:round/>
          </a:ln>
        </p:spPr>
      </p:cxnSp>
      <p:cxnSp>
        <p:nvCxnSpPr>
          <p:cNvPr id="394" name="Прямая соединительная линия 29"/>
          <p:cNvCxnSpPr/>
          <p:nvPr/>
        </p:nvCxnSpPr>
        <p:spPr>
          <a:xfrm>
            <a:off x="6374880" y="466200"/>
            <a:ext cx="2160" cy="290160"/>
          </a:xfrm>
          <a:prstGeom prst="straightConnector1">
            <a:avLst/>
          </a:prstGeom>
          <a:ln w="19050">
            <a:solidFill>
              <a:srgbClr val="173c90"/>
            </a:solidFill>
            <a:round/>
          </a:ln>
        </p:spPr>
      </p:cxnSp>
      <p:cxnSp>
        <p:nvCxnSpPr>
          <p:cNvPr id="395" name="Прямая соединительная линия 30"/>
          <p:cNvCxnSpPr/>
          <p:nvPr/>
        </p:nvCxnSpPr>
        <p:spPr>
          <a:xfrm>
            <a:off x="9295560" y="466200"/>
            <a:ext cx="2160" cy="290160"/>
          </a:xfrm>
          <a:prstGeom prst="straightConnector1">
            <a:avLst/>
          </a:prstGeom>
          <a:ln w="19050">
            <a:solidFill>
              <a:srgbClr val="173c90"/>
            </a:solidFill>
            <a:round/>
          </a:ln>
        </p:spPr>
      </p:cxnSp>
      <p:sp>
        <p:nvSpPr>
          <p:cNvPr id="396" name="TextBox 51"/>
          <p:cNvSpPr/>
          <p:nvPr/>
        </p:nvSpPr>
        <p:spPr>
          <a:xfrm>
            <a:off x="375480" y="1045440"/>
            <a:ext cx="76003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QR-разложение верхней матрицы Хессенберга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7" name="Рисунок 17" descr="Изображение выглядит как текст&#10;&#10;Автоматически созданное описание"/>
          <p:cNvPicPr/>
          <p:nvPr/>
        </p:nvPicPr>
        <p:blipFill>
          <a:blip r:embed="rId1"/>
          <a:stretch/>
        </p:blipFill>
        <p:spPr>
          <a:xfrm>
            <a:off x="7077960" y="389520"/>
            <a:ext cx="1605600" cy="450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8" name="Рисунок 19" descr="Изображение выглядит как текст, красный, знак, оранжевый&#10;&#10;Автоматически созданное описание"/>
          <p:cNvPicPr/>
          <p:nvPr/>
        </p:nvPicPr>
        <p:blipFill>
          <a:blip r:embed="rId2"/>
          <a:stretch/>
        </p:blipFill>
        <p:spPr>
          <a:xfrm>
            <a:off x="9810000" y="476280"/>
            <a:ext cx="1666080" cy="32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9" name="TextBox 52"/>
          <p:cNvSpPr/>
          <p:nvPr/>
        </p:nvSpPr>
        <p:spPr>
          <a:xfrm>
            <a:off x="311400" y="1440000"/>
            <a:ext cx="11583000" cy="13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Пусть верхняя хессенбергова матрица A имет размер 6x6. С помощью алгоритма QR-разложения на основе вращений Гивенса решение задачи разложения верхней Хессенберговой матрицы выглядит следующим образом: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"/>
          <p:cNvSpPr/>
          <p:nvPr/>
        </p:nvSpPr>
        <p:spPr>
          <a:xfrm>
            <a:off x="124200" y="5343120"/>
            <a:ext cx="1145376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необходимо с помощью вращений Гивенса последовательно занулить (N-1) элементов, лежащих на побочной диагонали под главной (выделены красным)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1" name="" descr=""/>
          <p:cNvPicPr/>
          <p:nvPr/>
        </p:nvPicPr>
        <p:blipFill>
          <a:blip r:embed="rId3"/>
          <a:stretch/>
        </p:blipFill>
        <p:spPr>
          <a:xfrm>
            <a:off x="359280" y="3047040"/>
            <a:ext cx="3061440" cy="1823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2" name="" descr=""/>
          <p:cNvPicPr/>
          <p:nvPr/>
        </p:nvPicPr>
        <p:blipFill>
          <a:blip r:embed="rId4"/>
          <a:stretch/>
        </p:blipFill>
        <p:spPr>
          <a:xfrm>
            <a:off x="3921120" y="3163680"/>
            <a:ext cx="3221280" cy="1692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3" name="" descr=""/>
          <p:cNvPicPr/>
          <p:nvPr/>
        </p:nvPicPr>
        <p:blipFill>
          <a:blip r:embed="rId5"/>
          <a:stretch/>
        </p:blipFill>
        <p:spPr>
          <a:xfrm>
            <a:off x="7889040" y="3040920"/>
            <a:ext cx="3715560" cy="1683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4" name="TextBox 48"/>
          <p:cNvSpPr/>
          <p:nvPr/>
        </p:nvSpPr>
        <p:spPr>
          <a:xfrm>
            <a:off x="11391840" y="6314400"/>
            <a:ext cx="655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ru-RU" sz="14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23/27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Скругленный прямоугольник 9"/>
          <p:cNvSpPr/>
          <p:nvPr/>
        </p:nvSpPr>
        <p:spPr>
          <a:xfrm>
            <a:off x="295560" y="225360"/>
            <a:ext cx="11598480" cy="7650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9050">
            <a:solidFill>
              <a:srgbClr val="173c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6" name="TextBox 53"/>
          <p:cNvSpPr/>
          <p:nvPr/>
        </p:nvSpPr>
        <p:spPr>
          <a:xfrm rot="16200000">
            <a:off x="11179080" y="5500800"/>
            <a:ext cx="11034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400" strike="noStrike" u="none">
                <a:solidFill>
                  <a:srgbClr val="fa4012"/>
                </a:solidFill>
                <a:effectLst/>
                <a:uFillTx/>
                <a:latin typeface="Arial"/>
              </a:rPr>
              <a:t>06.2026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07" name="Прямая соединительная линия 31"/>
          <p:cNvCxnSpPr/>
          <p:nvPr/>
        </p:nvCxnSpPr>
        <p:spPr>
          <a:xfrm>
            <a:off x="11579040" y="6240600"/>
            <a:ext cx="290160" cy="2160"/>
          </a:xfrm>
          <a:prstGeom prst="straightConnector1">
            <a:avLst/>
          </a:prstGeom>
          <a:ln w="19050">
            <a:solidFill>
              <a:srgbClr val="173c90"/>
            </a:solidFill>
            <a:round/>
          </a:ln>
        </p:spPr>
      </p:cxnSp>
      <p:sp>
        <p:nvSpPr>
          <p:cNvPr id="408" name="TextBox 55"/>
          <p:cNvSpPr/>
          <p:nvPr/>
        </p:nvSpPr>
        <p:spPr>
          <a:xfrm>
            <a:off x="375480" y="456480"/>
            <a:ext cx="15976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2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QR-</a:t>
            </a:r>
            <a:r>
              <a:rPr b="1" lang="ru-RU" sz="12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разложение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Box 56"/>
          <p:cNvSpPr/>
          <p:nvPr/>
        </p:nvSpPr>
        <p:spPr>
          <a:xfrm>
            <a:off x="1728720" y="441000"/>
            <a:ext cx="249588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5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QR-разложение нижней матрицы Хессенберга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10" name="Прямая соединительная линия 32"/>
          <p:cNvCxnSpPr/>
          <p:nvPr/>
        </p:nvCxnSpPr>
        <p:spPr>
          <a:xfrm>
            <a:off x="4190760" y="607680"/>
            <a:ext cx="2186280" cy="2160"/>
          </a:xfrm>
          <a:prstGeom prst="straightConnector1">
            <a:avLst/>
          </a:prstGeom>
          <a:ln w="19050">
            <a:solidFill>
              <a:srgbClr val="173c90"/>
            </a:solidFill>
            <a:round/>
          </a:ln>
        </p:spPr>
      </p:cxnSp>
      <p:cxnSp>
        <p:nvCxnSpPr>
          <p:cNvPr id="411" name="Прямая соединительная линия 33"/>
          <p:cNvCxnSpPr/>
          <p:nvPr/>
        </p:nvCxnSpPr>
        <p:spPr>
          <a:xfrm>
            <a:off x="6374880" y="466200"/>
            <a:ext cx="2160" cy="290160"/>
          </a:xfrm>
          <a:prstGeom prst="straightConnector1">
            <a:avLst/>
          </a:prstGeom>
          <a:ln w="19050">
            <a:solidFill>
              <a:srgbClr val="173c90"/>
            </a:solidFill>
            <a:round/>
          </a:ln>
        </p:spPr>
      </p:cxnSp>
      <p:cxnSp>
        <p:nvCxnSpPr>
          <p:cNvPr id="412" name="Прямая соединительная линия 34"/>
          <p:cNvCxnSpPr/>
          <p:nvPr/>
        </p:nvCxnSpPr>
        <p:spPr>
          <a:xfrm>
            <a:off x="9295560" y="466200"/>
            <a:ext cx="2160" cy="290160"/>
          </a:xfrm>
          <a:prstGeom prst="straightConnector1">
            <a:avLst/>
          </a:prstGeom>
          <a:ln w="19050">
            <a:solidFill>
              <a:srgbClr val="173c90"/>
            </a:solidFill>
            <a:round/>
          </a:ln>
        </p:spPr>
      </p:cxnSp>
      <p:sp>
        <p:nvSpPr>
          <p:cNvPr id="413" name="TextBox 57"/>
          <p:cNvSpPr/>
          <p:nvPr/>
        </p:nvSpPr>
        <p:spPr>
          <a:xfrm>
            <a:off x="375480" y="1045440"/>
            <a:ext cx="76003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QR-разложение нижней матрицы Хессенберга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14" name="Рисунок 20" descr="Изображение выглядит как текст&#10;&#10;Автоматически созданное описание"/>
          <p:cNvPicPr/>
          <p:nvPr/>
        </p:nvPicPr>
        <p:blipFill>
          <a:blip r:embed="rId1"/>
          <a:stretch/>
        </p:blipFill>
        <p:spPr>
          <a:xfrm>
            <a:off x="7077960" y="389520"/>
            <a:ext cx="1605600" cy="450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5" name="Рисунок 21" descr="Изображение выглядит как текст, красный, знак, оранжевый&#10;&#10;Автоматически созданное описание"/>
          <p:cNvPicPr/>
          <p:nvPr/>
        </p:nvPicPr>
        <p:blipFill>
          <a:blip r:embed="rId2"/>
          <a:stretch/>
        </p:blipFill>
        <p:spPr>
          <a:xfrm>
            <a:off x="9810000" y="476280"/>
            <a:ext cx="1666080" cy="32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6" name="TextBox 58"/>
          <p:cNvSpPr/>
          <p:nvPr/>
        </p:nvSpPr>
        <p:spPr>
          <a:xfrm>
            <a:off x="311400" y="1440000"/>
            <a:ext cx="11583000" cy="13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Пусть нижняя хессенбергова матрица A имет размер 6x6. С помощью алгоритма QR-разложения на основе отражений Хасхолдера решение задачи разложения нижней Хессенберговой матрицы выглядит следующим образом: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"/>
          <p:cNvSpPr/>
          <p:nvPr/>
        </p:nvSpPr>
        <p:spPr>
          <a:xfrm>
            <a:off x="124200" y="5343120"/>
            <a:ext cx="1195632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  <a:spcBef>
                <a:spcPts val="601"/>
              </a:spcBef>
              <a:spcAft>
                <a:spcPts val="601"/>
              </a:spcAft>
              <a:tabLst>
                <a:tab algn="l" pos="0"/>
              </a:tabLst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необходимо с помощью </a:t>
            </a:r>
            <a:r>
              <a:rPr b="0" lang="ru-RU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Microsoft YaHei"/>
              </a:rPr>
              <a:t>отражений Хаусхолдера</a:t>
            </a: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а </a:t>
            </a: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занулить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  </a:t>
            </a: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Calibri"/>
              </a:rPr>
              <a:t>          элементов, лежащих ниже главной диагонали (выделены красным)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"/>
          <p:cNvSpPr/>
          <p:nvPr/>
        </p:nvSpPr>
        <p:spPr>
          <a:xfrm>
            <a:off x="6569640" y="5484240"/>
            <a:ext cx="617400" cy="42048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19" name="" descr=""/>
          <p:cNvPicPr/>
          <p:nvPr/>
        </p:nvPicPr>
        <p:blipFill>
          <a:blip r:embed="rId4"/>
          <a:stretch/>
        </p:blipFill>
        <p:spPr>
          <a:xfrm>
            <a:off x="953640" y="3095280"/>
            <a:ext cx="3100680" cy="1789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0" name="" descr=""/>
          <p:cNvPicPr/>
          <p:nvPr/>
        </p:nvPicPr>
        <p:blipFill>
          <a:blip r:embed="rId5"/>
          <a:stretch/>
        </p:blipFill>
        <p:spPr>
          <a:xfrm>
            <a:off x="4391280" y="3148200"/>
            <a:ext cx="3392640" cy="1851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1" name="" descr=""/>
          <p:cNvPicPr/>
          <p:nvPr/>
        </p:nvPicPr>
        <p:blipFill>
          <a:blip r:embed="rId6"/>
          <a:stretch/>
        </p:blipFill>
        <p:spPr>
          <a:xfrm>
            <a:off x="7947000" y="3132360"/>
            <a:ext cx="3587400" cy="1706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2" name="TextBox 54"/>
          <p:cNvSpPr/>
          <p:nvPr/>
        </p:nvSpPr>
        <p:spPr>
          <a:xfrm>
            <a:off x="11391840" y="6314400"/>
            <a:ext cx="655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ru-RU" sz="14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24/27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Скругленный прямоугольник 11"/>
          <p:cNvSpPr/>
          <p:nvPr/>
        </p:nvSpPr>
        <p:spPr>
          <a:xfrm>
            <a:off x="295560" y="225360"/>
            <a:ext cx="11598480" cy="7650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9050">
            <a:solidFill>
              <a:srgbClr val="173c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4" name="TextBox 65"/>
          <p:cNvSpPr/>
          <p:nvPr/>
        </p:nvSpPr>
        <p:spPr>
          <a:xfrm rot="16200000">
            <a:off x="11179080" y="5500800"/>
            <a:ext cx="11034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400" strike="noStrike" u="none">
                <a:solidFill>
                  <a:srgbClr val="fa4012"/>
                </a:solidFill>
                <a:effectLst/>
                <a:uFillTx/>
                <a:latin typeface="Arial"/>
              </a:rPr>
              <a:t>06.2026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25" name="Прямая соединительная линия 39"/>
          <p:cNvCxnSpPr/>
          <p:nvPr/>
        </p:nvCxnSpPr>
        <p:spPr>
          <a:xfrm>
            <a:off x="11579040" y="6240600"/>
            <a:ext cx="290160" cy="2160"/>
          </a:xfrm>
          <a:prstGeom prst="straightConnector1">
            <a:avLst/>
          </a:prstGeom>
          <a:ln w="19050">
            <a:solidFill>
              <a:srgbClr val="173c90"/>
            </a:solidFill>
            <a:round/>
          </a:ln>
        </p:spPr>
      </p:cxnSp>
      <p:sp>
        <p:nvSpPr>
          <p:cNvPr id="426" name="TextBox 67"/>
          <p:cNvSpPr/>
          <p:nvPr/>
        </p:nvSpPr>
        <p:spPr>
          <a:xfrm>
            <a:off x="375480" y="456480"/>
            <a:ext cx="15976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2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QR-</a:t>
            </a:r>
            <a:r>
              <a:rPr b="1" lang="ru-RU" sz="12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разложение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Box 68"/>
          <p:cNvSpPr/>
          <p:nvPr/>
        </p:nvSpPr>
        <p:spPr>
          <a:xfrm>
            <a:off x="1728720" y="279000"/>
            <a:ext cx="2495880" cy="68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3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Результаты решения задачи QR-разложения хессенберговой матрицы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28" name="Прямая соединительная линия 40"/>
          <p:cNvCxnSpPr/>
          <p:nvPr/>
        </p:nvCxnSpPr>
        <p:spPr>
          <a:xfrm>
            <a:off x="4190760" y="607680"/>
            <a:ext cx="2186280" cy="2160"/>
          </a:xfrm>
          <a:prstGeom prst="straightConnector1">
            <a:avLst/>
          </a:prstGeom>
          <a:ln w="19050">
            <a:solidFill>
              <a:srgbClr val="173c90"/>
            </a:solidFill>
            <a:round/>
          </a:ln>
        </p:spPr>
      </p:cxnSp>
      <p:cxnSp>
        <p:nvCxnSpPr>
          <p:cNvPr id="429" name="Прямая соединительная линия 43"/>
          <p:cNvCxnSpPr/>
          <p:nvPr/>
        </p:nvCxnSpPr>
        <p:spPr>
          <a:xfrm>
            <a:off x="6374880" y="466200"/>
            <a:ext cx="2160" cy="290160"/>
          </a:xfrm>
          <a:prstGeom prst="straightConnector1">
            <a:avLst/>
          </a:prstGeom>
          <a:ln w="19050">
            <a:solidFill>
              <a:srgbClr val="173c90"/>
            </a:solidFill>
            <a:round/>
          </a:ln>
        </p:spPr>
      </p:cxnSp>
      <p:cxnSp>
        <p:nvCxnSpPr>
          <p:cNvPr id="430" name="Прямая соединительная линия 44"/>
          <p:cNvCxnSpPr/>
          <p:nvPr/>
        </p:nvCxnSpPr>
        <p:spPr>
          <a:xfrm>
            <a:off x="9295560" y="466200"/>
            <a:ext cx="2160" cy="290160"/>
          </a:xfrm>
          <a:prstGeom prst="straightConnector1">
            <a:avLst/>
          </a:prstGeom>
          <a:ln w="19050">
            <a:solidFill>
              <a:srgbClr val="173c90"/>
            </a:solidFill>
            <a:round/>
          </a:ln>
        </p:spPr>
      </p:cxnSp>
      <p:sp>
        <p:nvSpPr>
          <p:cNvPr id="431" name="TextBox 69"/>
          <p:cNvSpPr/>
          <p:nvPr/>
        </p:nvSpPr>
        <p:spPr>
          <a:xfrm>
            <a:off x="375480" y="1045440"/>
            <a:ext cx="8934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Результаты решения задачи QR-разложения хессенберговой матрицы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32" name="Рисунок 24" descr="Изображение выглядит как текст&#10;&#10;Автоматически созданное описание"/>
          <p:cNvPicPr/>
          <p:nvPr/>
        </p:nvPicPr>
        <p:blipFill>
          <a:blip r:embed="rId1"/>
          <a:stretch/>
        </p:blipFill>
        <p:spPr>
          <a:xfrm>
            <a:off x="7077960" y="389520"/>
            <a:ext cx="1605600" cy="450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3" name="Рисунок 25" descr="Изображение выглядит как текст, красный, знак, оранжевый&#10;&#10;Автоматически созданное описание"/>
          <p:cNvPicPr/>
          <p:nvPr/>
        </p:nvPicPr>
        <p:blipFill>
          <a:blip r:embed="rId2"/>
          <a:stretch/>
        </p:blipFill>
        <p:spPr>
          <a:xfrm>
            <a:off x="9810000" y="476280"/>
            <a:ext cx="1666080" cy="32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4" name="TextBox 70"/>
          <p:cNvSpPr/>
          <p:nvPr/>
        </p:nvSpPr>
        <p:spPr>
          <a:xfrm>
            <a:off x="1345320" y="1518120"/>
            <a:ext cx="396108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ru-RU" sz="1500" strike="noStrike" u="none">
                <a:solidFill>
                  <a:srgbClr val="000000"/>
                </a:solidFill>
                <a:effectLst/>
                <a:uFillTx/>
                <a:latin typeface="Times New Roman;serif"/>
                <a:ea typeface="Times New Roman;serif"/>
              </a:rPr>
              <a:t>Сравнение скорости решения QR-разложения верхней хессенберговой матрицы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35" name=""/>
          <p:cNvGraphicFramePr/>
          <p:nvPr/>
        </p:nvGraphicFramePr>
        <p:xfrm>
          <a:off x="950760" y="2182680"/>
          <a:ext cx="5446800" cy="460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36" name=""/>
          <p:cNvGraphicFramePr/>
          <p:nvPr/>
        </p:nvGraphicFramePr>
        <p:xfrm>
          <a:off x="6457320" y="2164680"/>
          <a:ext cx="5427720" cy="4691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37" name="TextBox 71"/>
          <p:cNvSpPr/>
          <p:nvPr/>
        </p:nvSpPr>
        <p:spPr>
          <a:xfrm>
            <a:off x="6703200" y="1553760"/>
            <a:ext cx="396108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ru-RU" sz="1500" strike="noStrike" u="none">
                <a:solidFill>
                  <a:srgbClr val="000000"/>
                </a:solidFill>
                <a:effectLst/>
                <a:uFillTx/>
                <a:latin typeface="Times New Roman;serif"/>
                <a:ea typeface="Times New Roman;serif"/>
              </a:rPr>
              <a:t>Сравнение скорости решения QR-разложения нижней хессенберговой матрицы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Box 66"/>
          <p:cNvSpPr/>
          <p:nvPr/>
        </p:nvSpPr>
        <p:spPr>
          <a:xfrm>
            <a:off x="11391840" y="6314400"/>
            <a:ext cx="655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ru-RU" sz="14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25/27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Скругленный прямоугольник 18"/>
          <p:cNvSpPr/>
          <p:nvPr/>
        </p:nvSpPr>
        <p:spPr>
          <a:xfrm>
            <a:off x="295560" y="225360"/>
            <a:ext cx="11598480" cy="7650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19050">
            <a:solidFill>
              <a:srgbClr val="173c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0" name="TextBox 108"/>
          <p:cNvSpPr/>
          <p:nvPr/>
        </p:nvSpPr>
        <p:spPr>
          <a:xfrm rot="16200000">
            <a:off x="11179080" y="5500800"/>
            <a:ext cx="11034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400" strike="noStrike" u="none">
                <a:solidFill>
                  <a:srgbClr val="fa4012"/>
                </a:solidFill>
                <a:effectLst/>
                <a:uFillTx/>
                <a:latin typeface="Arial"/>
              </a:rPr>
              <a:t>06.2026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41" name="Прямая соединительная линия 70"/>
          <p:cNvCxnSpPr/>
          <p:nvPr/>
        </p:nvCxnSpPr>
        <p:spPr>
          <a:xfrm>
            <a:off x="11579040" y="6240600"/>
            <a:ext cx="290160" cy="2160"/>
          </a:xfrm>
          <a:prstGeom prst="straightConnector1">
            <a:avLst/>
          </a:prstGeom>
          <a:ln w="19050">
            <a:solidFill>
              <a:srgbClr val="173c90"/>
            </a:solidFill>
            <a:round/>
          </a:ln>
        </p:spPr>
      </p:cxnSp>
      <p:sp>
        <p:nvSpPr>
          <p:cNvPr id="442" name="TextBox 110"/>
          <p:cNvSpPr/>
          <p:nvPr/>
        </p:nvSpPr>
        <p:spPr>
          <a:xfrm>
            <a:off x="375480" y="456480"/>
            <a:ext cx="15976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12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QR-</a:t>
            </a:r>
            <a:r>
              <a:rPr b="1" lang="ru-RU" sz="12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разложение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Box 118"/>
          <p:cNvSpPr/>
          <p:nvPr/>
        </p:nvSpPr>
        <p:spPr>
          <a:xfrm>
            <a:off x="3014280" y="431640"/>
            <a:ext cx="11754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3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Заключение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44" name="Прямая соединительная линия 71"/>
          <p:cNvCxnSpPr/>
          <p:nvPr/>
        </p:nvCxnSpPr>
        <p:spPr>
          <a:xfrm>
            <a:off x="4190760" y="607680"/>
            <a:ext cx="2186280" cy="2160"/>
          </a:xfrm>
          <a:prstGeom prst="straightConnector1">
            <a:avLst/>
          </a:prstGeom>
          <a:ln w="19050">
            <a:solidFill>
              <a:srgbClr val="173c90"/>
            </a:solidFill>
            <a:round/>
          </a:ln>
        </p:spPr>
      </p:cxnSp>
      <p:cxnSp>
        <p:nvCxnSpPr>
          <p:cNvPr id="445" name="Прямая соединительная линия 72"/>
          <p:cNvCxnSpPr/>
          <p:nvPr/>
        </p:nvCxnSpPr>
        <p:spPr>
          <a:xfrm>
            <a:off x="6374880" y="466200"/>
            <a:ext cx="2160" cy="290160"/>
          </a:xfrm>
          <a:prstGeom prst="straightConnector1">
            <a:avLst/>
          </a:prstGeom>
          <a:ln w="19050">
            <a:solidFill>
              <a:srgbClr val="173c90"/>
            </a:solidFill>
            <a:round/>
          </a:ln>
        </p:spPr>
      </p:cxnSp>
      <p:cxnSp>
        <p:nvCxnSpPr>
          <p:cNvPr id="446" name="Прямая соединительная линия 73"/>
          <p:cNvCxnSpPr/>
          <p:nvPr/>
        </p:nvCxnSpPr>
        <p:spPr>
          <a:xfrm>
            <a:off x="9295560" y="466200"/>
            <a:ext cx="2160" cy="290160"/>
          </a:xfrm>
          <a:prstGeom prst="straightConnector1">
            <a:avLst/>
          </a:prstGeom>
          <a:ln w="19050">
            <a:solidFill>
              <a:srgbClr val="173c90"/>
            </a:solidFill>
            <a:round/>
          </a:ln>
        </p:spPr>
      </p:cxnSp>
      <p:sp>
        <p:nvSpPr>
          <p:cNvPr id="447" name="TextBox 119"/>
          <p:cNvSpPr/>
          <p:nvPr/>
        </p:nvSpPr>
        <p:spPr>
          <a:xfrm>
            <a:off x="375480" y="1045440"/>
            <a:ext cx="8934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ru-RU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Заключение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48" name="Рисунок 38" descr="Изображение выглядит как текст&#10;&#10;Автоматически созданное описание"/>
          <p:cNvPicPr/>
          <p:nvPr/>
        </p:nvPicPr>
        <p:blipFill>
          <a:blip r:embed="rId1"/>
          <a:stretch/>
        </p:blipFill>
        <p:spPr>
          <a:xfrm>
            <a:off x="7077960" y="389520"/>
            <a:ext cx="1605600" cy="450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9" name="Рисунок 39" descr="Изображение выглядит как текст, красный, знак, оранжевый&#10;&#10;Автоматически созданное описание"/>
          <p:cNvPicPr/>
          <p:nvPr/>
        </p:nvPicPr>
        <p:blipFill>
          <a:blip r:embed="rId2"/>
          <a:stretch/>
        </p:blipFill>
        <p:spPr>
          <a:xfrm>
            <a:off x="9810000" y="476280"/>
            <a:ext cx="1666080" cy="32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0" name="TextBox 120"/>
          <p:cNvSpPr/>
          <p:nvPr/>
        </p:nvSpPr>
        <p:spPr>
          <a:xfrm>
            <a:off x="790560" y="1518120"/>
            <a:ext cx="10324080" cy="46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16000" indent="-216000">
              <a:lnSpc>
                <a:spcPct val="100000"/>
              </a:lnSpc>
              <a:spcBef>
                <a:spcPts val="1701"/>
              </a:spcBef>
              <a:spcAft>
                <a:spcPts val="1701"/>
              </a:spcAft>
              <a:buClr>
                <a:srgbClr val="000000"/>
              </a:buClr>
              <a:buSzPct val="45000"/>
              <a:buFont typeface="Symbol" charset="2"/>
              <a:buChar char="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Times New Roman;serif"/>
                <a:ea typeface="Times New Roman;serif"/>
              </a:rPr>
              <a:t>QR-разложение на основе отражений Хаусхолдера удалось лучше оптимизировать в виду большего пространства для улучшений: избавление от матричных умножений и in-place хранение векторов отражения дали очень большой прирост производительности.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701"/>
              </a:spcBef>
              <a:spcAft>
                <a:spcPts val="1701"/>
              </a:spcAft>
              <a:buClr>
                <a:srgbClr val="000000"/>
              </a:buClr>
              <a:buSzPct val="45000"/>
              <a:buFont typeface="Symbol" charset="2"/>
              <a:buChar char="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Times New Roman;serif"/>
                <a:ea typeface="Times New Roman;serif"/>
              </a:rPr>
              <a:t>QR-разложение на основе вращений Гивенса работает быстрее на небольших данных (&lt;500), однако всё ещё проигрывает по скорости на больших (&gt;&gt;1000). Дело в ограниченной применимости метода — этот метод даст лучший результат при применении его к разреженным матрицам.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701"/>
              </a:spcBef>
              <a:spcAft>
                <a:spcPts val="1701"/>
              </a:spcAft>
              <a:buClr>
                <a:srgbClr val="000000"/>
              </a:buClr>
              <a:buSzPct val="45000"/>
              <a:buFont typeface="Symbol" charset="2"/>
              <a:buChar char="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Times New Roman;serif"/>
                <a:ea typeface="Times New Roman;serif"/>
              </a:rPr>
              <a:t>В связи с этим целесообразно перед применением метода проанализировать степень заполненности поддиагональной части матрицы 0. Эксперименты показали, что метод Гивенса имеет смысл применять при &gt;90% процентов нулей.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701"/>
              </a:spcBef>
              <a:spcAft>
                <a:spcPts val="1701"/>
              </a:spcAft>
              <a:buClr>
                <a:srgbClr val="000000"/>
              </a:buClr>
              <a:buSzPct val="45000"/>
              <a:buFont typeface="Symbol" charset="2"/>
              <a:buChar char=""/>
            </a:pPr>
            <a:r>
              <a:rPr b="0" lang="ru-RU" sz="1800" strike="noStrike" u="none">
                <a:solidFill>
                  <a:srgbClr val="000000"/>
                </a:solidFill>
                <a:effectLst/>
                <a:uFillTx/>
                <a:latin typeface="Times New Roman;serif"/>
                <a:ea typeface="Times New Roman;serif"/>
              </a:rPr>
              <a:t>Также можно попробовать реализовать блочные алгоритмы. Для этого больше подойдёт MPI-параллелизм на уровне процессов. Это позволит приблизиться к версии из библиотеки Scilab, где QR-разложение реализуется с использованием подпрограмм из библиотеки Lapack.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TextBox 109"/>
          <p:cNvSpPr/>
          <p:nvPr/>
        </p:nvSpPr>
        <p:spPr>
          <a:xfrm>
            <a:off x="11391840" y="6314400"/>
            <a:ext cx="6559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0" lang="ru-RU" sz="14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26/27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Скругленный прямоугольник 2"/>
          <p:cNvSpPr/>
          <p:nvPr/>
        </p:nvSpPr>
        <p:spPr>
          <a:xfrm>
            <a:off x="663120" y="1015920"/>
            <a:ext cx="10863720" cy="498888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28575">
            <a:solidFill>
              <a:srgbClr val="4454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ru-RU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453" name="Рисунок 3" descr="Изображение выглядит как текст&#10;&#10;Автоматически созданное описание"/>
          <p:cNvPicPr/>
          <p:nvPr/>
        </p:nvPicPr>
        <p:blipFill>
          <a:blip r:embed="rId1"/>
          <a:stretch/>
        </p:blipFill>
        <p:spPr>
          <a:xfrm>
            <a:off x="5292360" y="1396800"/>
            <a:ext cx="1605600" cy="450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4" name="TextBox 4"/>
          <p:cNvSpPr/>
          <p:nvPr/>
        </p:nvSpPr>
        <p:spPr>
          <a:xfrm>
            <a:off x="2894760" y="3136680"/>
            <a:ext cx="6400440" cy="58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ru-RU" sz="3200" strike="noStrike" u="none">
                <a:solidFill>
                  <a:srgbClr val="173c90"/>
                </a:solidFill>
                <a:effectLst/>
                <a:uFillTx/>
                <a:latin typeface="Arial"/>
              </a:rPr>
              <a:t>СПАСИБО ЗА ВНИМАНИЕ!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685</TotalTime>
  <Application>LibreOffice/25.2.7.2$Windows_X86_64 LibreOffice_project/5cbfd1ab6520636bb5f7b99185aa69bd7456825d</Application>
  <AppVersion>15.0000</AppVersion>
  <Words>953</Words>
  <Paragraphs>238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2025-06-04T17:20:17Z</dcterms:created>
  <dc:creator>Кандрин Алексей Дмитриевич</dc:creator>
  <dc:description/>
  <dc:language>ru-RU</dc:language>
  <cp:lastModifiedBy/>
  <cp:lastPrinted>2026-05-31T18:17:27Z</cp:lastPrinted>
  <dcterms:modified xsi:type="dcterms:W3CDTF">2026-05-31T18:17:48Z</dcterms:modified>
  <cp:revision>173</cp:revision>
  <dc:subject/>
  <dc:title>QR разложение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8</vt:i4>
  </property>
  <property fmtid="{D5CDD505-2E9C-101B-9397-08002B2CF9AE}" pid="3" name="PresentationFormat">
    <vt:lpwstr>Широкоэкранный</vt:lpwstr>
  </property>
  <property fmtid="{D5CDD505-2E9C-101B-9397-08002B2CF9AE}" pid="4" name="Slides">
    <vt:i4>16</vt:i4>
  </property>
</Properties>
</file>
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28.wmf" ContentType="image/x-wmf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9.png" ContentType="image/png"/>
  <Override PartName="/ppt/media/image30.png" ContentType="image/png"/>
  <Override PartName="/ppt/media/image31.png" ContentType="image/png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_rels/notesSlide10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9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21342579216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0.0489507</c:v>
                </c:pt>
                <c:pt idx="1">
                  <c:v>0.590008</c:v>
                </c:pt>
                <c:pt idx="2">
                  <c:v>2.97088</c:v>
                </c:pt>
                <c:pt idx="3">
                  <c:v>9.34946</c:v>
                </c:pt>
                <c:pt idx="4">
                  <c:v>24.0397</c:v>
                </c:pt>
                <c:pt idx="5">
                  <c:v>54.1162</c:v>
                </c:pt>
                <c:pt idx="6">
                  <c:v>97.9165</c:v>
                </c:pt>
                <c:pt idx="7">
                  <c:v>175.203</c:v>
                </c:pt>
                <c:pt idx="8">
                  <c:v>327</c:v>
                </c:pt>
                <c:pt idx="9">
                  <c:v>545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0"/>
                <c:pt idx="0">
                  <c:v>0.0037046</c:v>
                </c:pt>
                <c:pt idx="1">
                  <c:v>0.0087853</c:v>
                </c:pt>
                <c:pt idx="2">
                  <c:v>0.0192567</c:v>
                </c:pt>
                <c:pt idx="3">
                  <c:v>0.0449681</c:v>
                </c:pt>
                <c:pt idx="4">
                  <c:v>0.0484657</c:v>
                </c:pt>
                <c:pt idx="5">
                  <c:v>0.091016</c:v>
                </c:pt>
                <c:pt idx="6">
                  <c:v>0.136375</c:v>
                </c:pt>
                <c:pt idx="7">
                  <c:v>0.22583</c:v>
                </c:pt>
                <c:pt idx="8">
                  <c:v>0.303426</c:v>
                </c:pt>
                <c:pt idx="9">
                  <c:v>0.493081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0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0.0369054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44667200"/>
        <c:axId val="22610940"/>
      </c:lineChart>
      <c:catAx>
        <c:axId val="44667200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2610940"/>
        <c:crosses val="autoZero"/>
        <c:auto val="1"/>
        <c:lblAlgn val="ctr"/>
        <c:lblOffset val="100"/>
        <c:noMultiLvlLbl val="0"/>
      </c:catAx>
      <c:valAx>
        <c:axId val="22610940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4667200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72149344097"/>
          <c:y val="0.498218241356063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117114514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0"/>
                <c:pt idx="0">
                  <c:v>0.154983</c:v>
                </c:pt>
                <c:pt idx="1">
                  <c:v>2.53974</c:v>
                </c:pt>
                <c:pt idx="2">
                  <c:v>11.855</c:v>
                </c:pt>
                <c:pt idx="3">
                  <c:v>36.759</c:v>
                </c:pt>
                <c:pt idx="4">
                  <c:v>100.427</c:v>
                </c:pt>
                <c:pt idx="5">
                  <c:v>210.789</c:v>
                </c:pt>
                <c:pt idx="6">
                  <c:v>410</c:v>
                </c:pt>
                <c:pt idx="7">
                  <c:v>720</c:v>
                </c:pt>
                <c:pt idx="8">
                  <c:v>1190</c:v>
                </c:pt>
                <c:pt idx="9">
                  <c:v>1850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0"/>
                <c:pt idx="0">
                  <c:v>0.0014857</c:v>
                </c:pt>
                <c:pt idx="1">
                  <c:v>0.0066652</c:v>
                </c:pt>
                <c:pt idx="2">
                  <c:v>0.022568</c:v>
                </c:pt>
                <c:pt idx="3">
                  <c:v>0.0631678</c:v>
                </c:pt>
                <c:pt idx="4">
                  <c:v>0.106889</c:v>
                </c:pt>
                <c:pt idx="5">
                  <c:v>0.202664</c:v>
                </c:pt>
                <c:pt idx="6">
                  <c:v>0.340168</c:v>
                </c:pt>
                <c:pt idx="7">
                  <c:v>0.718987</c:v>
                </c:pt>
                <c:pt idx="8">
                  <c:v>0.873042</c:v>
                </c:pt>
                <c:pt idx="9">
                  <c:v>1.1182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0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0"/>
                <c:pt idx="0">
                  <c:v>0.0009985</c:v>
                </c:pt>
                <c:pt idx="1">
                  <c:v>0.0052362</c:v>
                </c:pt>
                <c:pt idx="2">
                  <c:v>0.0154869</c:v>
                </c:pt>
                <c:pt idx="3">
                  <c:v>0.0404785</c:v>
                </c:pt>
                <c:pt idx="4">
                  <c:v>0.0771692</c:v>
                </c:pt>
                <c:pt idx="5">
                  <c:v>0.144747</c:v>
                </c:pt>
                <c:pt idx="6">
                  <c:v>0.217609</c:v>
                </c:pt>
                <c:pt idx="7">
                  <c:v>0.339549</c:v>
                </c:pt>
                <c:pt idx="8">
                  <c:v>0.468352</c:v>
                </c:pt>
                <c:pt idx="9">
                  <c:v>0.638065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20612193"/>
        <c:axId val="1671891"/>
      </c:lineChart>
      <c:catAx>
        <c:axId val="2061219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671891"/>
        <c:crosses val="autoZero"/>
        <c:auto val="1"/>
        <c:lblAlgn val="ctr"/>
        <c:lblOffset val="100"/>
        <c:noMultiLvlLbl val="0"/>
      </c:catAx>
      <c:valAx>
        <c:axId val="1671891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061219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117114514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1.1182</c:v>
                </c:pt>
                <c:pt idx="1">
                  <c:v>4.92117</c:v>
                </c:pt>
                <c:pt idx="2">
                  <c:v>21.0609</c:v>
                </c:pt>
                <c:pt idx="3">
                  <c:v>40.5992</c:v>
                </c:pt>
                <c:pt idx="4">
                  <c:v>99.9885</c:v>
                </c:pt>
                <c:pt idx="5">
                  <c:v>196.143</c:v>
                </c:pt>
                <c:pt idx="6">
                  <c:v>400.319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7"/>
                <c:pt idx="0">
                  <c:v>0.638065</c:v>
                </c:pt>
                <c:pt idx="1">
                  <c:v>2.3033</c:v>
                </c:pt>
                <c:pt idx="2">
                  <c:v>5.85005</c:v>
                </c:pt>
                <c:pt idx="3">
                  <c:v>11.9563</c:v>
                </c:pt>
                <c:pt idx="4">
                  <c:v>20.7962</c:v>
                </c:pt>
                <c:pt idx="5">
                  <c:v>33.538</c:v>
                </c:pt>
                <c:pt idx="6">
                  <c:v>50.5261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68547299"/>
        <c:axId val="71959124"/>
      </c:lineChart>
      <c:catAx>
        <c:axId val="68547299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71959124"/>
        <c:crosses val="autoZero"/>
        <c:auto val="1"/>
        <c:lblAlgn val="ctr"/>
        <c:lblOffset val="100"/>
        <c:noMultiLvlLbl val="0"/>
      </c:catAx>
      <c:valAx>
        <c:axId val="71959124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68547299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117114514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7"/>
                <c:pt idx="0">
                  <c:v>0.493081</c:v>
                </c:pt>
                <c:pt idx="1">
                  <c:v>2.74045</c:v>
                </c:pt>
                <c:pt idx="2">
                  <c:v>9.7409</c:v>
                </c:pt>
                <c:pt idx="3">
                  <c:v>19.7588</c:v>
                </c:pt>
                <c:pt idx="4">
                  <c:v>39.3139</c:v>
                </c:pt>
                <c:pt idx="5">
                  <c:v>63.9547</c:v>
                </c:pt>
                <c:pt idx="6">
                  <c:v>117.753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7"/>
                <c:pt idx="0">
                  <c:v>1000</c:v>
                </c:pt>
                <c:pt idx="1">
                  <c:v>1500</c:v>
                </c:pt>
                <c:pt idx="2">
                  <c:v>2000</c:v>
                </c:pt>
                <c:pt idx="3">
                  <c:v>2500</c:v>
                </c:pt>
                <c:pt idx="4">
                  <c:v>3000</c:v>
                </c:pt>
                <c:pt idx="5">
                  <c:v>3500</c:v>
                </c:pt>
                <c:pt idx="6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7"/>
                <c:pt idx="0">
                  <c:v>0.164251</c:v>
                </c:pt>
                <c:pt idx="1">
                  <c:v>0.662782</c:v>
                </c:pt>
                <c:pt idx="2">
                  <c:v>2.47128</c:v>
                </c:pt>
                <c:pt idx="3">
                  <c:v>5.2263</c:v>
                </c:pt>
                <c:pt idx="4">
                  <c:v>9.71765</c:v>
                </c:pt>
                <c:pt idx="5">
                  <c:v>15.6171</c:v>
                </c:pt>
                <c:pt idx="6">
                  <c:v>23.7826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18145159"/>
        <c:axId val="95784746"/>
      </c:lineChart>
      <c:catAx>
        <c:axId val="18145159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5784746"/>
        <c:crosses val="autoZero"/>
        <c:auto val="1"/>
        <c:lblAlgn val="ctr"/>
        <c:lblOffset val="100"/>
        <c:noMultiLvlLbl val="0"/>
      </c:catAx>
      <c:valAx>
        <c:axId val="95784746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8145159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259856209765"/>
          <c:y val="0.0197297521346265"/>
          <c:w val="0.65250693106527"/>
          <c:h val="0.848130647434303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Избавление от матричных умножений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0.0037046</c:v>
                </c:pt>
                <c:pt idx="1">
                  <c:v>0.0087853</c:v>
                </c:pt>
                <c:pt idx="2">
                  <c:v>0.0192567</c:v>
                </c:pt>
                <c:pt idx="3">
                  <c:v>0.0449681</c:v>
                </c:pt>
                <c:pt idx="4">
                  <c:v>0.0484657</c:v>
                </c:pt>
                <c:pt idx="5">
                  <c:v>0.091016</c:v>
                </c:pt>
                <c:pt idx="6">
                  <c:v>0.136375</c:v>
                </c:pt>
                <c:pt idx="7">
                  <c:v>0.22583</c:v>
                </c:pt>
                <c:pt idx="8">
                  <c:v>0.303426</c:v>
                </c:pt>
                <c:pt idx="9">
                  <c:v>0.493081</c:v>
                </c:pt>
                <c:pt idx="10">
                  <c:v>2.74045</c:v>
                </c:pt>
                <c:pt idx="11">
                  <c:v>9.7409</c:v>
                </c:pt>
                <c:pt idx="12">
                  <c:v>19.7588</c:v>
                </c:pt>
                <c:pt idx="13">
                  <c:v>39.3139</c:v>
                </c:pt>
                <c:pt idx="14">
                  <c:v>63.9547</c:v>
                </c:pt>
                <c:pt idx="15">
                  <c:v>117.753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in-place хранение нормированных векторов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0.0520784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  <c:pt idx="10">
                  <c:v>0.662782</c:v>
                </c:pt>
                <c:pt idx="11">
                  <c:v>2.47128</c:v>
                </c:pt>
                <c:pt idx="12">
                  <c:v>5.2263</c:v>
                </c:pt>
                <c:pt idx="13">
                  <c:v>9.71765</c:v>
                </c:pt>
                <c:pt idx="14">
                  <c:v>15.6171</c:v>
                </c:pt>
                <c:pt idx="15">
                  <c:v>23.7826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scilab версия</c:v>
                </c:pt>
              </c:strCache>
            </c:strRef>
          </c:tx>
          <c:spPr>
            <a:solidFill>
              <a:srgbClr val="f10d0c"/>
            </a:solidFill>
            <a:ln w="28800">
              <a:solidFill>
                <a:srgbClr val="f10d0c"/>
              </a:solidFill>
              <a:round/>
            </a:ln>
          </c:spPr>
          <c:marker>
            <c:symbol val="triangle"/>
            <c:size val="8"/>
            <c:spPr>
              <a:solidFill>
                <a:srgbClr val="f10d0c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14564407"/>
        <c:axId val="11965977"/>
      </c:lineChart>
      <c:catAx>
        <c:axId val="14564407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1965977"/>
        <c:crosses val="autoZero"/>
        <c:auto val="1"/>
        <c:lblAlgn val="ctr"/>
        <c:lblOffset val="100"/>
        <c:noMultiLvlLbl val="0"/>
      </c:catAx>
      <c:valAx>
        <c:axId val="11965977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4564407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117114514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l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0.0013115</c:v>
                </c:pt>
                <c:pt idx="1">
                  <c:v>0.0102885</c:v>
                </c:pt>
                <c:pt idx="2">
                  <c:v>0.0331369</c:v>
                </c:pt>
                <c:pt idx="3">
                  <c:v>0.0681976</c:v>
                </c:pt>
                <c:pt idx="4">
                  <c:v>0.126461</c:v>
                </c:pt>
                <c:pt idx="5">
                  <c:v>0.213508</c:v>
                </c:pt>
                <c:pt idx="6">
                  <c:v>0.369684</c:v>
                </c:pt>
                <c:pt idx="7">
                  <c:v>0.522814</c:v>
                </c:pt>
                <c:pt idx="8">
                  <c:v>0.74382</c:v>
                </c:pt>
                <c:pt idx="9">
                  <c:v>1.03255</c:v>
                </c:pt>
                <c:pt idx="10">
                  <c:v>4.23951</c:v>
                </c:pt>
                <c:pt idx="11">
                  <c:v>9.38852</c:v>
                </c:pt>
                <c:pt idx="12">
                  <c:v>18.5025</c:v>
                </c:pt>
                <c:pt idx="13">
                  <c:v>31.8739</c:v>
                </c:pt>
                <c:pt idx="14">
                  <c:v>50.2523</c:v>
                </c:pt>
                <c:pt idx="15">
                  <c:v>75.3927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0.0014271</c:v>
                </c:pt>
                <c:pt idx="1">
                  <c:v>0.0100838</c:v>
                </c:pt>
                <c:pt idx="2">
                  <c:v>0.0319887</c:v>
                </c:pt>
                <c:pt idx="3">
                  <c:v>0.0708905</c:v>
                </c:pt>
                <c:pt idx="4">
                  <c:v>0.141176</c:v>
                </c:pt>
                <c:pt idx="5">
                  <c:v>0.235563</c:v>
                </c:pt>
                <c:pt idx="6">
                  <c:v>0.3691</c:v>
                </c:pt>
                <c:pt idx="7">
                  <c:v>0.565115</c:v>
                </c:pt>
                <c:pt idx="8">
                  <c:v>0.823601</c:v>
                </c:pt>
                <c:pt idx="9">
                  <c:v>1.18734</c:v>
                </c:pt>
                <c:pt idx="10">
                  <c:v>3.9269</c:v>
                </c:pt>
                <c:pt idx="11">
                  <c:v>9.11078</c:v>
                </c:pt>
                <c:pt idx="12">
                  <c:v>17.9521</c:v>
                </c:pt>
                <c:pt idx="13">
                  <c:v>30.0101</c:v>
                </c:pt>
                <c:pt idx="14">
                  <c:v>48.9718</c:v>
                </c:pt>
                <c:pt idx="15">
                  <c:v>73.9241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0.0004123</c:v>
                </c:pt>
                <c:pt idx="1">
                  <c:v>0.00258</c:v>
                </c:pt>
                <c:pt idx="2">
                  <c:v>0.0058212</c:v>
                </c:pt>
                <c:pt idx="3">
                  <c:v>0.0133668</c:v>
                </c:pt>
                <c:pt idx="4">
                  <c:v>0.0326057</c:v>
                </c:pt>
                <c:pt idx="5">
                  <c:v>0.0635673</c:v>
                </c:pt>
                <c:pt idx="6">
                  <c:v>0.130495</c:v>
                </c:pt>
                <c:pt idx="7">
                  <c:v>0.221892</c:v>
                </c:pt>
                <c:pt idx="8">
                  <c:v>0.247834</c:v>
                </c:pt>
                <c:pt idx="9">
                  <c:v>0.496281</c:v>
                </c:pt>
                <c:pt idx="10">
                  <c:v>0.496281</c:v>
                </c:pt>
                <c:pt idx="11">
                  <c:v>3.55704</c:v>
                </c:pt>
                <c:pt idx="12">
                  <c:v>7.23234</c:v>
                </c:pt>
                <c:pt idx="13">
                  <c:v>12.8809</c:v>
                </c:pt>
                <c:pt idx="14">
                  <c:v>20.2517</c:v>
                </c:pt>
                <c:pt idx="15">
                  <c:v>30.9537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34560550"/>
        <c:axId val="91075146"/>
      </c:lineChart>
      <c:catAx>
        <c:axId val="34560550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1075146"/>
        <c:crosses val="autoZero"/>
        <c:auto val="1"/>
        <c:lblAlgn val="ctr"/>
        <c:lblOffset val="100"/>
        <c:noMultiLvlLbl val="0"/>
      </c:catAx>
      <c:valAx>
        <c:axId val="91075146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34560550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332996972755"/>
          <c:y val="0.0197438120003852"/>
          <c:w val="0.652497477295661"/>
          <c:h val="0.8481171145141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Базовая реализация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0.0012517</c:v>
                </c:pt>
                <c:pt idx="1">
                  <c:v>0.011072</c:v>
                </c:pt>
                <c:pt idx="2">
                  <c:v>0.0314288</c:v>
                </c:pt>
                <c:pt idx="3">
                  <c:v>0.0786339</c:v>
                </c:pt>
                <c:pt idx="4">
                  <c:v>0.140472</c:v>
                </c:pt>
                <c:pt idx="5">
                  <c:v>0.213508</c:v>
                </c:pt>
                <c:pt idx="6">
                  <c:v>0.369684</c:v>
                </c:pt>
                <c:pt idx="7">
                  <c:v>0.522814</c:v>
                </c:pt>
                <c:pt idx="8">
                  <c:v>0.74382</c:v>
                </c:pt>
                <c:pt idx="9">
                  <c:v>1.03255</c:v>
                </c:pt>
                <c:pt idx="10">
                  <c:v>4.23951</c:v>
                </c:pt>
                <c:pt idx="11">
                  <c:v>9.38852</c:v>
                </c:pt>
                <c:pt idx="12">
                  <c:v>18.5025</c:v>
                </c:pt>
                <c:pt idx="13">
                  <c:v>31.8739</c:v>
                </c:pt>
                <c:pt idx="14">
                  <c:v>50.2523</c:v>
                </c:pt>
                <c:pt idx="15">
                  <c:v>75.3927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Pt>
            <c:idx val="10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Pt>
            <c:idx val="11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Pt>
            <c:idx val="12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Pt>
            <c:idx val="13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Pt>
            <c:idx val="14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Pt>
            <c:idx val="15"/>
            <c:marker>
              <c:symbol val="triangle"/>
              <c:size val="8"/>
              <c:spPr>
                <a:solidFill>
                  <a:srgbClr val="ffd320"/>
                </a:solidFill>
              </c:spPr>
            </c:marker>
          </c:dPt>
          <c:dLbls>
            <c:dLbl>
              <c:idx val="10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dLbl>
              <c:idx val="11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dLbl>
              <c:idx val="12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dLbl>
              <c:idx val="13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dLbl>
              <c:idx val="14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dLbl>
              <c:idx val="15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0.0013181</c:v>
                </c:pt>
                <c:pt idx="1">
                  <c:v>0.0099296</c:v>
                </c:pt>
                <c:pt idx="2">
                  <c:v>0.0318885</c:v>
                </c:pt>
                <c:pt idx="3">
                  <c:v>0.0764529</c:v>
                </c:pt>
                <c:pt idx="4">
                  <c:v>0.140105</c:v>
                </c:pt>
                <c:pt idx="5">
                  <c:v>0.254556</c:v>
                </c:pt>
                <c:pt idx="6">
                  <c:v>0.392292</c:v>
                </c:pt>
                <c:pt idx="7">
                  <c:v>0.782092</c:v>
                </c:pt>
                <c:pt idx="8">
                  <c:v>0.889774</c:v>
                </c:pt>
                <c:pt idx="9">
                  <c:v>1.00876</c:v>
                </c:pt>
                <c:pt idx="10">
                  <c:v>2.55075</c:v>
                </c:pt>
                <c:pt idx="11">
                  <c:v>5.12232</c:v>
                </c:pt>
                <c:pt idx="12">
                  <c:v>9.40546</c:v>
                </c:pt>
                <c:pt idx="13">
                  <c:v>15.6294</c:v>
                </c:pt>
                <c:pt idx="14">
                  <c:v>24.0062</c:v>
                </c:pt>
                <c:pt idx="15">
                  <c:v>35.1546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Pt>
            <c:idx val="14"/>
            <c:marker>
              <c:symbol val="triangle"/>
              <c:size val="8"/>
              <c:spPr>
                <a:solidFill>
                  <a:srgbClr val="579d1c"/>
                </a:solidFill>
              </c:spPr>
            </c:marker>
          </c:dPt>
          <c:dLbls>
            <c:numFmt formatCode="General" sourceLinked="0"/>
            <c:dLbl>
              <c:idx val="14"/>
              <c:numFmt formatCode="General" sourceLinked="0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25047282"/>
        <c:axId val="67203060"/>
      </c:lineChart>
      <c:catAx>
        <c:axId val="2504728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67203060"/>
        <c:crosses val="autoZero"/>
        <c:auto val="1"/>
        <c:lblAlgn val="ctr"/>
        <c:lblOffset val="100"/>
        <c:noMultiLvlLbl val="0"/>
      </c:catAx>
      <c:valAx>
        <c:axId val="67203060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25047282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5102478400706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089759675707"/>
          <c:y val="0.0197322057787174"/>
          <c:w val="0.652494932921533"/>
          <c:h val="0.84813248766737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Объединённое хранение Q и R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0.0013181</c:v>
                </c:pt>
                <c:pt idx="1">
                  <c:v>0.0099296</c:v>
                </c:pt>
                <c:pt idx="2">
                  <c:v>0.0318885</c:v>
                </c:pt>
                <c:pt idx="3">
                  <c:v>0.0764529</c:v>
                </c:pt>
                <c:pt idx="4">
                  <c:v>0.140105</c:v>
                </c:pt>
                <c:pt idx="5">
                  <c:v>0.254556</c:v>
                </c:pt>
                <c:pt idx="6">
                  <c:v>0.392292</c:v>
                </c:pt>
                <c:pt idx="7">
                  <c:v>0.782092</c:v>
                </c:pt>
                <c:pt idx="8">
                  <c:v>0.889774</c:v>
                </c:pt>
                <c:pt idx="9">
                  <c:v>1.00876</c:v>
                </c:pt>
                <c:pt idx="10">
                  <c:v>2.55075</c:v>
                </c:pt>
                <c:pt idx="11">
                  <c:v>5.12232</c:v>
                </c:pt>
                <c:pt idx="12">
                  <c:v>9.40546</c:v>
                </c:pt>
                <c:pt idx="13">
                  <c:v>15.6294</c:v>
                </c:pt>
                <c:pt idx="14">
                  <c:v>24.0062</c:v>
                </c:pt>
                <c:pt idx="15">
                  <c:v>35.1546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Векторизованные вычисления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Реализация scilab</c:v>
                </c:pt>
              </c:strCache>
            </c:strRef>
          </c:tx>
          <c:spPr>
            <a:solidFill>
              <a:srgbClr val="ff0000"/>
            </a:solidFill>
            <a:ln w="28800">
              <a:solidFill>
                <a:srgbClr val="ff0000"/>
              </a:solidFill>
              <a:round/>
            </a:ln>
          </c:spPr>
          <c:marker>
            <c:symbol val="triangle"/>
            <c:size val="8"/>
            <c:spPr>
              <a:solidFill>
                <a:srgbClr val="ff0000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84623384"/>
        <c:axId val="30056471"/>
      </c:lineChart>
      <c:catAx>
        <c:axId val="84623384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30056471"/>
        <c:crosses val="autoZero"/>
        <c:auto val="1"/>
        <c:lblAlgn val="ctr"/>
        <c:lblOffset val="100"/>
        <c:noMultiLvlLbl val="0"/>
      </c:catAx>
      <c:valAx>
        <c:axId val="30056471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84623384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724096613483"/>
          <c:y val="0.498170261941448"/>
          <c:w val="0.237197275479314"/>
          <c:h val="0.42328806703265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0196647956981"/>
          <c:y val="0.0196317260156194"/>
          <c:w val="0.652470856066256"/>
          <c:h val="0.848104893601777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in-place алгоритм отражений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6"/>
                <c:pt idx="0">
                  <c:v>0.0038215</c:v>
                </c:pt>
                <c:pt idx="1">
                  <c:v>0.0076733</c:v>
                </c:pt>
                <c:pt idx="2">
                  <c:v>0.011263</c:v>
                </c:pt>
                <c:pt idx="3">
                  <c:v>0.0242997</c:v>
                </c:pt>
                <c:pt idx="4">
                  <c:v>0.029481</c:v>
                </c:pt>
                <c:pt idx="5">
                  <c:v>0.0369054</c:v>
                </c:pt>
                <c:pt idx="6">
                  <c:v>0.0520784</c:v>
                </c:pt>
                <c:pt idx="7">
                  <c:v>0.0778759</c:v>
                </c:pt>
                <c:pt idx="8">
                  <c:v>0.114006</c:v>
                </c:pt>
                <c:pt idx="9">
                  <c:v>0.164251</c:v>
                </c:pt>
                <c:pt idx="10">
                  <c:v>0.662782</c:v>
                </c:pt>
                <c:pt idx="11">
                  <c:v>2.47128</c:v>
                </c:pt>
                <c:pt idx="12">
                  <c:v>5.2263</c:v>
                </c:pt>
                <c:pt idx="13">
                  <c:v>9.71765</c:v>
                </c:pt>
                <c:pt idx="14">
                  <c:v>15.6171</c:v>
                </c:pt>
                <c:pt idx="15">
                  <c:v>23.7826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Векторизованные вычисления вращений Гивенса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6"/>
                <c:pt idx="0">
                  <c:v>0.0003797</c:v>
                </c:pt>
                <c:pt idx="1">
                  <c:v>0.0024847</c:v>
                </c:pt>
                <c:pt idx="2">
                  <c:v>0.007201</c:v>
                </c:pt>
                <c:pt idx="3">
                  <c:v>0.0146559</c:v>
                </c:pt>
                <c:pt idx="4">
                  <c:v>0.0288285</c:v>
                </c:pt>
                <c:pt idx="5">
                  <c:v>0.0649643</c:v>
                </c:pt>
                <c:pt idx="6">
                  <c:v>0.0896495</c:v>
                </c:pt>
                <c:pt idx="7">
                  <c:v>0.164743</c:v>
                </c:pt>
                <c:pt idx="8">
                  <c:v>0.291743</c:v>
                </c:pt>
                <c:pt idx="9">
                  <c:v>0.412436</c:v>
                </c:pt>
                <c:pt idx="10">
                  <c:v>1.6963</c:v>
                </c:pt>
                <c:pt idx="11">
                  <c:v>3.66677</c:v>
                </c:pt>
                <c:pt idx="12">
                  <c:v>7.32413</c:v>
                </c:pt>
                <c:pt idx="13">
                  <c:v>12.6413</c:v>
                </c:pt>
                <c:pt idx="14">
                  <c:v>20.7444</c:v>
                </c:pt>
                <c:pt idx="15">
                  <c:v>31.001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Реализация scilab</c:v>
                </c:pt>
              </c:strCache>
            </c:strRef>
          </c:tx>
          <c:spPr>
            <a:solidFill>
              <a:srgbClr val="ff0000"/>
            </a:solidFill>
            <a:ln w="28800">
              <a:solidFill>
                <a:srgbClr val="ff0000"/>
              </a:solidFill>
              <a:round/>
            </a:ln>
          </c:spPr>
          <c:marker>
            <c:symbol val="triangle"/>
            <c:size val="8"/>
            <c:spPr>
              <a:solidFill>
                <a:srgbClr val="ff0000"/>
              </a:solidFill>
            </c:spPr>
          </c:marker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600</c:v>
                </c:pt>
                <c:pt idx="6">
                  <c:v>700</c:v>
                </c:pt>
                <c:pt idx="7">
                  <c:v>800</c:v>
                </c:pt>
                <c:pt idx="8">
                  <c:v>900</c:v>
                </c:pt>
                <c:pt idx="9">
                  <c:v>1000</c:v>
                </c:pt>
                <c:pt idx="10">
                  <c:v>1500</c:v>
                </c:pt>
                <c:pt idx="11">
                  <c:v>2000</c:v>
                </c:pt>
                <c:pt idx="12">
                  <c:v>2500</c:v>
                </c:pt>
                <c:pt idx="13">
                  <c:v>3000</c:v>
                </c:pt>
                <c:pt idx="14">
                  <c:v>3500</c:v>
                </c:pt>
                <c:pt idx="15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6"/>
                <c:pt idx="0">
                  <c:v>0.0335941</c:v>
                </c:pt>
                <c:pt idx="1">
                  <c:v>0.0039998</c:v>
                </c:pt>
                <c:pt idx="2">
                  <c:v>0.0084994</c:v>
                </c:pt>
                <c:pt idx="3">
                  <c:v>0.0054738</c:v>
                </c:pt>
                <c:pt idx="4">
                  <c:v>0.0088187</c:v>
                </c:pt>
                <c:pt idx="5">
                  <c:v>0.052328</c:v>
                </c:pt>
                <c:pt idx="6">
                  <c:v>0.0211349</c:v>
                </c:pt>
                <c:pt idx="7">
                  <c:v>0.0211328</c:v>
                </c:pt>
                <c:pt idx="8">
                  <c:v>0.0266102</c:v>
                </c:pt>
                <c:pt idx="9">
                  <c:v>0.0412016</c:v>
                </c:pt>
                <c:pt idx="10">
                  <c:v>0.0998157</c:v>
                </c:pt>
                <c:pt idx="11">
                  <c:v>0.1859652</c:v>
                </c:pt>
                <c:pt idx="12">
                  <c:v>0.3497936</c:v>
                </c:pt>
                <c:pt idx="13">
                  <c:v>0.6075179</c:v>
                </c:pt>
                <c:pt idx="14">
                  <c:v>0.9034108</c:v>
                </c:pt>
                <c:pt idx="15">
                  <c:v>1.4172756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68882548"/>
        <c:axId val="8339836"/>
      </c:lineChart>
      <c:catAx>
        <c:axId val="6888254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8339836"/>
        <c:crosses val="autoZero"/>
        <c:auto val="1"/>
        <c:lblAlgn val="ctr"/>
        <c:lblOffset val="100"/>
        <c:noMultiLvlLbl val="0"/>
      </c:catAx>
      <c:valAx>
        <c:axId val="8339836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68882548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7189113545336"/>
          <c:y val="0.498106227428873"/>
          <c:w val="0.237187530161181"/>
          <c:h val="0.423273431994362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2265908940726"/>
          <c:y val="0.0200093793965922"/>
          <c:w val="0.660278860767858"/>
          <c:h val="0.883148350789433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0.0001294</c:v>
                </c:pt>
                <c:pt idx="1">
                  <c:v>0.0004733</c:v>
                </c:pt>
                <c:pt idx="2">
                  <c:v>0.0012873</c:v>
                </c:pt>
                <c:pt idx="3">
                  <c:v>0.0014392</c:v>
                </c:pt>
                <c:pt idx="4">
                  <c:v>0.0022636</c:v>
                </c:pt>
                <c:pt idx="5">
                  <c:v>0.0099787</c:v>
                </c:pt>
                <c:pt idx="6">
                  <c:v>0.0244809</c:v>
                </c:pt>
                <c:pt idx="7">
                  <c:v>0.049296</c:v>
                </c:pt>
                <c:pt idx="8">
                  <c:v>0.070357</c:v>
                </c:pt>
                <c:pt idx="9">
                  <c:v>0.111763</c:v>
                </c:pt>
                <c:pt idx="10">
                  <c:v>0.165066</c:v>
                </c:pt>
                <c:pt idx="11">
                  <c:v>0.226181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0.0009429</c:v>
                </c:pt>
                <c:pt idx="1">
                  <c:v>0.0076185</c:v>
                </c:pt>
                <c:pt idx="2">
                  <c:v>0.0222422</c:v>
                </c:pt>
                <c:pt idx="3">
                  <c:v>0.0370319</c:v>
                </c:pt>
                <c:pt idx="4">
                  <c:v>0.0707061</c:v>
                </c:pt>
                <c:pt idx="5">
                  <c:v>0.193794</c:v>
                </c:pt>
                <c:pt idx="6">
                  <c:v>1.14657</c:v>
                </c:pt>
                <c:pt idx="7">
                  <c:v>6.44008</c:v>
                </c:pt>
                <c:pt idx="8">
                  <c:v>16.1027</c:v>
                </c:pt>
                <c:pt idx="9">
                  <c:v>28.8915</c:v>
                </c:pt>
                <c:pt idx="10">
                  <c:v>42.731</c:v>
                </c:pt>
                <c:pt idx="11">
                  <c:v>67.3722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0.030026</c:v>
                </c:pt>
                <c:pt idx="1">
                  <c:v>0.003412</c:v>
                </c:pt>
                <c:pt idx="2">
                  <c:v>0.0045437</c:v>
                </c:pt>
                <c:pt idx="3">
                  <c:v>0.0069478</c:v>
                </c:pt>
                <c:pt idx="4">
                  <c:v>0.0069478</c:v>
                </c:pt>
                <c:pt idx="5">
                  <c:v>0.0422846</c:v>
                </c:pt>
                <c:pt idx="6">
                  <c:v>0.07312</c:v>
                </c:pt>
                <c:pt idx="7">
                  <c:v>0.1638567</c:v>
                </c:pt>
                <c:pt idx="8">
                  <c:v>0.3190695</c:v>
                </c:pt>
                <c:pt idx="9">
                  <c:v>0.533518</c:v>
                </c:pt>
                <c:pt idx="10">
                  <c:v>0.7996886</c:v>
                </c:pt>
                <c:pt idx="11">
                  <c:v>1.7190395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50206135"/>
        <c:axId val="93245163"/>
      </c:lineChart>
      <c:catAx>
        <c:axId val="50206135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93245163"/>
        <c:crosses val="autoZero"/>
        <c:auto val="1"/>
        <c:lblAlgn val="ctr"/>
        <c:lblOffset val="100"/>
        <c:noMultiLvlLbl val="0"/>
      </c:catAx>
      <c:valAx>
        <c:axId val="93245163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50206135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72961543544337"/>
          <c:y val="0.3705353653771"/>
          <c:w val="0.214682172591516"/>
          <c:h val="0.338882375928097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872015915119363"/>
          <c:y val="0.0199447683338447"/>
          <c:w val="0.628912466843501"/>
          <c:h val="0.902270635164161"/>
        </c:manualLayout>
      </c:layout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Реализация с вращениями Гивенса</c:v>
                </c:pt>
              </c:strCache>
            </c:strRef>
          </c:tx>
          <c:spPr>
            <a:solidFill>
              <a:srgbClr val="ff420e"/>
            </a:solidFill>
            <a:ln w="28800">
              <a:solidFill>
                <a:srgbClr val="ff420e"/>
              </a:solidFill>
              <a:round/>
            </a:ln>
          </c:spPr>
          <c:marker>
            <c:symbol val="diamond"/>
            <c:size val="8"/>
            <c:spPr>
              <a:solidFill>
                <a:srgbClr val="ff420e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12"/>
                <c:pt idx="0">
                  <c:v>0.0003957</c:v>
                </c:pt>
                <c:pt idx="1">
                  <c:v>0.0023856</c:v>
                </c:pt>
                <c:pt idx="2">
                  <c:v>0.0092742</c:v>
                </c:pt>
                <c:pt idx="3">
                  <c:v>0.0168637</c:v>
                </c:pt>
                <c:pt idx="4">
                  <c:v>0.0427091</c:v>
                </c:pt>
                <c:pt idx="5">
                  <c:v>0.510321</c:v>
                </c:pt>
                <c:pt idx="6">
                  <c:v>1.63854</c:v>
                </c:pt>
                <c:pt idx="7">
                  <c:v>3.54986</c:v>
                </c:pt>
                <c:pt idx="8">
                  <c:v>7.19002</c:v>
                </c:pt>
                <c:pt idx="9">
                  <c:v>12.8882</c:v>
                </c:pt>
                <c:pt idx="10">
                  <c:v>20.7162</c:v>
                </c:pt>
                <c:pt idx="11">
                  <c:v>31.2464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Реализация с отражениями Хаусхолдера</c:v>
                </c:pt>
              </c:strCache>
            </c:strRef>
          </c:tx>
          <c:spPr>
            <a:solidFill>
              <a:srgbClr val="ffd320"/>
            </a:solidFill>
            <a:ln w="28800">
              <a:solidFill>
                <a:srgbClr val="ffd320"/>
              </a:solidFill>
              <a:round/>
            </a:ln>
          </c:spPr>
          <c:marker>
            <c:symbol val="triangle"/>
            <c:size val="8"/>
            <c:spPr>
              <a:solidFill>
                <a:srgbClr val="ffd320"/>
              </a:solidFill>
            </c:spPr>
          </c:marker>
          <c:dLbls>
            <c:numFmt formatCode="General" sourceLinked="0"/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12"/>
                <c:pt idx="0">
                  <c:v>0.0013103</c:v>
                </c:pt>
                <c:pt idx="1">
                  <c:v>0.0069098</c:v>
                </c:pt>
                <c:pt idx="2">
                  <c:v>0.018879</c:v>
                </c:pt>
                <c:pt idx="3">
                  <c:v>0.0363722</c:v>
                </c:pt>
                <c:pt idx="4">
                  <c:v>0.0720739</c:v>
                </c:pt>
                <c:pt idx="5">
                  <c:v>0.173632</c:v>
                </c:pt>
                <c:pt idx="6">
                  <c:v>0.643838</c:v>
                </c:pt>
                <c:pt idx="7">
                  <c:v>2.10122</c:v>
                </c:pt>
                <c:pt idx="8">
                  <c:v>5.00486</c:v>
                </c:pt>
                <c:pt idx="9">
                  <c:v>9.74322</c:v>
                </c:pt>
                <c:pt idx="10">
                  <c:v>16.1714</c:v>
                </c:pt>
                <c:pt idx="11">
                  <c:v>24.6837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Разложение из Scilab</c:v>
                </c:pt>
              </c:strCache>
            </c:strRef>
          </c:tx>
          <c:spPr>
            <a:solidFill>
              <a:srgbClr val="579d1c"/>
            </a:solidFill>
            <a:ln w="28800">
              <a:solidFill>
                <a:srgbClr val="579d1c"/>
              </a:solidFill>
              <a:round/>
            </a:ln>
          </c:spPr>
          <c:marker>
            <c:symbol val="triangle"/>
            <c:size val="8"/>
            <c:spPr>
              <a:solidFill>
                <a:srgbClr val="579d1c"/>
              </a:solidFill>
            </c:spPr>
          </c:marker>
          <c:dPt>
            <c:idx val="1"/>
            <c:marker>
              <c:symbol val="triangle"/>
              <c:size val="8"/>
              <c:spPr>
                <a:solidFill>
                  <a:srgbClr val="579d1c"/>
                </a:solidFill>
              </c:spPr>
            </c:marker>
          </c:dPt>
          <c:dLbls>
            <c:numFmt formatCode="General" sourceLinked="0"/>
            <c:dLbl>
              <c:idx val="1"/>
              <c:txPr>
                <a:bodyPr wrap="none"/>
                <a:lstStyle/>
                <a:p>
                  <a:pPr>
                    <a:defRPr b="0" sz="500" strike="noStrike" u="non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5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eparator> </c:separator>
            <c:showLeaderLines val="1"/>
            <c:leaderLines>
              <c:spPr>
                <a:ln w="2880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12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  <c:pt idx="6">
                  <c:v>1500</c:v>
                </c:pt>
                <c:pt idx="7">
                  <c:v>2000</c:v>
                </c:pt>
                <c:pt idx="8">
                  <c:v>2500</c:v>
                </c:pt>
                <c:pt idx="9">
                  <c:v>3000</c:v>
                </c:pt>
                <c:pt idx="10">
                  <c:v>3500</c:v>
                </c:pt>
                <c:pt idx="11">
                  <c:v>4000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12"/>
                <c:pt idx="0">
                  <c:v>0.0179448</c:v>
                </c:pt>
                <c:pt idx="1">
                  <c:v>0.0065019</c:v>
                </c:pt>
                <c:pt idx="2">
                  <c:v>0.0073951</c:v>
                </c:pt>
                <c:pt idx="3">
                  <c:v>0.0080666</c:v>
                </c:pt>
                <c:pt idx="4">
                  <c:v>0.0111006</c:v>
                </c:pt>
                <c:pt idx="5">
                  <c:v>0.0324745</c:v>
                </c:pt>
                <c:pt idx="6">
                  <c:v>0.0849378</c:v>
                </c:pt>
                <c:pt idx="7">
                  <c:v>0.1808189</c:v>
                </c:pt>
                <c:pt idx="8">
                  <c:v>0.3221421</c:v>
                </c:pt>
                <c:pt idx="9">
                  <c:v>0.4588081</c:v>
                </c:pt>
                <c:pt idx="10">
                  <c:v>0.7511698</c:v>
                </c:pt>
                <c:pt idx="11">
                  <c:v>1.093605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43427073"/>
        <c:axId val="17550171"/>
      </c:lineChart>
      <c:catAx>
        <c:axId val="43427073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Размер данных, NxN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[$-419]dd/mm/yyyy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17550171"/>
        <c:crosses val="autoZero"/>
        <c:auto val="1"/>
        <c:lblAlgn val="ctr"/>
        <c:lblOffset val="100"/>
        <c:noMultiLvlLbl val="0"/>
      </c:catAx>
      <c:valAx>
        <c:axId val="17550171"/>
        <c:scaling>
          <c:logBase val="10"/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title>
          <c:tx>
            <c:rich>
              <a:bodyPr rot="-5400000"/>
              <a:lstStyle/>
              <a:p>
                <a:pPr>
                  <a:defRPr b="0" sz="13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  <a:r>
                  <a:rPr b="0" sz="900" strike="noStrike" u="none">
                    <a:solidFill>
                      <a:srgbClr val="000000"/>
                    </a:solidFill>
                    <a:uFillTx/>
                    <a:latin typeface="Arial"/>
                    <a:ea typeface="DejaVu Sans"/>
                  </a:rPr>
                  <a:t>Время работы, с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General" sourceLinked="0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  <a:ea typeface="DejaVu Sans"/>
              </a:defRPr>
            </a:pPr>
          </a:p>
        </c:txPr>
        <c:crossAx val="43427073"/>
        <c:crossesAt val="1"/>
        <c:crossBetween val="midCat"/>
      </c:valAx>
      <c:spPr>
        <a:noFill/>
        <a:ln w="0">
          <a:solidFill>
            <a:srgbClr val="b3b3b3"/>
          </a:solidFill>
        </a:ln>
      </c:spPr>
    </c:plotArea>
    <c:legend>
      <c:legendPos val="r"/>
      <c:layout>
        <c:manualLayout>
          <c:xMode val="edge"/>
          <c:yMode val="edge"/>
          <c:x val="0.74166169352165"/>
          <c:y val="0.37054287241353"/>
          <c:w val="0.243551488628075"/>
          <c:h val="0.338856226616783"/>
        </c:manualLayout>
      </c:layout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  <a:ea typeface="DejaVu Sans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EF7697A-3CA1-4676-AC12-DF1FEBDA9684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В частном случае, когда матрица A состоит только из вещественных чисел, матрицы Q и R также могут быть выбраны вещественными, причём Q является ортогональной [1]. На сегодняшний день применяется несколько методов для вычисления QR-разложения матриц [2].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76680" y="5078520"/>
            <a:ext cx="678024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ортогонализации Грама-Шмидта: сложность O(n3); практически не поддаётся распараллеливанию; требует явного хранения Q; численно неустойчив, в большинстве случаев приводит к нарушению ортогональности.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Отражения Хаусхолдера имеют сложность приблизительно O(n³); для достижения наибольшей эффективности требуется более сложная блочная реализация; вектора отражений можно хранить под диагональю матрицы R, экономя память; для построения явной Q все равно требуется O(n²) памяти и дополнительных вычислений; численно устойчив. Является основным методом для разложения плотных матриц общего вида. Из-за действий над целыми столбцами неэффективен для разреженных матриц, так как не учитывает уже занулённые значения.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Вращения Гивенса имеют сложность 2n</a:t>
            </a:r>
            <a:r>
              <a:rPr b="0" lang="ru-RU" sz="1100" strike="noStrike" u="none" baseline="33000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; вектора вращений можно хранить очень компактно или даже не хранить явно; численно устойчив; лучше всего подходит для разреженных и ленточных матриц, так как позволяет обнулять отдельные элементы, не затрагивая другие; в связи с этим медленнее работает для плотных матриц. Этот метод также используется для обновления уже готового разложения при добавлении новой строки или столбца.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82CE49-488F-4447-9E22-EB585B46AF78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33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Оптимизированные версии (2 и 3) превосходят базовую в тысячи раз за счёт: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Отказа от построения полной матрицы H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Хранения векторов отражений в нижней треугольной части R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Работы с плоскими массивами вместо vector&lt;vector&lt;T&gt;&gt;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39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5692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Самая очевидная реализация метода Гивенса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неэффективное, «прямое» хранение матрицы Q: обращение к элементам матрицы Q происходит по столбцам, в виду чего выгоднее хранить её транспонированной.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вычислять R и Q можно в рамках одной итерации цикла, после вычисления параметров вращения, а можно в разных циклах, сохраняя параметры вращения в отдельной структуре либо в матрице R. Необходимо сравнение двух подходов.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Оптимизированные версии (2 и 3) превосходят базовую в тысячи раз за счёт: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Отказа от построения полной матрицы H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Хранения векторов отражений в нижней треугольной части R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Работы с плоскими массивами вместо vector&lt;vector&lt;T&gt;&gt;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45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260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51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283"/>
              </a:spcBef>
              <a:spcAft>
                <a:spcPts val="283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Видно, что моя реализация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методом вращений Гивенса решила задачу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верхней хессенберговой матрицы быстрее, так как, по-видимому,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SciLab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использует метод отражений Хаусхолдера, который не может игнорировать отдельно стоящие пустые значения в столбцах, а вынужден производить отражение и занулять весь столбец целиком, даже не смотря на то, что в нём всего один значащий элемент.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2560" cy="4809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Видно, что моя реализация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методом вращений Гивенса решила задачу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разложения верхней хессенберговой матрицы быстрее, так как, по-видимому,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SciLab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использует метод отражений Хаусхолдера, который не может игнорировать отдельно стоящие пустые значения в столбцах, а вынужден производить отражение и занулять весь столбец целиком, даже не смотря на то, что в нём всего один значащий элемент.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7640" cy="58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800" cy="5810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EB5363-D4FD-41C0-81F0-B58F077DF1A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3B6552-21BB-49D6-91CA-767B64F22D8E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160" cy="285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160" cy="149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34F3AC-858D-4195-A767-3388ADE5166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04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B54752-69D0-4DA0-8781-5A45A90E3D5C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6280" cy="8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628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840" cy="82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840" cy="368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AB4018-BA88-4889-AC0B-1C6DF07E3688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F858367-C92C-4BD1-8B4E-468857CA314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24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55029BF-78AA-410B-A4BD-84B47264CDF5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BEB72C-BEFC-4B43-8048-45E1372169B6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840" cy="159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760" cy="4872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840" cy="3810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425C3F-AF31-421D-89D6-69CF4ED9B26A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2560" cy="238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61AB0C-E0E4-4A21-B556-3B587CCD685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160" cy="1324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160" cy="434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33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760" cy="36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EC17C4F-FC75-4C03-AD91-7C1075C70AC9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5.xm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slideLayout" Target="../slideLayouts/slideLayout6.xml"/><Relationship Id="rId9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8.xm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9.xm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8.wmf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 21"/>
          <p:cNvSpPr/>
          <p:nvPr/>
        </p:nvSpPr>
        <p:spPr>
          <a:xfrm>
            <a:off x="0" y="742680"/>
            <a:ext cx="12190680" cy="495684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72000">
                <a:srgbClr val="a5a5a5"/>
              </a:gs>
              <a:gs pos="100000">
                <a:srgbClr val="173c90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" name="Рисунок 9" descr="Изображение выглядит как текст, человек&#10;&#10;Автоматически созданное описание"/>
          <p:cNvPicPr/>
          <p:nvPr/>
        </p:nvPicPr>
        <p:blipFill>
          <a:blip r:embed="rId1"/>
          <a:srcRect l="15600" t="9331" r="40177" b="0"/>
          <a:stretch/>
        </p:blipFill>
        <p:spPr>
          <a:xfrm>
            <a:off x="0" y="718200"/>
            <a:ext cx="3643920" cy="4981320"/>
          </a:xfrm>
          <a:prstGeom prst="rect">
            <a:avLst/>
          </a:prstGeom>
          <a:noFill/>
          <a:ln w="12700">
            <a:noFill/>
          </a:ln>
        </p:spPr>
      </p:pic>
      <p:cxnSp>
        <p:nvCxnSpPr>
          <p:cNvPr id="66" name="Прямая соединительная линия 17"/>
          <p:cNvCxnSpPr/>
          <p:nvPr/>
        </p:nvCxnSpPr>
        <p:spPr>
          <a:xfrm>
            <a:off x="0" y="5700600"/>
            <a:ext cx="1219320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pic>
        <p:nvPicPr>
          <p:cNvPr id="67" name="Рисунок 18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4167360" y="718200"/>
            <a:ext cx="2542680" cy="71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"/>
          <p:cNvSpPr/>
          <p:nvPr/>
        </p:nvSpPr>
        <p:spPr>
          <a:xfrm>
            <a:off x="4167360" y="2345760"/>
            <a:ext cx="6366960" cy="20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Параллельная реализация 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</a:t>
            </a: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-разложения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рямоугольник 1"/>
          <p:cNvSpPr/>
          <p:nvPr/>
        </p:nvSpPr>
        <p:spPr>
          <a:xfrm>
            <a:off x="9491040" y="5725440"/>
            <a:ext cx="2699640" cy="10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Коробейникова Алиса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Студентка группы 3824М1Пр1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Научный руководитель: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Баркалов К.А., д.т.н., доц.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4" name="TextBox 38"/>
          <p:cNvSpPr/>
          <p:nvPr/>
        </p:nvSpPr>
        <p:spPr>
          <a:xfrm>
            <a:off x="375480" y="456480"/>
            <a:ext cx="15984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9"/>
          <p:cNvSpPr/>
          <p:nvPr/>
        </p:nvSpPr>
        <p:spPr>
          <a:xfrm>
            <a:off x="1974960" y="456480"/>
            <a:ext cx="225036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7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78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79" name="TextBox 8"/>
          <p:cNvSpPr/>
          <p:nvPr/>
        </p:nvSpPr>
        <p:spPr>
          <a:xfrm>
            <a:off x="375480" y="1093680"/>
            <a:ext cx="46188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293040" y="1463040"/>
            <a:ext cx="9942120" cy="35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-разложение матрицы – представление матрицы в виде произведения унитарной (или ортогональной, в вещественном случае)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Q=E) и верхнетреугольной матрицы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положительными диагональными элементами.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2" descr="Picture background"/>
          <p:cNvPicPr/>
          <p:nvPr/>
        </p:nvPicPr>
        <p:blipFill>
          <a:blip r:embed="rId3"/>
          <a:srcRect l="0" t="2763" r="3818" b="8002"/>
          <a:stretch/>
        </p:blipFill>
        <p:spPr>
          <a:xfrm>
            <a:off x="5141880" y="4089600"/>
            <a:ext cx="5948640" cy="273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87" name="TextBox 38"/>
          <p:cNvSpPr/>
          <p:nvPr/>
        </p:nvSpPr>
        <p:spPr>
          <a:xfrm>
            <a:off x="375480" y="456480"/>
            <a:ext cx="15984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9"/>
          <p:cNvSpPr/>
          <p:nvPr/>
        </p:nvSpPr>
        <p:spPr>
          <a:xfrm>
            <a:off x="1974960" y="456480"/>
            <a:ext cx="2250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0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91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92" name="TextBox 8"/>
          <p:cNvSpPr/>
          <p:nvPr/>
        </p:nvSpPr>
        <p:spPr>
          <a:xfrm>
            <a:off x="375480" y="1045440"/>
            <a:ext cx="461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9"/>
          <p:cNvSpPr/>
          <p:nvPr/>
        </p:nvSpPr>
        <p:spPr>
          <a:xfrm>
            <a:off x="311400" y="1694520"/>
            <a:ext cx="11583720" cy="450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является основой одного из методов поиска собственных векторов и чисел матрицы — QR-алгоритма. С помощью разложения можно решить линейную задачу наименьших квадратов.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с помощью QR-разложения можно решать СЛАУ Ax = b: если известно QR-разложение матрицы, исходная система может быть записана как QRx=b. Решением этой задачи является решение треугольной системы Rx=Q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b. Эта система может быть решена с помощью обратной подстановки, поскольку R – верхняя треугольная матрица.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может быть получено различными методами. Проще всего оно может быть вычислено в процессе ортогонализации Грама-Шмидта. Другие методы QR-разложения основаны на отражениях Хаусхолдера и вращениях Гивенса. Все перечисленные методы имеют ряд ограничений для применения.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Box 121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9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0" name="TextBox 38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9"/>
          <p:cNvSpPr/>
          <p:nvPr/>
        </p:nvSpPr>
        <p:spPr>
          <a:xfrm>
            <a:off x="1974960" y="456480"/>
            <a:ext cx="2250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2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3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04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05" name="TextBox 8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7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Box 1"/>
          <p:cNvSpPr/>
          <p:nvPr/>
        </p:nvSpPr>
        <p:spPr>
          <a:xfrm>
            <a:off x="311400" y="1694520"/>
            <a:ext cx="11583720" cy="42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Необходимо реализовать эффективные программные алгоритмы QR-разложения квадратной матрицы A с помощью методов отражений Хаусхолдера и вращений Гивенса, используя различные аппаратные оптимизации, а также применяя, где это возможно, параллелизм. Разработать несколько версий, сравнить их работу друг с другом.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разработки использовать язык Си++ и технологии OpenMP для обеспечения параллельного исполнения кода.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качестве примера приложения QR-разложения на практике выполнить решение задачи QR-разложения хессенберговых матриц, верхней и нижней.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Сравнить работу алгоритма с известными реализациями в сторонних библиотеках.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122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3" name="TextBox 38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39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6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17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18" name="TextBox 8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Проверка корректности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9"/>
          <p:cNvSpPr/>
          <p:nvPr/>
        </p:nvSpPr>
        <p:spPr>
          <a:xfrm>
            <a:off x="801000" y="1772280"/>
            <a:ext cx="10589040" cy="41781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TextBox 123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85560" y="5950440"/>
            <a:ext cx="10182240" cy="602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сравнения использовать реализацию QR-разложения из библиотеки Scilab.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27" name="TextBox 38"/>
          <p:cNvSpPr/>
          <p:nvPr/>
        </p:nvSpPr>
        <p:spPr>
          <a:xfrm>
            <a:off x="375480" y="456480"/>
            <a:ext cx="15984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9"/>
          <p:cNvSpPr/>
          <p:nvPr/>
        </p:nvSpPr>
        <p:spPr>
          <a:xfrm>
            <a:off x="1974960" y="456480"/>
            <a:ext cx="2250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30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31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32" name="TextBox 8"/>
          <p:cNvSpPr/>
          <p:nvPr/>
        </p:nvSpPr>
        <p:spPr>
          <a:xfrm>
            <a:off x="375480" y="1045440"/>
            <a:ext cx="46188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9"/>
          <p:cNvSpPr/>
          <p:nvPr/>
        </p:nvSpPr>
        <p:spPr>
          <a:xfrm>
            <a:off x="801000" y="1741680"/>
            <a:ext cx="10589040" cy="43344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Box 124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40" name="TextBox 38"/>
          <p:cNvSpPr/>
          <p:nvPr/>
        </p:nvSpPr>
        <p:spPr>
          <a:xfrm>
            <a:off x="375480" y="456480"/>
            <a:ext cx="15984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39"/>
          <p:cNvSpPr/>
          <p:nvPr/>
        </p:nvSpPr>
        <p:spPr>
          <a:xfrm>
            <a:off x="1974960" y="308520"/>
            <a:ext cx="2250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отражений Хаусхолдера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3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44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45" name="TextBox 8"/>
          <p:cNvSpPr/>
          <p:nvPr/>
        </p:nvSpPr>
        <p:spPr>
          <a:xfrm>
            <a:off x="375480" y="1045440"/>
            <a:ext cx="7601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отражений Хаусхолдера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801000" y="1440720"/>
            <a:ext cx="10589040" cy="510300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" name="TextBox 125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Скругленный прямоугольник 4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1" name="TextBox 1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Прямая соединительная линия 1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3" name="TextBox 38"/>
          <p:cNvSpPr/>
          <p:nvPr/>
        </p:nvSpPr>
        <p:spPr>
          <a:xfrm>
            <a:off x="375480" y="456480"/>
            <a:ext cx="15984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39"/>
          <p:cNvSpPr/>
          <p:nvPr/>
        </p:nvSpPr>
        <p:spPr>
          <a:xfrm>
            <a:off x="1762560" y="456480"/>
            <a:ext cx="246276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Прямая соединительная линия 4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6" name="Прямая соединительная линия 4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57" name="Прямая соединительная линия 4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58" name="TextBox 8"/>
          <p:cNvSpPr/>
          <p:nvPr/>
        </p:nvSpPr>
        <p:spPr>
          <a:xfrm>
            <a:off x="375480" y="1045440"/>
            <a:ext cx="7601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801000" y="1374840"/>
            <a:ext cx="10589040" cy="52786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1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TextBox 126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7/23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Скругленный прямоугольник 1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2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5" name="Прямая соединительная линия 1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66" name="TextBox 5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8" name="Прямая соединительная линия 2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69" name="Прямая соединительная линия 3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70" name="Прямая соединительная линия 4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71" name="TextBox 7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Рисунок 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3" name="Рисунок 2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TextBox 12"/>
          <p:cNvSpPr/>
          <p:nvPr/>
        </p:nvSpPr>
        <p:spPr>
          <a:xfrm>
            <a:off x="311400" y="1461600"/>
            <a:ext cx="1158372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Избавление от матричных умножений: подсчёт H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и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Q по-другому: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5" name="" descr=""/>
          <p:cNvPicPr/>
          <p:nvPr/>
        </p:nvPicPr>
        <p:blipFill>
          <a:blip r:embed="rId3"/>
          <a:stretch/>
        </p:blipFill>
        <p:spPr>
          <a:xfrm>
            <a:off x="1012320" y="2926800"/>
            <a:ext cx="3921840" cy="32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6" name="" descr=""/>
          <p:cNvPicPr/>
          <p:nvPr/>
        </p:nvPicPr>
        <p:blipFill>
          <a:blip r:embed="rId4"/>
          <a:stretch/>
        </p:blipFill>
        <p:spPr>
          <a:xfrm>
            <a:off x="8309160" y="2605680"/>
            <a:ext cx="672840" cy="258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7" name="" descr=""/>
          <p:cNvPicPr/>
          <p:nvPr/>
        </p:nvPicPr>
        <p:blipFill>
          <a:blip r:embed="rId5"/>
          <a:stretch/>
        </p:blipFill>
        <p:spPr>
          <a:xfrm>
            <a:off x="6383160" y="2911320"/>
            <a:ext cx="4627080" cy="331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" descr=""/>
          <p:cNvPicPr/>
          <p:nvPr/>
        </p:nvPicPr>
        <p:blipFill>
          <a:blip r:embed="rId6"/>
          <a:stretch/>
        </p:blipFill>
        <p:spPr>
          <a:xfrm>
            <a:off x="8384040" y="3287880"/>
            <a:ext cx="548640" cy="22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"/>
          <p:cNvSpPr/>
          <p:nvPr/>
        </p:nvSpPr>
        <p:spPr>
          <a:xfrm>
            <a:off x="390960" y="3782160"/>
            <a:ext cx="10768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В связи с этим становится необязательным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явно хранить матрицы Хаусхолдера H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для восстановления матрицы Q, достаточно сохранять вектора длины (N-k) в буфере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3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8/23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Скругленный прямоугольник 13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TextBox 79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3" name="Прямая соединительная линия 50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84" name="TextBox 81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82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6" name="Прямая соединительная линия 5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87" name="Прямая соединительная линия 5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188" name="Прямая соединительная линия 53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189" name="TextBox 83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0" name="Рисунок 2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1" name="Рисунок 2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2" name="TextBox 84"/>
          <p:cNvSpPr/>
          <p:nvPr/>
        </p:nvSpPr>
        <p:spPr>
          <a:xfrm>
            <a:off x="311400" y="1461600"/>
            <a:ext cx="11583720" cy="196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Работать с нормированными векторами Хаусхолдера v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(v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ko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будет равен 1), что сократит их длину, и сохранять их в R под диагональю, без выделения дополнительной памяти: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3"/>
          <a:stretch/>
        </p:blipFill>
        <p:spPr>
          <a:xfrm>
            <a:off x="1249560" y="3284640"/>
            <a:ext cx="1958400" cy="262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4" name="" descr=""/>
          <p:cNvPicPr/>
          <p:nvPr/>
        </p:nvPicPr>
        <p:blipFill>
          <a:blip r:embed="rId4"/>
          <a:stretch/>
        </p:blipFill>
        <p:spPr>
          <a:xfrm>
            <a:off x="3557520" y="3280320"/>
            <a:ext cx="3808800" cy="428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5" name="" descr=""/>
          <p:cNvPicPr/>
          <p:nvPr/>
        </p:nvPicPr>
        <p:blipFill>
          <a:blip r:embed="rId5"/>
          <a:stretch/>
        </p:blipFill>
        <p:spPr>
          <a:xfrm>
            <a:off x="7953840" y="3247920"/>
            <a:ext cx="2859840" cy="466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6" name="" descr=""/>
          <p:cNvPicPr/>
          <p:nvPr/>
        </p:nvPicPr>
        <p:blipFill>
          <a:blip r:embed="rId6"/>
          <a:stretch/>
        </p:blipFill>
        <p:spPr>
          <a:xfrm>
            <a:off x="3588840" y="3857400"/>
            <a:ext cx="4857480" cy="1938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7" name="TextBox 80"/>
          <p:cNvSpPr/>
          <p:nvPr/>
        </p:nvSpPr>
        <p:spPr>
          <a:xfrm>
            <a:off x="11467800" y="6314400"/>
            <a:ext cx="5806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9/23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Скругленный прямоугольник 6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TextBox 33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0" name="Прямая соединительная линия 19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1" name="TextBox 35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36"/>
          <p:cNvSpPr/>
          <p:nvPr/>
        </p:nvSpPr>
        <p:spPr>
          <a:xfrm>
            <a:off x="1762560" y="456480"/>
            <a:ext cx="2462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3" name="Прямая соединительная линия 20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4" name="Прямая соединительная линия 21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05" name="Прямая соединительная линия 22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06" name="TextBox 37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7" name="Рисунок 1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Рисунок 14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Box 72"/>
          <p:cNvSpPr/>
          <p:nvPr/>
        </p:nvSpPr>
        <p:spPr>
          <a:xfrm>
            <a:off x="311400" y="1461600"/>
            <a:ext cx="1158372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учётом оптимизаций, ниже представлены замеры однопоточного и параллельного исполнения для трёх программных реализаций: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0" name=""/>
          <p:cNvGraphicFramePr/>
          <p:nvPr/>
        </p:nvGraphicFramePr>
        <p:xfrm>
          <a:off x="5871240" y="266256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1" name="TextBox 73"/>
          <p:cNvSpPr/>
          <p:nvPr/>
        </p:nvSpPr>
        <p:spPr>
          <a:xfrm>
            <a:off x="878040" y="644112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2" name=""/>
          <p:cNvGraphicFramePr/>
          <p:nvPr/>
        </p:nvGraphicFramePr>
        <p:xfrm>
          <a:off x="157320" y="259488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3" name="TextBox 74"/>
          <p:cNvSpPr/>
          <p:nvPr/>
        </p:nvSpPr>
        <p:spPr>
          <a:xfrm>
            <a:off x="6750720" y="640044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34"/>
          <p:cNvSpPr/>
          <p:nvPr/>
        </p:nvSpPr>
        <p:spPr>
          <a:xfrm>
            <a:off x="11401200" y="6314400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10/23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Скругленный прямоугольник 12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75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7" name="Прямая соединительная линия 4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18" name="TextBox 77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78"/>
          <p:cNvSpPr/>
          <p:nvPr/>
        </p:nvSpPr>
        <p:spPr>
          <a:xfrm>
            <a:off x="1762560" y="456480"/>
            <a:ext cx="2462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0" name="Прямая соединительная линия 47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1" name="Прямая соединительная линия 48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22" name="Прямая соединительная линия 49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23" name="TextBox 85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4" name="Рисунок 2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5" name="Рисунок 2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TextBox 87"/>
          <p:cNvSpPr/>
          <p:nvPr/>
        </p:nvSpPr>
        <p:spPr>
          <a:xfrm>
            <a:off x="1168920" y="608796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7" name=""/>
          <p:cNvGraphicFramePr/>
          <p:nvPr/>
        </p:nvGraphicFramePr>
        <p:xfrm>
          <a:off x="448200" y="224172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28" name="TextBox 88"/>
          <p:cNvSpPr/>
          <p:nvPr/>
        </p:nvSpPr>
        <p:spPr>
          <a:xfrm>
            <a:off x="7041600" y="604728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86"/>
          <p:cNvSpPr/>
          <p:nvPr/>
        </p:nvSpPr>
        <p:spPr>
          <a:xfrm>
            <a:off x="311400" y="1461600"/>
            <a:ext cx="11583720" cy="9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Благодаря более быстрой работе можно запустить на данных более 1000x1000 элементов: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0" name=""/>
          <p:cNvGraphicFramePr/>
          <p:nvPr/>
        </p:nvGraphicFramePr>
        <p:xfrm>
          <a:off x="6120360" y="224208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1" name="TextBox 76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Скругленный прямоугольник 14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89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4" name="Прямая соединительная линия 54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35" name="TextBox 91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92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7" name="Прямая соединительная линия 55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8" name="Прямая соединительная линия 56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39" name="Прямая соединительная линия 57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40" name="TextBox 93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1" name="Рисунок 3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2" name="Рисунок 3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Box 96"/>
          <p:cNvSpPr/>
          <p:nvPr/>
        </p:nvSpPr>
        <p:spPr>
          <a:xfrm>
            <a:off x="311400" y="1461600"/>
            <a:ext cx="11583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Ниже приведено сравнение работы двух оптимальных версий, исполняющихся на восьми потоках, с реализацией QR-разложения в библиотеке scilab: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4" name=""/>
          <p:cNvGraphicFramePr/>
          <p:nvPr/>
        </p:nvGraphicFramePr>
        <p:xfrm>
          <a:off x="469800" y="2515320"/>
          <a:ext cx="7660800" cy="4342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5" name="TextBox 94"/>
          <p:cNvSpPr/>
          <p:nvPr/>
        </p:nvSpPr>
        <p:spPr>
          <a:xfrm>
            <a:off x="8130960" y="3183840"/>
            <a:ext cx="4060800" cy="22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Scilab использует LAPACK — библиотеку, написанную на Fortran с: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блочными алгоритмами (более оптимальное использование кэша)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высокооптимизированными многопоточными BLAS — Basic Linear Algebra Subprograms</a:t>
            </a:r>
            <a:br>
              <a:rPr sz="1300"/>
            </a:b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(Intel MKL/OpenBLAS)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3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ручной векторизацией и ассемблерными вставками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90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Скругленный прямоугольник 3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13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9" name="Прямая соединительная линия 5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50" name="TextBox 15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6"/>
          <p:cNvSpPr/>
          <p:nvPr/>
        </p:nvSpPr>
        <p:spPr>
          <a:xfrm>
            <a:off x="1974960" y="456480"/>
            <a:ext cx="2250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2" name="Прямая соединительная линия 6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3" name="Прямая соединительная линия 7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54" name="Прямая соединительная линия 8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55" name="TextBox 18"/>
          <p:cNvSpPr/>
          <p:nvPr/>
        </p:nvSpPr>
        <p:spPr>
          <a:xfrm>
            <a:off x="375480" y="1045440"/>
            <a:ext cx="4618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6" name="Рисунок 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7" name="Рисунок 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8" name="TextBox 19"/>
          <p:cNvSpPr/>
          <p:nvPr/>
        </p:nvSpPr>
        <p:spPr>
          <a:xfrm>
            <a:off x="311400" y="1440000"/>
            <a:ext cx="11583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Поворот Гивенса — линейный оператор поворота вектора на некоторый заданный угол.</a:t>
            </a:r>
            <a:br>
              <a:rPr sz="1800"/>
            </a:b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вращения (Гивенса) G задаётся позициями столбцов i и j и параметрами cos и sin вращения: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20"/>
          <p:cNvSpPr/>
          <p:nvPr/>
        </p:nvSpPr>
        <p:spPr>
          <a:xfrm>
            <a:off x="247320" y="5346360"/>
            <a:ext cx="11583720" cy="127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Это преобразование используется для преобразования матриц или векторов с целью приведения их к определённому виду.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данном случае, параметр такого преобразования будет подбираться для двух строк матрицы так, чтобы один из поддиагональных элементов преобразуемой матрицы стал нулевым.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0" name="" descr=""/>
          <p:cNvPicPr/>
          <p:nvPr/>
        </p:nvPicPr>
        <p:blipFill>
          <a:blip r:embed="rId3"/>
          <a:stretch/>
        </p:blipFill>
        <p:spPr>
          <a:xfrm>
            <a:off x="4433760" y="2353320"/>
            <a:ext cx="4485240" cy="3101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1" name="TextBox 14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Скругленный прямоугольник 4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3" name="TextBox 21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4" name="Прямая соединительная линия 9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65" name="TextBox 23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24"/>
          <p:cNvSpPr/>
          <p:nvPr/>
        </p:nvSpPr>
        <p:spPr>
          <a:xfrm>
            <a:off x="1974960" y="308520"/>
            <a:ext cx="2250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вращений Гивенса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7" name="Прямая соединительная линия 10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8" name="Прямая соединительная линия 11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69" name="Прямая соединительная линия 12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70" name="TextBox 25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вращений Гивенса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1" name="Рисунок 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2" name="Рисунок 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3" name="TextBox 26"/>
          <p:cNvSpPr/>
          <p:nvPr/>
        </p:nvSpPr>
        <p:spPr>
          <a:xfrm>
            <a:off x="311400" y="1440000"/>
            <a:ext cx="11583720" cy="22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Суть алгоритма QR-разложения, реализованного с помощью вращений Гивенса – в последовательном занулении всех поддиагональных элементов, с целью получения верхнетреугольной матрицы R как побочного продукта и Q с помощью явных перемножений матриц вращения в простейшем случае.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 каждом шаге алгоритма для зануления элемента с индексами (i,j) получаем  вращение G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</a:rPr>
              <a:t>ji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домножая на него матрицу A слева получаем , в которой элементы под главной диагональю, левее (i,j), занулены: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1863360" y="4139280"/>
            <a:ext cx="1915560" cy="12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5" name="" descr=""/>
          <p:cNvPicPr/>
          <p:nvPr/>
        </p:nvPicPr>
        <p:blipFill>
          <a:blip r:embed="rId4"/>
          <a:stretch/>
        </p:blipFill>
        <p:spPr>
          <a:xfrm>
            <a:off x="4635720" y="4148280"/>
            <a:ext cx="2234160" cy="129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6" name="" descr=""/>
          <p:cNvPicPr/>
          <p:nvPr/>
        </p:nvPicPr>
        <p:blipFill>
          <a:blip r:embed="rId5"/>
          <a:stretch/>
        </p:blipFill>
        <p:spPr>
          <a:xfrm>
            <a:off x="7568640" y="4101840"/>
            <a:ext cx="2546280" cy="1304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7" name="" descr=""/>
          <p:cNvPicPr/>
          <p:nvPr/>
        </p:nvPicPr>
        <p:blipFill>
          <a:blip r:embed="rId6"/>
          <a:stretch/>
        </p:blipFill>
        <p:spPr>
          <a:xfrm>
            <a:off x="3847320" y="5790240"/>
            <a:ext cx="4637880" cy="274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8" name="" descr=""/>
          <p:cNvPicPr/>
          <p:nvPr/>
        </p:nvPicPr>
        <p:blipFill>
          <a:blip r:embed="rId7"/>
          <a:stretch/>
        </p:blipFill>
        <p:spPr>
          <a:xfrm>
            <a:off x="1799280" y="6193440"/>
            <a:ext cx="9223920" cy="322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9" name="TextBox 22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14/23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Скругленный прямоугольник 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1" name="TextBox 27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2" name="Прямая соединительная линия 13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3" name="TextBox 29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30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5" name="Прямая соединительная линия 14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6" name="Прямая соединительная линия 16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87" name="Прямая соединительная линия 18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88" name="TextBox 31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9" name="Рисунок 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0" name="Рисунок 10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Box 32"/>
          <p:cNvSpPr/>
          <p:nvPr/>
        </p:nvSpPr>
        <p:spPr>
          <a:xfrm>
            <a:off x="311400" y="1461600"/>
            <a:ext cx="1158372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эффективной работы с памятью матрицу Q нужно хранить транспонированной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Сравнить два подхода вычисления Q и R: в рамках одного цикла и раздельно, сохраняя параметры вращения в отдельной структуре либо в матрице R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Попробовать хранить Q и R в одной структуре для улучшения локальности кэша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ещё эффективнее обращаться к памяти, выполняя вычисления сразу над несколькими последовательно лежащими элементами, применив векторизацию вычислений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28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15/23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Скругленный прямоугольник 15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TextBox 17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Прямая соединительная линия 58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296" name="TextBox 97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Box 98"/>
          <p:cNvSpPr/>
          <p:nvPr/>
        </p:nvSpPr>
        <p:spPr>
          <a:xfrm>
            <a:off x="1762560" y="456480"/>
            <a:ext cx="2462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8" name="Прямая соединительная линия 59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299" name="Прямая соединительная линия 60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00" name="Прямая соединительная линия 61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01" name="TextBox 99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полученных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2" name="Рисунок 3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Рисунок 3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TextBox 100"/>
          <p:cNvSpPr/>
          <p:nvPr/>
        </p:nvSpPr>
        <p:spPr>
          <a:xfrm>
            <a:off x="311400" y="1461600"/>
            <a:ext cx="11583720" cy="14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учётом оптимизаций, ниже представлены замеры однопоточного и параллельного исполнения для трёх программных реализаций: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1"/>
          <p:cNvSpPr/>
          <p:nvPr/>
        </p:nvSpPr>
        <p:spPr>
          <a:xfrm>
            <a:off x="878040" y="644112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одном потоке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6" name=""/>
          <p:cNvGraphicFramePr/>
          <p:nvPr/>
        </p:nvGraphicFramePr>
        <p:xfrm>
          <a:off x="157320" y="259488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7" name="TextBox 102"/>
          <p:cNvSpPr/>
          <p:nvPr/>
        </p:nvSpPr>
        <p:spPr>
          <a:xfrm>
            <a:off x="6750720" y="6400440"/>
            <a:ext cx="39618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Запуск на восьми потоках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8" name=""/>
          <p:cNvGraphicFramePr/>
          <p:nvPr/>
        </p:nvGraphicFramePr>
        <p:xfrm>
          <a:off x="6036840" y="2595240"/>
          <a:ext cx="5707800" cy="373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9" name="TextBox 95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16/23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Скругленный прямоугольник 17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1" name="TextBox 111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2" name="Прямая соединительная линия 66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13" name="TextBox 113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114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5" name="Прямая соединительная линия 67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16" name="Прямая соединительная линия 68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17" name="Прямая соединительная линия 69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18" name="TextBox 115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с библиотекой scilab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9" name="Рисунок 3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0" name="Рисунок 3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1" name="TextBox 116"/>
          <p:cNvSpPr/>
          <p:nvPr/>
        </p:nvSpPr>
        <p:spPr>
          <a:xfrm>
            <a:off x="311400" y="1461600"/>
            <a:ext cx="11583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Ниже приведено сравнение работы двух оптимальных версий, исполняющихся на восьми потоках, с реализацией QR-разложения в библиотеке scilab: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117"/>
          <p:cNvSpPr/>
          <p:nvPr/>
        </p:nvSpPr>
        <p:spPr>
          <a:xfrm>
            <a:off x="7686720" y="2972520"/>
            <a:ext cx="4505040" cy="19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Scilab использует отражения Хаусхолдера для зануления целых столбцов, в то время как метод Гивенса лучше работает для разреженных матриц.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Игнорирование нулевых отдельно стоящих значений позволит выполнить QR разложение быстрее.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"/>
          <p:cNvGraphicFramePr/>
          <p:nvPr/>
        </p:nvGraphicFramePr>
        <p:xfrm>
          <a:off x="467640" y="2595600"/>
          <a:ext cx="7459560" cy="4086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24" name="TextBox 112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17/23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Скругленный прямоугольник 16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6" name="TextBox 103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7" name="Прямая соединительная линия 62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28" name="TextBox 105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06"/>
          <p:cNvSpPr/>
          <p:nvPr/>
        </p:nvSpPr>
        <p:spPr>
          <a:xfrm>
            <a:off x="1762560" y="456480"/>
            <a:ext cx="24627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Сравнение трёх реализаций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30" name="Прямая соединительная линия 63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31" name="Прямая соединительная линия 64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32" name="Прямая соединительная линия 65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33" name="TextBox 107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Сравнение трёх реализаций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4" name="Рисунок 3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5" name="Рисунок 3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336" name=""/>
          <p:cNvGraphicFramePr/>
          <p:nvPr/>
        </p:nvGraphicFramePr>
        <p:xfrm>
          <a:off x="1965600" y="1662120"/>
          <a:ext cx="9171360" cy="5024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7" name="TextBox 104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18/23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Скругленный прямоугольник 7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Box 40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0" name="Прямая соединительная линия 23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41" name="TextBox 42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43"/>
          <p:cNvSpPr/>
          <p:nvPr/>
        </p:nvSpPr>
        <p:spPr>
          <a:xfrm>
            <a:off x="1974960" y="441000"/>
            <a:ext cx="2250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43" name="Прямая соединительная линия 24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44" name="Прямая соединительная линия 25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45" name="Прямая соединительная линия 26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46" name="TextBox 44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7" name="Рисунок 15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48" name="Рисунок 16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Box 45"/>
          <p:cNvSpPr/>
          <p:nvPr/>
        </p:nvSpPr>
        <p:spPr>
          <a:xfrm>
            <a:off x="311400" y="1440000"/>
            <a:ext cx="1158372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 — вид квадратной матрицы, обобщающий треугольные матрицы. Названа так в честь немецкого математика, Карла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Верхняя матрица Хессенберга — это квадратная матрица, все элементы ниже побочной диагонали которой равны нулю: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Box 46"/>
          <p:cNvSpPr/>
          <p:nvPr/>
        </p:nvSpPr>
        <p:spPr>
          <a:xfrm>
            <a:off x="302040" y="5545080"/>
            <a:ext cx="1158372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Аналогично определяется нижняя матрица Хессенберга, при транспонировании которой получается верхняя матрица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1" name="" descr=""/>
          <p:cNvPicPr/>
          <p:nvPr/>
        </p:nvPicPr>
        <p:blipFill>
          <a:blip r:embed="rId3"/>
          <a:stretch/>
        </p:blipFill>
        <p:spPr>
          <a:xfrm>
            <a:off x="1388880" y="3311280"/>
            <a:ext cx="3923280" cy="1913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2" name="" descr=""/>
          <p:cNvPicPr/>
          <p:nvPr/>
        </p:nvPicPr>
        <p:blipFill>
          <a:blip r:embed="rId4"/>
          <a:stretch/>
        </p:blipFill>
        <p:spPr>
          <a:xfrm>
            <a:off x="6382080" y="3367800"/>
            <a:ext cx="3780360" cy="194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3" name="TextBox 41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19/23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Скругленный прямоугольник 8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47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6" name="Прямая соединительная линия 27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57" name="TextBox 49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50"/>
          <p:cNvSpPr/>
          <p:nvPr/>
        </p:nvSpPr>
        <p:spPr>
          <a:xfrm>
            <a:off x="1728720" y="441000"/>
            <a:ext cx="249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9" name="Прямая соединительная линия 28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60" name="Прямая соединительная линия 29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61" name="Прямая соединительная линия 30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62" name="TextBox 51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верхней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3" name="Рисунок 17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Рисунок 1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TextBox 52"/>
          <p:cNvSpPr/>
          <p:nvPr/>
        </p:nvSpPr>
        <p:spPr>
          <a:xfrm>
            <a:off x="311400" y="1440000"/>
            <a:ext cx="1158372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верхняя хессенбергова матрица A имет размер 6x6. С помощью алгоритма QR-разложения на основе вращений Гивенса решение задачи разложения верхней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124200" y="5343120"/>
            <a:ext cx="11454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необходимо с помощью вращений Гивенса последовательно занулить (N-1) элементов, лежащих на побочной диагонали под главной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7" name="" descr=""/>
          <p:cNvPicPr/>
          <p:nvPr/>
        </p:nvPicPr>
        <p:blipFill>
          <a:blip r:embed="rId3"/>
          <a:stretch/>
        </p:blipFill>
        <p:spPr>
          <a:xfrm>
            <a:off x="359280" y="3047040"/>
            <a:ext cx="3062160" cy="1823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8" name="" descr=""/>
          <p:cNvPicPr/>
          <p:nvPr/>
        </p:nvPicPr>
        <p:blipFill>
          <a:blip r:embed="rId4"/>
          <a:stretch/>
        </p:blipFill>
        <p:spPr>
          <a:xfrm>
            <a:off x="3921120" y="3163680"/>
            <a:ext cx="3222000" cy="1692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9" name="" descr=""/>
          <p:cNvPicPr/>
          <p:nvPr/>
        </p:nvPicPr>
        <p:blipFill>
          <a:blip r:embed="rId5"/>
          <a:stretch/>
        </p:blipFill>
        <p:spPr>
          <a:xfrm>
            <a:off x="7889040" y="3040920"/>
            <a:ext cx="3716280" cy="168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TextBox 48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20/23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Скругленный прямоугольник 9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72" name="TextBox 53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3" name="Прямая соединительная линия 31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74" name="TextBox 55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56"/>
          <p:cNvSpPr/>
          <p:nvPr/>
        </p:nvSpPr>
        <p:spPr>
          <a:xfrm>
            <a:off x="1728720" y="441000"/>
            <a:ext cx="24966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6" name="Прямая соединительная линия 32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77" name="Прямая соединительная линия 33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78" name="Прямая соединительная линия 34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79" name="TextBox 57"/>
          <p:cNvSpPr/>
          <p:nvPr/>
        </p:nvSpPr>
        <p:spPr>
          <a:xfrm>
            <a:off x="375480" y="1045440"/>
            <a:ext cx="76010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нижней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0" name="Рисунок 2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1" name="Рисунок 2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Box 58"/>
          <p:cNvSpPr/>
          <p:nvPr/>
        </p:nvSpPr>
        <p:spPr>
          <a:xfrm>
            <a:off x="311400" y="1440000"/>
            <a:ext cx="11583720" cy="132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нижняя хессенбергова матрица A имет размер 6x6. С помощью алгоритма QR-разложения на основе отражений Хасхолдера решение задачи разложения нижней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124200" y="5343120"/>
            <a:ext cx="119570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необходимо с помощью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отражений Хаусхолдера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а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занулить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Calibri"/>
              </a:rPr>
              <a:t>          элементов, лежащих ниже главной диагонали (выделены красным)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6569640" y="5484240"/>
            <a:ext cx="618120" cy="421200"/>
          </a:xfrm>
          <a:prstGeom prst="rect">
            <a:avLst/>
          </a:prstGeom>
          <a:blipFill rotWithShape="0">
            <a:blip r:embed="rId3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5" name="" descr=""/>
          <p:cNvPicPr/>
          <p:nvPr/>
        </p:nvPicPr>
        <p:blipFill>
          <a:blip r:embed="rId4"/>
          <a:stretch/>
        </p:blipFill>
        <p:spPr>
          <a:xfrm>
            <a:off x="953640" y="3095280"/>
            <a:ext cx="3101400" cy="1790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6" name="" descr=""/>
          <p:cNvPicPr/>
          <p:nvPr/>
        </p:nvPicPr>
        <p:blipFill>
          <a:blip r:embed="rId5"/>
          <a:stretch/>
        </p:blipFill>
        <p:spPr>
          <a:xfrm>
            <a:off x="4391280" y="3148200"/>
            <a:ext cx="3393360" cy="185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87" name="" descr=""/>
          <p:cNvPicPr/>
          <p:nvPr/>
        </p:nvPicPr>
        <p:blipFill>
          <a:blip r:embed="rId6"/>
          <a:stretch/>
        </p:blipFill>
        <p:spPr>
          <a:xfrm>
            <a:off x="7947000" y="3132360"/>
            <a:ext cx="3588120" cy="170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8" name="TextBox 54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21/23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Скругленный прямоугольник 11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90" name="TextBox 65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1" name="Прямая соединительная линия 39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92" name="TextBox 67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68"/>
          <p:cNvSpPr/>
          <p:nvPr/>
        </p:nvSpPr>
        <p:spPr>
          <a:xfrm>
            <a:off x="1728720" y="279000"/>
            <a:ext cx="2496600" cy="68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3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4" name="Прямая соединительная линия 40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95" name="Прямая соединительная линия 43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396" name="Прямая соединительная линия 44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397" name="TextBox 69"/>
          <p:cNvSpPr/>
          <p:nvPr/>
        </p:nvSpPr>
        <p:spPr>
          <a:xfrm>
            <a:off x="375480" y="1045440"/>
            <a:ext cx="8935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Результаты решения задачи QR-разложения хессенберговой матрицы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8" name="Рисунок 2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9" name="Рисунок 2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TextBox 70"/>
          <p:cNvSpPr/>
          <p:nvPr/>
        </p:nvSpPr>
        <p:spPr>
          <a:xfrm>
            <a:off x="1345320" y="1518120"/>
            <a:ext cx="3961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верхней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1" name=""/>
          <p:cNvGraphicFramePr/>
          <p:nvPr/>
        </p:nvGraphicFramePr>
        <p:xfrm>
          <a:off x="950760" y="2182680"/>
          <a:ext cx="5447520" cy="4605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02" name=""/>
          <p:cNvGraphicFramePr/>
          <p:nvPr/>
        </p:nvGraphicFramePr>
        <p:xfrm>
          <a:off x="6457320" y="2164680"/>
          <a:ext cx="5428440" cy="4692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03" name="TextBox 71"/>
          <p:cNvSpPr/>
          <p:nvPr/>
        </p:nvSpPr>
        <p:spPr>
          <a:xfrm>
            <a:off x="6703200" y="1553760"/>
            <a:ext cx="39618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Сравнение скорости решения QR-разложения нижней хессенберговой матрицы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66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22/23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Скругленный прямоугольник 18"/>
          <p:cNvSpPr/>
          <p:nvPr/>
        </p:nvSpPr>
        <p:spPr>
          <a:xfrm>
            <a:off x="295560" y="225360"/>
            <a:ext cx="11599200" cy="76572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6" name="TextBox 108"/>
          <p:cNvSpPr/>
          <p:nvPr/>
        </p:nvSpPr>
        <p:spPr>
          <a:xfrm rot="16200000">
            <a:off x="11178720" y="5500440"/>
            <a:ext cx="11041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7" name="Прямая соединительная линия 70"/>
          <p:cNvCxnSpPr/>
          <p:nvPr/>
        </p:nvCxnSpPr>
        <p:spPr>
          <a:xfrm>
            <a:off x="11579040" y="6240600"/>
            <a:ext cx="28944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408" name="TextBox 110"/>
          <p:cNvSpPr/>
          <p:nvPr/>
        </p:nvSpPr>
        <p:spPr>
          <a:xfrm>
            <a:off x="375480" y="456480"/>
            <a:ext cx="1598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118"/>
          <p:cNvSpPr/>
          <p:nvPr/>
        </p:nvSpPr>
        <p:spPr>
          <a:xfrm>
            <a:off x="3014280" y="431640"/>
            <a:ext cx="117612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3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Заключение</a:t>
            </a:r>
            <a:endParaRPr b="0" lang="ru-RU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10" name="Прямая соединительная линия 71"/>
          <p:cNvCxnSpPr/>
          <p:nvPr/>
        </p:nvCxnSpPr>
        <p:spPr>
          <a:xfrm>
            <a:off x="4190760" y="607680"/>
            <a:ext cx="2185560" cy="1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411" name="Прямая соединительная линия 72"/>
          <p:cNvCxnSpPr/>
          <p:nvPr/>
        </p:nvCxnSpPr>
        <p:spPr>
          <a:xfrm>
            <a:off x="637488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cxnSp>
        <p:nvCxnSpPr>
          <p:cNvPr id="412" name="Прямая соединительная линия 73"/>
          <p:cNvCxnSpPr/>
          <p:nvPr/>
        </p:nvCxnSpPr>
        <p:spPr>
          <a:xfrm>
            <a:off x="9295560" y="466200"/>
            <a:ext cx="1440" cy="289440"/>
          </a:xfrm>
          <a:prstGeom prst="straightConnector1">
            <a:avLst/>
          </a:prstGeom>
          <a:ln w="19050">
            <a:solidFill>
              <a:srgbClr val="173c90"/>
            </a:solidFill>
            <a:round/>
          </a:ln>
        </p:spPr>
      </p:cxnSp>
      <p:sp>
        <p:nvSpPr>
          <p:cNvPr id="413" name="TextBox 119"/>
          <p:cNvSpPr/>
          <p:nvPr/>
        </p:nvSpPr>
        <p:spPr>
          <a:xfrm>
            <a:off x="375480" y="1045440"/>
            <a:ext cx="8935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Заключение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4" name="Рисунок 3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5" name="Рисунок 3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6800" cy="32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6" name="TextBox 120"/>
          <p:cNvSpPr/>
          <p:nvPr/>
        </p:nvSpPr>
        <p:spPr>
          <a:xfrm>
            <a:off x="790560" y="1518120"/>
            <a:ext cx="10324800" cy="49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QR-разложение на основе отражений Хаусхолдера удалось лучше оптимизировать в виду большего пространства для улучшений: избавление от матричных умножений и in-place хранение векторов отражения дали очень большой прирост производительности.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QR-разложение на основе вращений Гивенса в целом работает быстрее на небольших данных (&lt;1000), однако всё ещё проигрывает по скорости на больших (&gt;&gt; 1000). Дело в ограниченной применимости метода — этот метод даст лучший результат при применении его к разреженным матрицам.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В связи с этим целесообразно перед применением метода проанализировать степень заполненности поддиагональной части матрицы 0. Эксперименты показали, что метод Гивенса имеет смысл применять при &gt;90% процентов нулей.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701"/>
              </a:spcBef>
              <a:spcAft>
                <a:spcPts val="1701"/>
              </a:spcAft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Times New Roman;serif"/>
                <a:ea typeface="Times New Roman;serif"/>
              </a:rPr>
              <a:t>Также можно попробовать реализовать блочные алгоритмы. Для этого больше подойдёт MPI-параллелизм на уровне процессов. Это позволит приблизиться к версии из библиотеки Scilab, где QR-разложение реализуется с использованием подпрограмм из библиотеки Lapack.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09"/>
          <p:cNvSpPr/>
          <p:nvPr/>
        </p:nvSpPr>
        <p:spPr>
          <a:xfrm>
            <a:off x="11391840" y="6314400"/>
            <a:ext cx="6566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23/23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Скругленный прямоугольник 2"/>
          <p:cNvSpPr/>
          <p:nvPr/>
        </p:nvSpPr>
        <p:spPr>
          <a:xfrm>
            <a:off x="663120" y="1015920"/>
            <a:ext cx="10864440" cy="49896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8575"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419" name="Рисунок 3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5292360" y="1396800"/>
            <a:ext cx="1606320" cy="45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0" name="TextBox 4"/>
          <p:cNvSpPr/>
          <p:nvPr/>
        </p:nvSpPr>
        <p:spPr>
          <a:xfrm>
            <a:off x="2894760" y="3136680"/>
            <a:ext cx="6401160" cy="58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3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СПАСИБО ЗА ВНИМАНИЕ!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394</TotalTime>
  <Application>LibreOffice/25.2.7.2$Windows_X86_64 LibreOffice_project/5cbfd1ab6520636bb5f7b99185aa69bd7456825d</Application>
  <AppVersion>15.0000</AppVersion>
  <Words>953</Words>
  <Paragraphs>238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2025-06-04T17:20:17Z</dcterms:created>
  <dc:creator>Кандрин Алексей Дмитриевич</dc:creator>
  <dc:description/>
  <dc:language>ru-RU</dc:language>
  <cp:lastModifiedBy/>
  <cp:lastPrinted>2026-05-28T11:19:30Z</cp:lastPrinted>
  <dcterms:modified xsi:type="dcterms:W3CDTF">2026-05-28T11:38:09Z</dcterms:modified>
  <cp:revision>126</cp:revision>
  <dc:subject/>
  <dc:title>QR разложение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16</vt:i4>
  </property>
</Properties>
</file>